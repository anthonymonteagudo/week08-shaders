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5" r:id="rId1"/>
  </p:sldMasterIdLst>
  <p:notesMasterIdLst>
    <p:notesMasterId r:id="rId42"/>
  </p:notesMasterIdLst>
  <p:sldIdLst>
    <p:sldId id="256" r:id="rId2"/>
    <p:sldId id="257" r:id="rId3"/>
    <p:sldId id="259" r:id="rId4"/>
    <p:sldId id="260" r:id="rId5"/>
    <p:sldId id="258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301" r:id="rId17"/>
    <p:sldId id="302" r:id="rId18"/>
    <p:sldId id="303" r:id="rId19"/>
    <p:sldId id="279" r:id="rId20"/>
    <p:sldId id="281" r:id="rId21"/>
    <p:sldId id="282" r:id="rId22"/>
    <p:sldId id="283" r:id="rId23"/>
    <p:sldId id="286" r:id="rId24"/>
    <p:sldId id="287" r:id="rId25"/>
    <p:sldId id="288" r:id="rId26"/>
    <p:sldId id="289" r:id="rId27"/>
    <p:sldId id="291" r:id="rId28"/>
    <p:sldId id="292" r:id="rId29"/>
    <p:sldId id="293" r:id="rId30"/>
    <p:sldId id="294" r:id="rId31"/>
    <p:sldId id="295" r:id="rId32"/>
    <p:sldId id="296" r:id="rId33"/>
    <p:sldId id="297" r:id="rId34"/>
    <p:sldId id="298" r:id="rId35"/>
    <p:sldId id="299" r:id="rId36"/>
    <p:sldId id="300" r:id="rId37"/>
    <p:sldId id="304" r:id="rId38"/>
    <p:sldId id="305" r:id="rId39"/>
    <p:sldId id="306" r:id="rId40"/>
    <p:sldId id="307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2256" autoAdjust="0"/>
  </p:normalViewPr>
  <p:slideViewPr>
    <p:cSldViewPr snapToGrid="0">
      <p:cViewPr varScale="1">
        <p:scale>
          <a:sx n="148" d="100"/>
          <a:sy n="148" d="100"/>
        </p:scale>
        <p:origin x="740" y="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/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/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/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endParaRPr/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  <a:p>
            <a:r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/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/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/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/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0825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10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3510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2041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1842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6900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50262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665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27752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67295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76284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138162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397000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8027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91069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28896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060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50687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  <p:sldLayoutId id="2147483667" r:id="rId12"/>
    <p:sldLayoutId id="2147483668" r:id="rId13"/>
    <p:sldLayoutId id="2147483669" r:id="rId14"/>
    <p:sldLayoutId id="2147483670" r:id="rId15"/>
    <p:sldLayoutId id="2147483671" r:id="rId16"/>
    <p:sldLayoutId id="2147483672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youtube.com/watch?v=BCj4TC5oMSI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youtube.com/watch?v=5MO65-P6nm8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shadertoy.com/view/XlfGRj" TargetMode="Externa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jpg"/><Relationship Id="rId3" Type="http://schemas.openxmlformats.org/officeDocument/2006/relationships/hyperlink" Target="https://www.fab.com/listings/25f1a1bc-64b4-4ce5-81f5-b2c8d5d76a1e" TargetMode="External"/><Relationship Id="rId7" Type="http://schemas.openxmlformats.org/officeDocument/2006/relationships/hyperlink" Target="https://www.fab.com/listings/bb546f05-f027-4dfb-85db-ed01efb41fb8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jpg"/><Relationship Id="rId5" Type="http://schemas.openxmlformats.org/officeDocument/2006/relationships/hyperlink" Target="https://www.fab.com/listings/24563336-bea6-41e9-ab61-08ccbba1b484" TargetMode="External"/><Relationship Id="rId10" Type="http://schemas.openxmlformats.org/officeDocument/2006/relationships/image" Target="../media/image28.jpg"/><Relationship Id="rId4" Type="http://schemas.openxmlformats.org/officeDocument/2006/relationships/image" Target="../media/image25.jpg"/><Relationship Id="rId9" Type="http://schemas.openxmlformats.org/officeDocument/2006/relationships/hyperlink" Target="https://www.fab.com/listings/ddf3d33c-0c90-47c7-b50f-5fab3def6143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5B7D59A-3BD3-A3FA-8085-87D0B08E6B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990600"/>
            <a:ext cx="9145050" cy="494187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B74200A9-9550-41A1-8C75-B25A813EC87B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38100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62DFF5"/>
                </a:solidFill>
              </a:defRPr>
            </a:defPPr>
            <a:lvl1pPr>
              <a:defRPr sz="1650" b="1">
                <a:solidFill>
                  <a:srgbClr val="62DFF5"/>
                </a:solidFill>
              </a:defRPr>
            </a:lvl1pPr>
            <a:lvl2pPr>
              <a:defRPr sz="1650" b="1">
                <a:solidFill>
                  <a:srgbClr val="62DFF5"/>
                </a:solidFill>
              </a:defRPr>
            </a:lvl2pPr>
            <a:lvl3pPr>
              <a:defRPr sz="1650" b="1">
                <a:solidFill>
                  <a:srgbClr val="62DFF5"/>
                </a:solidFill>
              </a:defRPr>
            </a:lvl3pPr>
            <a:lvl4pPr>
              <a:defRPr sz="1650" b="1">
                <a:solidFill>
                  <a:srgbClr val="62DFF5"/>
                </a:solidFill>
              </a:defRPr>
            </a:lvl4pPr>
            <a:lvl5pPr>
              <a:defRPr sz="1650" b="1">
                <a:solidFill>
                  <a:srgbClr val="62DFF5"/>
                </a:solidFill>
              </a:defRPr>
            </a:lvl5pPr>
            <a:lvl6pPr>
              <a:defRPr sz="1650" b="1">
                <a:solidFill>
                  <a:srgbClr val="62DFF5"/>
                </a:solidFill>
              </a:defRPr>
            </a:lvl6pPr>
            <a:lvl7pPr>
              <a:defRPr sz="1650" b="1">
                <a:solidFill>
                  <a:srgbClr val="62DFF5"/>
                </a:solidFill>
              </a:defRPr>
            </a:lvl7pPr>
            <a:lvl8pPr>
              <a:defRPr sz="1650" b="1">
                <a:solidFill>
                  <a:srgbClr val="62DFF5"/>
                </a:solidFill>
              </a:defRPr>
            </a:lvl8pPr>
            <a:lvl9pPr>
              <a:defRPr sz="1650" b="1">
                <a:solidFill>
                  <a:srgbClr val="62DFF5"/>
                </a:solidFill>
              </a:defRPr>
            </a:lvl9pPr>
          </a:lstStyle>
          <a:p>
            <a:pPr>
              <a:defRPr sz="1650" b="1">
                <a:solidFill>
                  <a:srgbClr val="62DFF5"/>
                </a:solidFill>
              </a:defRPr>
            </a:pPr>
            <a:r>
              <a:rPr sz="1800" b="0" dirty="0">
                <a:solidFill>
                  <a:srgbClr val="62DFF5"/>
                </a:solidFill>
                <a:latin typeface="Aptos" panose="020B0004020202020204" pitchFamily="34" charset="0"/>
              </a:rPr>
              <a:t>WEEK 9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628021C-FA91-49D4-8CA9-5003F154413B}"/>
              </a:ext>
            </a:extLst>
          </p:cNvPr>
          <p:cNvSpPr>
            <a:spLocks noGrp="1"/>
          </p:cNvSpPr>
          <p:nvPr/>
        </p:nvSpPr>
        <p:spPr>
          <a:xfrm>
            <a:off x="971550" y="4280133"/>
            <a:ext cx="5836116" cy="1714500"/>
          </a:xfrm>
          <a:prstGeom prst="rect">
            <a:avLst/>
          </a:prstGeom>
          <a:noFill/>
          <a:ln w="0"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>
            <a:defPPr>
              <a:defRPr sz="4350" b="1">
                <a:solidFill>
                  <a:srgbClr val="F1F7FF"/>
                </a:solidFill>
              </a:defRPr>
            </a:defPPr>
            <a:lvl1pPr>
              <a:defRPr sz="4350" b="1">
                <a:solidFill>
                  <a:srgbClr val="F1F7FF"/>
                </a:solidFill>
              </a:defRPr>
            </a:lvl1pPr>
            <a:lvl2pPr>
              <a:defRPr sz="4350" b="1">
                <a:solidFill>
                  <a:srgbClr val="F1F7FF"/>
                </a:solidFill>
              </a:defRPr>
            </a:lvl2pPr>
            <a:lvl3pPr>
              <a:defRPr sz="4350" b="1">
                <a:solidFill>
                  <a:srgbClr val="F1F7FF"/>
                </a:solidFill>
              </a:defRPr>
            </a:lvl3pPr>
            <a:lvl4pPr>
              <a:defRPr sz="4350" b="1">
                <a:solidFill>
                  <a:srgbClr val="F1F7FF"/>
                </a:solidFill>
              </a:defRPr>
            </a:lvl4pPr>
            <a:lvl5pPr>
              <a:defRPr sz="4350" b="1">
                <a:solidFill>
                  <a:srgbClr val="F1F7FF"/>
                </a:solidFill>
              </a:defRPr>
            </a:lvl5pPr>
            <a:lvl6pPr>
              <a:defRPr sz="4350" b="1">
                <a:solidFill>
                  <a:srgbClr val="F1F7FF"/>
                </a:solidFill>
              </a:defRPr>
            </a:lvl6pPr>
            <a:lvl7pPr>
              <a:defRPr sz="4350" b="1">
                <a:solidFill>
                  <a:srgbClr val="F1F7FF"/>
                </a:solidFill>
              </a:defRPr>
            </a:lvl7pPr>
            <a:lvl8pPr>
              <a:defRPr sz="4350" b="1">
                <a:solidFill>
                  <a:srgbClr val="F1F7FF"/>
                </a:solidFill>
              </a:defRPr>
            </a:lvl8pPr>
            <a:lvl9pPr>
              <a:defRPr sz="4350" b="1">
                <a:solidFill>
                  <a:srgbClr val="F1F7FF"/>
                </a:solidFill>
              </a:defRPr>
            </a:lvl9pPr>
          </a:lstStyle>
          <a:p>
            <a:pPr>
              <a:defRPr sz="4350" b="1">
                <a:solidFill>
                  <a:srgbClr val="F1F7FF"/>
                </a:solidFill>
              </a:defRPr>
            </a:pPr>
            <a:r>
              <a:rPr lang="en-US" sz="4400" dirty="0">
                <a:solidFill>
                  <a:schemeClr val="tx1"/>
                </a:solidFill>
                <a:latin typeface="Aptos" panose="020B0004020202020204" pitchFamily="34" charset="0"/>
              </a:rPr>
              <a:t>Advanced </a:t>
            </a:r>
            <a:r>
              <a:rPr sz="4400" dirty="0">
                <a:solidFill>
                  <a:schemeClr val="tx1"/>
                </a:solidFill>
                <a:latin typeface="Aptos" panose="020B0004020202020204" pitchFamily="34" charset="0"/>
              </a:rPr>
              <a:t>Shaders </a:t>
            </a:r>
            <a:r>
              <a:rPr lang="en-US" sz="4400" dirty="0">
                <a:solidFill>
                  <a:schemeClr val="tx1"/>
                </a:solidFill>
                <a:latin typeface="Aptos" panose="020B0004020202020204" pitchFamily="34" charset="0"/>
              </a:rPr>
              <a:t>&amp;</a:t>
            </a:r>
            <a:endParaRPr sz="4400" dirty="0">
              <a:solidFill>
                <a:schemeClr val="tx1"/>
              </a:solidFill>
              <a:latin typeface="Aptos" panose="020B0004020202020204" pitchFamily="34" charset="0"/>
            </a:endParaRPr>
          </a:p>
          <a:p>
            <a:pPr>
              <a:defRPr sz="4350" b="1">
                <a:solidFill>
                  <a:srgbClr val="F1F7FF"/>
                </a:solidFill>
              </a:defRPr>
            </a:pPr>
            <a:r>
              <a:rPr lang="en-US" sz="4400" dirty="0">
                <a:solidFill>
                  <a:schemeClr val="tx1"/>
                </a:solidFill>
                <a:latin typeface="Aptos" panose="020B0004020202020204" pitchFamily="34" charset="0"/>
              </a:rPr>
              <a:t>M</a:t>
            </a:r>
            <a:r>
              <a:rPr sz="4400" dirty="0">
                <a:solidFill>
                  <a:schemeClr val="tx1"/>
                </a:solidFill>
                <a:latin typeface="Aptos" panose="020B0004020202020204" pitchFamily="34" charset="0"/>
              </a:rPr>
              <a:t>aterial </a:t>
            </a:r>
            <a:r>
              <a:rPr lang="en-US" sz="4400" dirty="0">
                <a:solidFill>
                  <a:schemeClr val="tx1"/>
                </a:solidFill>
                <a:latin typeface="Aptos" panose="020B0004020202020204" pitchFamily="34" charset="0"/>
              </a:rPr>
              <a:t>S</a:t>
            </a:r>
            <a:r>
              <a:rPr sz="4400" dirty="0">
                <a:solidFill>
                  <a:schemeClr val="tx1"/>
                </a:solidFill>
                <a:latin typeface="Aptos" panose="020B0004020202020204" pitchFamily="34" charset="0"/>
              </a:rPr>
              <a:t>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DBB3B4-3AB9-45FD-96D9-E697A4F31C26}"/>
              </a:ext>
            </a:extLst>
          </p:cNvPr>
          <p:cNvSpPr>
            <a:spLocks noGrp="1"/>
          </p:cNvSpPr>
          <p:nvPr/>
        </p:nvSpPr>
        <p:spPr>
          <a:xfrm>
            <a:off x="971550" y="5994633"/>
            <a:ext cx="88212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B9CADC"/>
                </a:solidFill>
              </a:defRPr>
            </a:defPPr>
            <a:lvl1pPr>
              <a:defRPr sz="1725" b="0">
                <a:solidFill>
                  <a:srgbClr val="B9CADC"/>
                </a:solidFill>
              </a:defRPr>
            </a:lvl1pPr>
            <a:lvl2pPr>
              <a:defRPr sz="1725" b="0">
                <a:solidFill>
                  <a:srgbClr val="B9CADC"/>
                </a:solidFill>
              </a:defRPr>
            </a:lvl2pPr>
            <a:lvl3pPr>
              <a:defRPr sz="1725" b="0">
                <a:solidFill>
                  <a:srgbClr val="B9CADC"/>
                </a:solidFill>
              </a:defRPr>
            </a:lvl3pPr>
            <a:lvl4pPr>
              <a:defRPr sz="1725" b="0">
                <a:solidFill>
                  <a:srgbClr val="B9CADC"/>
                </a:solidFill>
              </a:defRPr>
            </a:lvl4pPr>
            <a:lvl5pPr>
              <a:defRPr sz="1725" b="0">
                <a:solidFill>
                  <a:srgbClr val="B9CADC"/>
                </a:solidFill>
              </a:defRPr>
            </a:lvl5pPr>
            <a:lvl6pPr>
              <a:defRPr sz="1725" b="0">
                <a:solidFill>
                  <a:srgbClr val="B9CADC"/>
                </a:solidFill>
              </a:defRPr>
            </a:lvl6pPr>
            <a:lvl7pPr>
              <a:defRPr sz="1725" b="0">
                <a:solidFill>
                  <a:srgbClr val="B9CADC"/>
                </a:solidFill>
              </a:defRPr>
            </a:lvl7pPr>
            <a:lvl8pPr>
              <a:defRPr sz="1725" b="0">
                <a:solidFill>
                  <a:srgbClr val="B9CADC"/>
                </a:solidFill>
              </a:defRPr>
            </a:lvl8pPr>
            <a:lvl9pPr>
              <a:defRPr sz="1725" b="0">
                <a:solidFill>
                  <a:srgbClr val="B9CADC"/>
                </a:solidFill>
              </a:defRPr>
            </a:lvl9pPr>
          </a:lstStyle>
          <a:p>
            <a:pPr>
              <a:defRPr sz="1725" b="0">
                <a:solidFill>
                  <a:srgbClr val="B9CADC"/>
                </a:solidFill>
              </a:defRPr>
            </a:pPr>
            <a:r>
              <a:rPr sz="1725" b="0" dirty="0">
                <a:solidFill>
                  <a:srgbClr val="B9CADC"/>
                </a:solidFill>
                <a:latin typeface="Aptos" panose="020B0004020202020204" pitchFamily="34" charset="0"/>
              </a:rPr>
              <a:t>Guest </a:t>
            </a:r>
            <a:r>
              <a:rPr lang="en-US" sz="1725" b="0" dirty="0">
                <a:solidFill>
                  <a:srgbClr val="B9CADC"/>
                </a:solidFill>
                <a:latin typeface="Aptos" panose="020B0004020202020204" pitchFamily="34" charset="0"/>
              </a:rPr>
              <a:t>S</a:t>
            </a:r>
            <a:r>
              <a:rPr sz="1725" b="0" dirty="0">
                <a:solidFill>
                  <a:srgbClr val="B9CADC"/>
                </a:solidFill>
                <a:latin typeface="Aptos" panose="020B0004020202020204" pitchFamily="34" charset="0"/>
              </a:rPr>
              <a:t>peakers • </a:t>
            </a:r>
            <a:r>
              <a:rPr lang="en-US" sz="1725" b="0" dirty="0">
                <a:solidFill>
                  <a:srgbClr val="B9CADC"/>
                </a:solidFill>
                <a:latin typeface="Aptos" panose="020B0004020202020204" pitchFamily="34" charset="0"/>
              </a:rPr>
              <a:t>S</a:t>
            </a:r>
            <a:r>
              <a:rPr sz="1725" b="0" dirty="0">
                <a:solidFill>
                  <a:srgbClr val="B9CADC"/>
                </a:solidFill>
                <a:latin typeface="Aptos" panose="020B0004020202020204" pitchFamily="34" charset="0"/>
              </a:rPr>
              <a:t>hader</a:t>
            </a:r>
            <a:r>
              <a:rPr lang="en-US" sz="1725" b="0" dirty="0">
                <a:solidFill>
                  <a:srgbClr val="B9CADC"/>
                </a:solidFill>
                <a:latin typeface="Aptos" panose="020B0004020202020204" pitchFamily="34" charset="0"/>
              </a:rPr>
              <a:t> Assignment</a:t>
            </a:r>
            <a:r>
              <a:rPr sz="1725" b="0" dirty="0">
                <a:solidFill>
                  <a:srgbClr val="B9CADC"/>
                </a:solidFill>
                <a:latin typeface="Aptos" panose="020B0004020202020204" pitchFamily="34" charset="0"/>
              </a:rPr>
              <a:t> • Final</a:t>
            </a:r>
            <a:r>
              <a:rPr lang="en-US" sz="1725" b="0" dirty="0">
                <a:solidFill>
                  <a:srgbClr val="B9CADC"/>
                </a:solidFill>
                <a:latin typeface="Aptos" panose="020B0004020202020204" pitchFamily="34" charset="0"/>
              </a:rPr>
              <a:t> P</a:t>
            </a:r>
            <a:r>
              <a:rPr sz="1725" b="0" dirty="0">
                <a:solidFill>
                  <a:srgbClr val="B9CADC"/>
                </a:solidFill>
                <a:latin typeface="Aptos" panose="020B0004020202020204" pitchFamily="34" charset="0"/>
              </a:rPr>
              <a:t>roject </a:t>
            </a:r>
            <a:r>
              <a:rPr lang="en-US" sz="1725" b="0" dirty="0">
                <a:solidFill>
                  <a:srgbClr val="B9CADC"/>
                </a:solidFill>
                <a:latin typeface="Aptos" panose="020B0004020202020204" pitchFamily="34" charset="0"/>
              </a:rPr>
              <a:t>P</a:t>
            </a:r>
            <a:r>
              <a:rPr sz="1725" b="0" dirty="0">
                <a:solidFill>
                  <a:srgbClr val="B9CADC"/>
                </a:solidFill>
                <a:latin typeface="Aptos" panose="020B0004020202020204" pitchFamily="34" charset="0"/>
              </a:rPr>
              <a:t>lanning</a:t>
            </a:r>
          </a:p>
        </p:txBody>
      </p:sp>
    </p:spTree>
    <p:extLst>
      <p:ext uri="{BB962C8B-B14F-4D97-AF65-F5344CB8AC3E}">
        <p14:creationId xmlns:p14="http://schemas.microsoft.com/office/powerpoint/2010/main" val="1430971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1DD1FA5-6684-4375-8FB0-333B095C2242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WELCOME • 4:30–4:45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BFAF30-248D-43CA-8F00-9E712DB2DD7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lang="en-US" sz="3000" b="1" dirty="0">
                <a:solidFill>
                  <a:srgbClr val="FFFFFF"/>
                </a:solidFill>
                <a:latin typeface="Aptos" panose="020B0004020202020204" pitchFamily="34" charset="0"/>
              </a:rPr>
              <a:t>A</a:t>
            </a:r>
            <a:r>
              <a:rPr sz="3000" b="1" dirty="0">
                <a:solidFill>
                  <a:srgbClr val="FFFFFF"/>
                </a:solidFill>
                <a:latin typeface="Aptos" panose="020B0004020202020204" pitchFamily="34" charset="0"/>
              </a:rPr>
              <a:t>genda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C7CAE7-FE0A-4A0C-9846-471C75C57BEE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02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4B7F705-392F-4937-A107-6D0D1DB8487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15283441"/>
              </p:ext>
            </p:extLst>
          </p:nvPr>
        </p:nvGraphicFramePr>
        <p:xfrm>
          <a:off x="609600" y="2000250"/>
          <a:ext cx="10972800" cy="4000500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1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Time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Activity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4:30–4:45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Welcome, </a:t>
                      </a:r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a</a:t>
                      </a:r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genda, </a:t>
                      </a:r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t</a:t>
                      </a:r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ech setup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4:45–6:00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Guest speakers </a:t>
                      </a:r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+</a:t>
                      </a:r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Q&amp;A</a:t>
                      </a:r>
                      <a:endParaRPr sz="1950" b="0" dirty="0">
                        <a:solidFill>
                          <a:srgbClr val="FFFFFF"/>
                        </a:solidFill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6:00–6:15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Break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6:15–6:25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Advanced </a:t>
                      </a:r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Material </a:t>
                      </a:r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S</a:t>
                      </a:r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ystems: quick </a:t>
                      </a:r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demo </a:t>
                      </a:r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walkthrough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6:25–6:50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Workshop: </a:t>
                      </a:r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independent work on</a:t>
                      </a:r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 original shader</a:t>
                      </a:r>
                      <a:r>
                        <a:rPr lang="en-US"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 assignment</a:t>
                      </a:r>
                      <a:endParaRPr sz="1950" b="0" dirty="0">
                        <a:solidFill>
                          <a:srgbClr val="FFFFFF"/>
                        </a:solidFill>
                        <a:latin typeface="Aptos" panose="020B0004020202020204" pitchFamily="34" charset="0"/>
                      </a:endParaRP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6:50–7:00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 dirty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Final assignment overview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91321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3603D1E-69AC-BD5F-FC90-B18994272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3556" y="1905000"/>
            <a:ext cx="6529588" cy="367289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FD76BBA-24B1-4428-B14F-9D76C1A2F7F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4:45–6:00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8D1DD89-D57F-4141-810C-A82229153EC0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 dirty="0">
                <a:solidFill>
                  <a:srgbClr val="FFFFFF"/>
                </a:solidFill>
                <a:latin typeface="Aptos" panose="020B0004020202020204" pitchFamily="34" charset="0"/>
              </a:rPr>
              <a:t>Guest </a:t>
            </a:r>
            <a:r>
              <a:rPr lang="en-US" sz="3000" b="1" dirty="0">
                <a:solidFill>
                  <a:srgbClr val="FFFFFF"/>
                </a:solidFill>
                <a:latin typeface="Aptos" panose="020B0004020202020204" pitchFamily="34" charset="0"/>
              </a:rPr>
              <a:t>S</a:t>
            </a:r>
            <a:r>
              <a:rPr sz="3000" b="1" dirty="0">
                <a:solidFill>
                  <a:srgbClr val="FFFFFF"/>
                </a:solidFill>
                <a:latin typeface="Aptos" panose="020B0004020202020204" pitchFamily="34" charset="0"/>
              </a:rPr>
              <a:t>peakers</a:t>
            </a:r>
            <a:r>
              <a:rPr lang="en-US" sz="3000" b="1" dirty="0">
                <a:solidFill>
                  <a:srgbClr val="FFFFFF"/>
                </a:solidFill>
                <a:latin typeface="Aptos" panose="020B0004020202020204" pitchFamily="34" charset="0"/>
              </a:rPr>
              <a:t>: </a:t>
            </a:r>
            <a:r>
              <a:rPr lang="en-US" sz="3000" b="0" dirty="0">
                <a:solidFill>
                  <a:srgbClr val="FFFFFF"/>
                </a:solidFill>
                <a:latin typeface="Aptos" panose="020B0004020202020204" pitchFamily="34" charset="0"/>
              </a:rPr>
              <a:t>Luke &amp; Laura</a:t>
            </a:r>
            <a:endParaRPr sz="3000" b="0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11CFC8-97A4-4527-8DE9-7B5E7D24647E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5EC7BED-34D8-42E8-8EA2-FCECD55DE1B7}"/>
              </a:ext>
            </a:extLst>
          </p:cNvPr>
          <p:cNvSpPr>
            <a:spLocks noGrp="1"/>
          </p:cNvSpPr>
          <p:nvPr/>
        </p:nvSpPr>
        <p:spPr>
          <a:xfrm>
            <a:off x="666750" y="5915025"/>
            <a:ext cx="1047750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850" b="0">
                <a:solidFill>
                  <a:srgbClr val="FFFFFF"/>
                </a:solidFill>
              </a:defRPr>
            </a:defPPr>
            <a:lvl1pPr>
              <a:defRPr sz="2850" b="0">
                <a:solidFill>
                  <a:srgbClr val="FFFFFF"/>
                </a:solidFill>
              </a:defRPr>
            </a:lvl1pPr>
            <a:lvl2pPr>
              <a:defRPr sz="2850" b="0">
                <a:solidFill>
                  <a:srgbClr val="FFFFFF"/>
                </a:solidFill>
              </a:defRPr>
            </a:lvl2pPr>
            <a:lvl3pPr>
              <a:defRPr sz="2850" b="0">
                <a:solidFill>
                  <a:srgbClr val="FFFFFF"/>
                </a:solidFill>
              </a:defRPr>
            </a:lvl3pPr>
            <a:lvl4pPr>
              <a:defRPr sz="2850" b="0">
                <a:solidFill>
                  <a:srgbClr val="FFFFFF"/>
                </a:solidFill>
              </a:defRPr>
            </a:lvl4pPr>
            <a:lvl5pPr>
              <a:defRPr sz="2850" b="0">
                <a:solidFill>
                  <a:srgbClr val="FFFFFF"/>
                </a:solidFill>
              </a:defRPr>
            </a:lvl5pPr>
            <a:lvl6pPr>
              <a:defRPr sz="2850" b="0">
                <a:solidFill>
                  <a:srgbClr val="FFFFFF"/>
                </a:solidFill>
              </a:defRPr>
            </a:lvl6pPr>
            <a:lvl7pPr>
              <a:defRPr sz="2850" b="0">
                <a:solidFill>
                  <a:srgbClr val="FFFFFF"/>
                </a:solidFill>
              </a:defRPr>
            </a:lvl7pPr>
            <a:lvl8pPr>
              <a:defRPr sz="2850" b="0">
                <a:solidFill>
                  <a:srgbClr val="FFFFFF"/>
                </a:solidFill>
              </a:defRPr>
            </a:lvl8pPr>
            <a:lvl9pPr>
              <a:defRPr sz="2850" b="0">
                <a:solidFill>
                  <a:srgbClr val="FFFFFF"/>
                </a:solidFill>
              </a:defRPr>
            </a:lvl9pPr>
          </a:lstStyle>
          <a:p>
            <a:pPr algn="ctr">
              <a:defRPr sz="2850" b="0">
                <a:solidFill>
                  <a:srgbClr val="FFFFFF"/>
                </a:solidFill>
              </a:defRPr>
            </a:pPr>
            <a:r>
              <a:rPr lang="en-US" sz="2850" b="0" i="1" dirty="0">
                <a:solidFill>
                  <a:srgbClr val="FFFFFF"/>
                </a:solidFill>
                <a:latin typeface="Aptos" panose="020B0004020202020204" pitchFamily="34" charset="0"/>
              </a:rPr>
              <a:t>Take notes! Ask questions!</a:t>
            </a:r>
            <a:endParaRPr sz="2850" b="0" i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F59A8AA-D14D-FA40-AB53-9DFDE20F1C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845" y="381000"/>
            <a:ext cx="1614555" cy="1614555"/>
          </a:xfrm>
          <a:prstGeom prst="ellipse">
            <a:avLst/>
          </a:prstGeom>
          <a:ln w="63500" cap="rnd">
            <a:solidFill>
              <a:schemeClr val="bg1"/>
            </a:solidFill>
          </a:ln>
          <a:effectLst/>
          <a:scene3d>
            <a:camera prst="orthographicFront"/>
            <a:lightRig rig="contrasting" dir="t">
              <a:rot lat="0" lon="0" rev="3000000"/>
            </a:lightRig>
          </a:scene3d>
          <a:sp3d contourW="7620"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0035342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DB358C-31A2-4FFB-85E2-958604E8E17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6:00–6:15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5E9FB2-07B1-4FF6-A0BE-B02DD21DAB90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Break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782DE9-BAAE-450B-9C64-63927A4699B6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746454-55CE-45D9-AABB-B65759E3BEF3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10477500" cy="1428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6000" b="1">
                <a:solidFill>
                  <a:srgbClr val="72D4C1"/>
                </a:solidFill>
              </a:defRPr>
            </a:defPPr>
            <a:lvl1pPr>
              <a:defRPr sz="6000" b="1">
                <a:solidFill>
                  <a:srgbClr val="72D4C1"/>
                </a:solidFill>
              </a:defRPr>
            </a:lvl1pPr>
            <a:lvl2pPr>
              <a:defRPr sz="6000" b="1">
                <a:solidFill>
                  <a:srgbClr val="72D4C1"/>
                </a:solidFill>
              </a:defRPr>
            </a:lvl2pPr>
            <a:lvl3pPr>
              <a:defRPr sz="6000" b="1">
                <a:solidFill>
                  <a:srgbClr val="72D4C1"/>
                </a:solidFill>
              </a:defRPr>
            </a:lvl3pPr>
            <a:lvl4pPr>
              <a:defRPr sz="6000" b="1">
                <a:solidFill>
                  <a:srgbClr val="72D4C1"/>
                </a:solidFill>
              </a:defRPr>
            </a:lvl4pPr>
            <a:lvl5pPr>
              <a:defRPr sz="6000" b="1">
                <a:solidFill>
                  <a:srgbClr val="72D4C1"/>
                </a:solidFill>
              </a:defRPr>
            </a:lvl5pPr>
            <a:lvl6pPr>
              <a:defRPr sz="6000" b="1">
                <a:solidFill>
                  <a:srgbClr val="72D4C1"/>
                </a:solidFill>
              </a:defRPr>
            </a:lvl6pPr>
            <a:lvl7pPr>
              <a:defRPr sz="6000" b="1">
                <a:solidFill>
                  <a:srgbClr val="72D4C1"/>
                </a:solidFill>
              </a:defRPr>
            </a:lvl7pPr>
            <a:lvl8pPr>
              <a:defRPr sz="6000" b="1">
                <a:solidFill>
                  <a:srgbClr val="72D4C1"/>
                </a:solidFill>
              </a:defRPr>
            </a:lvl8pPr>
            <a:lvl9pPr>
              <a:defRPr sz="6000" b="1">
                <a:solidFill>
                  <a:srgbClr val="72D4C1"/>
                </a:solidFill>
              </a:defRPr>
            </a:lvl9pPr>
          </a:lstStyle>
          <a:p>
            <a:pPr>
              <a:defRPr sz="6000" b="1">
                <a:solidFill>
                  <a:srgbClr val="72D4C1"/>
                </a:solidFill>
              </a:defRPr>
            </a:pPr>
            <a:r>
              <a:rPr sz="6000" b="1">
                <a:solidFill>
                  <a:srgbClr val="72D4C1"/>
                </a:solidFill>
                <a:latin typeface="Aptos" panose="020B0004020202020204" pitchFamily="34" charset="0"/>
              </a:rPr>
              <a:t>Back at 6:15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717F54-F1D9-49C8-8C55-EA6E2FCD785D}"/>
              </a:ext>
            </a:extLst>
          </p:cNvPr>
          <p:cNvSpPr>
            <a:spLocks noGrp="1"/>
          </p:cNvSpPr>
          <p:nvPr/>
        </p:nvSpPr>
        <p:spPr>
          <a:xfrm>
            <a:off x="628650" y="4476750"/>
            <a:ext cx="1047750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0">
                <a:solidFill>
                  <a:srgbClr val="FFFFFF"/>
                </a:solidFill>
              </a:defRPr>
            </a:defPPr>
            <a:lvl1pPr>
              <a:defRPr sz="2400" b="0">
                <a:solidFill>
                  <a:srgbClr val="FFFFFF"/>
                </a:solidFill>
              </a:defRPr>
            </a:lvl1pPr>
            <a:lvl2pPr>
              <a:defRPr sz="2400" b="0">
                <a:solidFill>
                  <a:srgbClr val="FFFFFF"/>
                </a:solidFill>
              </a:defRPr>
            </a:lvl2pPr>
            <a:lvl3pPr>
              <a:defRPr sz="2400" b="0">
                <a:solidFill>
                  <a:srgbClr val="FFFFFF"/>
                </a:solidFill>
              </a:defRPr>
            </a:lvl3pPr>
            <a:lvl4pPr>
              <a:defRPr sz="2400" b="0">
                <a:solidFill>
                  <a:srgbClr val="FFFFFF"/>
                </a:solidFill>
              </a:defRPr>
            </a:lvl4pPr>
            <a:lvl5pPr>
              <a:defRPr sz="2400" b="0">
                <a:solidFill>
                  <a:srgbClr val="FFFFFF"/>
                </a:solidFill>
              </a:defRPr>
            </a:lvl5pPr>
            <a:lvl6pPr>
              <a:defRPr sz="2400" b="0">
                <a:solidFill>
                  <a:srgbClr val="FFFFFF"/>
                </a:solidFill>
              </a:defRPr>
            </a:lvl6pPr>
            <a:lvl7pPr>
              <a:defRPr sz="2400" b="0">
                <a:solidFill>
                  <a:srgbClr val="FFFFFF"/>
                </a:solidFill>
              </a:defRPr>
            </a:lvl7pPr>
            <a:lvl8pPr>
              <a:defRPr sz="2400" b="0">
                <a:solidFill>
                  <a:srgbClr val="FFFFFF"/>
                </a:solidFill>
              </a:defRPr>
            </a:lvl8pPr>
            <a:lvl9pPr>
              <a:defRPr sz="2400" b="0">
                <a:solidFill>
                  <a:srgbClr val="FFFFFF"/>
                </a:solidFill>
              </a:defRPr>
            </a:lvl9pPr>
          </a:lstStyle>
          <a:p>
            <a:pPr>
              <a:defRPr sz="2400" b="0">
                <a:solidFill>
                  <a:srgbClr val="FFFFFF"/>
                </a:solidFill>
              </a:defRPr>
            </a:pPr>
            <a:r>
              <a:rPr sz="2400" b="0">
                <a:solidFill>
                  <a:srgbClr val="FFFFFF"/>
                </a:solidFill>
                <a:latin typeface="Aptos" panose="020B0004020202020204" pitchFamily="34" charset="0"/>
              </a:rPr>
              <a:t>Next: a quick Unreal walkthrough, then your shader lab.</a:t>
            </a:r>
          </a:p>
        </p:txBody>
      </p:sp>
    </p:spTree>
    <p:extLst>
      <p:ext uri="{BB962C8B-B14F-4D97-AF65-F5344CB8AC3E}">
        <p14:creationId xmlns:p14="http://schemas.microsoft.com/office/powerpoint/2010/main" val="9671496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A673B83-F334-4451-AB44-9677C89E599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TECH SETUP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C06D489-E497-4624-9C18-4A7F4915703A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 dirty="0">
                <a:solidFill>
                  <a:srgbClr val="FFFFFF"/>
                </a:solidFill>
                <a:latin typeface="Aptos" panose="020B0004020202020204" pitchFamily="34" charset="0"/>
              </a:rPr>
              <a:t>Get ready to </a:t>
            </a:r>
            <a:r>
              <a:rPr lang="en-US" sz="3000" b="1" dirty="0">
                <a:solidFill>
                  <a:srgbClr val="FFFFFF"/>
                </a:solidFill>
                <a:latin typeface="Aptos" panose="020B0004020202020204" pitchFamily="34" charset="0"/>
              </a:rPr>
              <a:t>work on</a:t>
            </a:r>
            <a:r>
              <a:rPr sz="3000" b="1" dirty="0">
                <a:solidFill>
                  <a:srgbClr val="FFFFFF"/>
                </a:solidFill>
                <a:latin typeface="Aptos" panose="020B0004020202020204" pitchFamily="34" charset="0"/>
              </a:rPr>
              <a:t> your shader</a:t>
            </a:r>
            <a:r>
              <a:rPr lang="en-US" sz="3000" b="1" dirty="0">
                <a:solidFill>
                  <a:srgbClr val="FFFFFF"/>
                </a:solidFill>
                <a:latin typeface="Aptos" panose="020B0004020202020204" pitchFamily="34" charset="0"/>
              </a:rPr>
              <a:t>s!</a:t>
            </a:r>
            <a:endParaRPr sz="3000" b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068422-A94F-40FE-8C35-EFAA77C1005F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2B92C6-07CC-4CEA-B6F6-AFE58321E6D0}"/>
              </a:ext>
            </a:extLst>
          </p:cNvPr>
          <p:cNvSpPr>
            <a:spLocks noGrp="1"/>
          </p:cNvSpPr>
          <p:nvPr/>
        </p:nvSpPr>
        <p:spPr>
          <a:xfrm>
            <a:off x="628650" y="2000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sz="2250" b="1" dirty="0">
                <a:solidFill>
                  <a:srgbClr val="72D4C1"/>
                </a:solidFill>
                <a:latin typeface="Aptos" panose="020B0004020202020204" pitchFamily="34" charset="0"/>
              </a:rPr>
              <a:t>Open your shader project</a:t>
            </a:r>
            <a:r>
              <a:rPr lang="en-US" sz="2250" b="1" dirty="0">
                <a:solidFill>
                  <a:srgbClr val="72D4C1"/>
                </a:solidFill>
                <a:latin typeface="Aptos" panose="020B0004020202020204" pitchFamily="34" charset="0"/>
              </a:rPr>
              <a:t>s</a:t>
            </a:r>
            <a:endParaRPr sz="2250" b="1" dirty="0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070D2F-C117-4571-BEA6-EA3B7E3CC3C5}"/>
              </a:ext>
            </a:extLst>
          </p:cNvPr>
          <p:cNvSpPr>
            <a:spLocks noGrp="1"/>
          </p:cNvSpPr>
          <p:nvPr/>
        </p:nvSpPr>
        <p:spPr>
          <a:xfrm>
            <a:off x="628650" y="2457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 dirty="0">
                <a:solidFill>
                  <a:srgbClr val="FFFFFF"/>
                </a:solidFill>
                <a:latin typeface="Aptos" panose="020B0004020202020204" pitchFamily="34" charset="0"/>
              </a:rPr>
              <a:t>Week 9 stations </a:t>
            </a:r>
            <a:r>
              <a:rPr lang="en-US" sz="2025" b="0" dirty="0">
                <a:solidFill>
                  <a:srgbClr val="FFFFFF"/>
                </a:solidFill>
                <a:latin typeface="Aptos" panose="020B0004020202020204" pitchFamily="34" charset="0"/>
              </a:rPr>
              <a:t>provide additional</a:t>
            </a:r>
            <a:r>
              <a:rPr sz="2025" b="0" dirty="0">
                <a:solidFill>
                  <a:srgbClr val="FFFFFF"/>
                </a:solidFill>
                <a:latin typeface="Aptos" panose="020B0004020202020204" pitchFamily="34" charset="0"/>
              </a:rPr>
              <a:t> </a:t>
            </a:r>
            <a:r>
              <a:rPr sz="2025" b="0" i="1" dirty="0">
                <a:solidFill>
                  <a:srgbClr val="FFFFFF"/>
                </a:solidFill>
                <a:latin typeface="Aptos" panose="020B0004020202020204" pitchFamily="34" charset="0"/>
              </a:rPr>
              <a:t>optional</a:t>
            </a:r>
            <a:r>
              <a:rPr sz="2025" b="0" dirty="0">
                <a:solidFill>
                  <a:srgbClr val="FFFFFF"/>
                </a:solidFill>
                <a:latin typeface="Aptos" panose="020B0004020202020204" pitchFamily="34" charset="0"/>
              </a:rPr>
              <a:t> references.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5AE37F-89B4-4723-886F-78735571208C}"/>
              </a:ext>
            </a:extLst>
          </p:cNvPr>
          <p:cNvSpPr>
            <a:spLocks noGrp="1"/>
          </p:cNvSpPr>
          <p:nvPr/>
        </p:nvSpPr>
        <p:spPr>
          <a:xfrm>
            <a:off x="628650" y="33337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sz="2250" b="1" dirty="0">
                <a:solidFill>
                  <a:srgbClr val="72D4C1"/>
                </a:solidFill>
                <a:latin typeface="Aptos" panose="020B0004020202020204" pitchFamily="34" charset="0"/>
              </a:rPr>
              <a:t>Use </a:t>
            </a:r>
            <a:r>
              <a:rPr lang="en-US" sz="2250" b="1" dirty="0">
                <a:solidFill>
                  <a:srgbClr val="72D4C1"/>
                </a:solidFill>
                <a:latin typeface="Aptos" panose="020B0004020202020204" pitchFamily="34" charset="0"/>
              </a:rPr>
              <a:t>references!</a:t>
            </a:r>
            <a:endParaRPr sz="2250" b="1" dirty="0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52016A-2A58-4AEC-A9B6-CEF91277AC4E}"/>
              </a:ext>
            </a:extLst>
          </p:cNvPr>
          <p:cNvSpPr>
            <a:spLocks noGrp="1"/>
          </p:cNvSpPr>
          <p:nvPr/>
        </p:nvSpPr>
        <p:spPr>
          <a:xfrm>
            <a:off x="628650" y="37909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 dirty="0">
                <a:solidFill>
                  <a:srgbClr val="FFFFFF"/>
                </a:solidFill>
                <a:latin typeface="Aptos" panose="020B0004020202020204" pitchFamily="34" charset="0"/>
              </a:rPr>
              <a:t>Gather references from online, or Week 8 &amp; 9 provided materials. </a:t>
            </a:r>
          </a:p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 i="1" dirty="0">
                <a:solidFill>
                  <a:srgbClr val="FFFFFF"/>
                </a:solidFill>
                <a:latin typeface="Aptos" panose="020B0004020202020204" pitchFamily="34" charset="0"/>
              </a:rPr>
              <a:t>Optional: </a:t>
            </a:r>
            <a:r>
              <a:rPr lang="en-US" i="1" dirty="0">
                <a:latin typeface="Aptos" panose="020B0004020202020204" pitchFamily="34" charset="0"/>
              </a:rPr>
              <a:t>Compile them in </a:t>
            </a:r>
            <a:r>
              <a:rPr lang="en-US" b="1" i="1" dirty="0" err="1">
                <a:latin typeface="Aptos" panose="020B0004020202020204" pitchFamily="34" charset="0"/>
              </a:rPr>
              <a:t>PureRef</a:t>
            </a:r>
            <a:r>
              <a:rPr lang="en-US" i="1" dirty="0">
                <a:latin typeface="Aptos" panose="020B0004020202020204" pitchFamily="34" charset="0"/>
              </a:rPr>
              <a:t>. </a:t>
            </a:r>
            <a:endParaRPr sz="2025" b="0" i="1" dirty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DA6087-F051-40A9-B1C0-419FF473AEA1}"/>
              </a:ext>
            </a:extLst>
          </p:cNvPr>
          <p:cNvSpPr>
            <a:spLocks noGrp="1"/>
          </p:cNvSpPr>
          <p:nvPr/>
        </p:nvSpPr>
        <p:spPr>
          <a:xfrm>
            <a:off x="628650" y="4667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2250" b="1" dirty="0">
                <a:solidFill>
                  <a:srgbClr val="72D4C1"/>
                </a:solidFill>
                <a:latin typeface="Aptos" panose="020B0004020202020204" pitchFamily="34" charset="0"/>
              </a:rPr>
              <a:t>Check the </a:t>
            </a:r>
            <a:r>
              <a:rPr lang="en-US" sz="2250" b="1" i="1" dirty="0">
                <a:solidFill>
                  <a:srgbClr val="72D4C1"/>
                </a:solidFill>
                <a:latin typeface="Aptos" panose="020B0004020202020204" pitchFamily="34" charset="0"/>
              </a:rPr>
              <a:t>shader </a:t>
            </a:r>
            <a:r>
              <a:rPr sz="2250" b="1" i="1" dirty="0">
                <a:solidFill>
                  <a:srgbClr val="72D4C1"/>
                </a:solidFill>
                <a:latin typeface="Aptos" panose="020B0004020202020204" pitchFamily="34" charset="0"/>
              </a:rPr>
              <a:t>cheat sheet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DA292A-451A-4A0D-B897-B4D97532D248}"/>
              </a:ext>
            </a:extLst>
          </p:cNvPr>
          <p:cNvSpPr>
            <a:spLocks noGrp="1"/>
          </p:cNvSpPr>
          <p:nvPr/>
        </p:nvSpPr>
        <p:spPr>
          <a:xfrm>
            <a:off x="628650" y="5124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 dirty="0">
                <a:solidFill>
                  <a:srgbClr val="FFFFFF"/>
                </a:solidFill>
                <a:latin typeface="Aptos" panose="020B0004020202020204" pitchFamily="34" charset="0"/>
              </a:rPr>
              <a:t>Record the control, its meaning, the visible result, and how to reset it.</a:t>
            </a:r>
          </a:p>
        </p:txBody>
      </p:sp>
    </p:spTree>
    <p:extLst>
      <p:ext uri="{BB962C8B-B14F-4D97-AF65-F5344CB8AC3E}">
        <p14:creationId xmlns:p14="http://schemas.microsoft.com/office/powerpoint/2010/main" val="773296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9214AA7-2C23-4917-844B-C6DFAB99BDA0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PAINTED BLENDING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0109AE-1080-4751-8826-AFF14D4B118B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Vertex colors and painted weights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FDE16-D8D1-41EE-AC03-5872BB3606C8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7A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BB580B6-35BB-4C34-97E8-630B123BBD9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38076037"/>
              </p:ext>
            </p:extLst>
          </p:nvPr>
        </p:nvGraphicFramePr>
        <p:xfrm>
          <a:off x="609600" y="2000250"/>
          <a:ext cx="10972800" cy="2952752"/>
        </p:xfrm>
        <a:graphic>
          <a:graphicData uri="http://schemas.openxmlformats.org/drawingml/2006/table">
            <a:tbl>
              <a:tblPr/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3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1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818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Station 08 example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Stored data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Interpretation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Weight diagnostic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Vertex R and G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Displays saved component paint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Regular blend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R = stone; G = sand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Two painted contributions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Height blend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R = blend control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Weight plus height shapes coverage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F39FD701-A860-46D1-8A36-EE873454EBDD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C4D3E3"/>
                </a:solidFill>
              </a:defRPr>
            </a:defPPr>
            <a:lvl1pPr>
              <a:defRPr sz="1800" b="0">
                <a:solidFill>
                  <a:srgbClr val="C4D3E3"/>
                </a:solidFill>
              </a:defRPr>
            </a:lvl1pPr>
            <a:lvl2pPr>
              <a:defRPr sz="1800" b="0">
                <a:solidFill>
                  <a:srgbClr val="C4D3E3"/>
                </a:solidFill>
              </a:defRPr>
            </a:lvl2pPr>
            <a:lvl3pPr>
              <a:defRPr sz="1800" b="0">
                <a:solidFill>
                  <a:srgbClr val="C4D3E3"/>
                </a:solidFill>
              </a:defRPr>
            </a:lvl3pPr>
            <a:lvl4pPr>
              <a:defRPr sz="1800" b="0">
                <a:solidFill>
                  <a:srgbClr val="C4D3E3"/>
                </a:solidFill>
              </a:defRPr>
            </a:lvl4pPr>
            <a:lvl5pPr>
              <a:defRPr sz="1800" b="0">
                <a:solidFill>
                  <a:srgbClr val="C4D3E3"/>
                </a:solidFill>
              </a:defRPr>
            </a:lvl5pPr>
            <a:lvl6pPr>
              <a:defRPr sz="1800" b="0">
                <a:solidFill>
                  <a:srgbClr val="C4D3E3"/>
                </a:solidFill>
              </a:defRPr>
            </a:lvl6pPr>
            <a:lvl7pPr>
              <a:defRPr sz="1800" b="0">
                <a:solidFill>
                  <a:srgbClr val="C4D3E3"/>
                </a:solidFill>
              </a:defRPr>
            </a:lvl7pPr>
            <a:lvl8pPr>
              <a:defRPr sz="1800" b="0">
                <a:solidFill>
                  <a:srgbClr val="C4D3E3"/>
                </a:solidFill>
              </a:defRPr>
            </a:lvl8pPr>
            <a:lvl9pPr>
              <a:defRPr sz="1800" b="0">
                <a:solidFill>
                  <a:srgbClr val="C4D3E3"/>
                </a:solidFill>
              </a:defRPr>
            </a:lvl9pPr>
          </a:lstStyle>
          <a:p>
            <a:pPr>
              <a:defRPr sz="1800" b="0">
                <a:solidFill>
                  <a:srgbClr val="C4D3E3"/>
                </a:solidFill>
              </a:defRPr>
            </a:pPr>
            <a:r>
              <a:rPr sz="1800" b="0">
                <a:solidFill>
                  <a:srgbClr val="C4D3E3"/>
                </a:solidFill>
                <a:latin typeface="Aptos" panose="020B0004020202020204" pitchFamily="34" charset="0"/>
              </a:rPr>
              <a:t>Vertex density limits paint detail; values interpolate between vertices.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AE5DB9-D578-41A6-A087-8CD16CA61764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Before painting red, which material connection must you inspect?</a:t>
            </a:r>
          </a:p>
        </p:txBody>
      </p:sp>
    </p:spTree>
    <p:extLst>
      <p:ext uri="{BB962C8B-B14F-4D97-AF65-F5344CB8AC3E}">
        <p14:creationId xmlns:p14="http://schemas.microsoft.com/office/powerpoint/2010/main" val="15499147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0FA5255-9851-4294-9761-F0CAF77A4711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LAB ROUTE B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BC82EFD-49C1-43FC-ACFD-0B65C812E0FF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Height-based blending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081DB3D-27C2-415C-A04E-527CEC4AD27F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7B</a:t>
            </a:r>
          </a:p>
        </p:txBody>
      </p:sp>
      <p:pic>
        <p:nvPicPr>
          <p:cNvPr id="14" name="Picture 4" descr="Current Unreal gallery, reference 08; native 3840 x 2160 capture.">
            <a:extLst>
              <a:ext uri="{FF2B5EF4-FFF2-40B4-BE49-F238E27FC236}">
                <a16:creationId xmlns:a16="http://schemas.microsoft.com/office/drawing/2014/main" id="{CBD4F1DD-BB0D-BFF7-3190-071683B8ECA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0" t="15000" r="8000" b="1000"/>
          <a:stretch>
            <a:fillRect/>
          </a:stretch>
        </p:blipFill>
        <p:spPr>
          <a:xfrm>
            <a:off x="609600" y="2093119"/>
            <a:ext cx="6477000" cy="364331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1023361-CDF2-4771-BE4F-BCF97CFC4BAB}"/>
              </a:ext>
            </a:extLst>
          </p:cNvPr>
          <p:cNvSpPr>
            <a:spLocks noGrp="1"/>
          </p:cNvSpPr>
          <p:nvPr/>
        </p:nvSpPr>
        <p:spPr>
          <a:xfrm>
            <a:off x="7524750" y="1952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Hold fixed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0D8E9C-930C-4903-8709-EADB39963286}"/>
              </a:ext>
            </a:extLst>
          </p:cNvPr>
          <p:cNvSpPr>
            <a:spLocks noGrp="1"/>
          </p:cNvSpPr>
          <p:nvPr/>
        </p:nvSpPr>
        <p:spPr>
          <a:xfrm>
            <a:off x="7524750" y="2362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Saved vertex paint, textures and tiling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6240DE9-48F4-4134-AA27-F97C4C1E97B4}"/>
              </a:ext>
            </a:extLst>
          </p:cNvPr>
          <p:cNvSpPr>
            <a:spLocks noGrp="1"/>
          </p:cNvSpPr>
          <p:nvPr/>
        </p:nvSpPr>
        <p:spPr>
          <a:xfrm>
            <a:off x="7524750" y="32861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Change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51519E-B17B-45B5-9E23-4C9F6929E9FA}"/>
              </a:ext>
            </a:extLst>
          </p:cNvPr>
          <p:cNvSpPr>
            <a:spLocks noGrp="1"/>
          </p:cNvSpPr>
          <p:nvPr/>
        </p:nvSpPr>
        <p:spPr>
          <a:xfrm>
            <a:off x="7524750" y="36957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MI_08_HeightBlend → Blend Contrast: 1 versus 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9B3D76-2893-4DCB-9C0C-8FB09901D9DA}"/>
              </a:ext>
            </a:extLst>
          </p:cNvPr>
          <p:cNvSpPr>
            <a:spLocks noGrp="1"/>
          </p:cNvSpPr>
          <p:nvPr/>
        </p:nvSpPr>
        <p:spPr>
          <a:xfrm>
            <a:off x="7524750" y="4619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Observe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81D10-D8B6-4AD6-8527-0F4822E037E2}"/>
              </a:ext>
            </a:extLst>
          </p:cNvPr>
          <p:cNvSpPr>
            <a:spLocks noGrp="1"/>
          </p:cNvSpPr>
          <p:nvPr/>
        </p:nvSpPr>
        <p:spPr>
          <a:xfrm>
            <a:off x="7524750" y="5029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Boundary shape and sharpness; unchanged outer geometry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D8626AD-1790-4A23-B918-40B720D6AE9A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What evidence would distinguish height blending from displacement?</a:t>
            </a:r>
          </a:p>
        </p:txBody>
      </p:sp>
    </p:spTree>
    <p:extLst>
      <p:ext uri="{BB962C8B-B14F-4D97-AF65-F5344CB8AC3E}">
        <p14:creationId xmlns:p14="http://schemas.microsoft.com/office/powerpoint/2010/main" val="652768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EEB7D9F-F51E-49BD-B33C-90364E513CAA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PARAMETER SCOPE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15D9870-93D4-48F9-908B-2F2FF94FE330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Parameter scope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316589-338D-4165-967B-3A4D399AC1E7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EC29AD-F0F2-4DE5-88AB-8429313E7635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572750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E0F3F0"/>
                </a:solidFill>
              </a:defRPr>
            </a:defPPr>
            <a:lvl1pPr>
              <a:defRPr sz="1875">
                <a:solidFill>
                  <a:srgbClr val="E0F3F0"/>
                </a:solidFill>
              </a:defRPr>
            </a:lvl1pPr>
            <a:lvl2pPr>
              <a:defRPr sz="1875">
                <a:solidFill>
                  <a:srgbClr val="E0F3F0"/>
                </a:solidFill>
              </a:defRPr>
            </a:lvl2pPr>
            <a:lvl3pPr>
              <a:defRPr sz="1875">
                <a:solidFill>
                  <a:srgbClr val="E0F3F0"/>
                </a:solidFill>
              </a:defRPr>
            </a:lvl3pPr>
            <a:lvl4pPr>
              <a:defRPr sz="1875">
                <a:solidFill>
                  <a:srgbClr val="E0F3F0"/>
                </a:solidFill>
              </a:defRPr>
            </a:lvl4pPr>
            <a:lvl5pPr>
              <a:defRPr sz="1875">
                <a:solidFill>
                  <a:srgbClr val="E0F3F0"/>
                </a:solidFill>
              </a:defRPr>
            </a:lvl5pPr>
            <a:lvl6pPr>
              <a:defRPr sz="1875">
                <a:solidFill>
                  <a:srgbClr val="E0F3F0"/>
                </a:solidFill>
              </a:defRPr>
            </a:lvl6pPr>
            <a:lvl7pPr>
              <a:defRPr sz="1875">
                <a:solidFill>
                  <a:srgbClr val="E0F3F0"/>
                </a:solidFill>
              </a:defRPr>
            </a:lvl7pPr>
            <a:lvl8pPr>
              <a:defRPr sz="1875">
                <a:solidFill>
                  <a:srgbClr val="E0F3F0"/>
                </a:solidFill>
              </a:defRPr>
            </a:lvl8pPr>
            <a:lvl9pPr>
              <a:defRPr sz="1875">
                <a:solidFill>
                  <a:srgbClr val="E0F3F0"/>
                </a:solidFill>
              </a:defRPr>
            </a:lvl9pPr>
          </a:lstStyle>
          <a:p>
            <a:pPr>
              <a:defRPr sz="1875">
                <a:solidFill>
                  <a:srgbClr val="E0F3F0"/>
                </a:solidFill>
              </a:defRPr>
            </a:pPr>
            <a:r>
              <a:rPr sz="1875">
                <a:solidFill>
                  <a:srgbClr val="E0F3F0"/>
                </a:solidFill>
                <a:latin typeface="Aptos" panose="020B0004020202020204" pitchFamily="34" charset="0"/>
              </a:rPr>
              <a:t>Choose the scope first: reusable variant, shared value or per-component data.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4B24DEF-F784-F872-1ED1-7DC60EA258D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857375"/>
            <a:ext cx="10972800" cy="39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2004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77B6B5F-976D-4A23-86DD-52619B96D52A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LAB ROUTE 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4900A7-61B7-4BE4-80CD-80A7CE320F5B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Shared and per-component controls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D31C7F-ACF4-427A-867E-BBF1CE705AD2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8A</a:t>
            </a:r>
          </a:p>
        </p:txBody>
      </p:sp>
      <p:pic>
        <p:nvPicPr>
          <p:cNvPr id="14" name="Picture 4" descr="Current Unreal gallery, reference 11; native 3840 x 2160 capture.">
            <a:extLst>
              <a:ext uri="{FF2B5EF4-FFF2-40B4-BE49-F238E27FC236}">
                <a16:creationId xmlns:a16="http://schemas.microsoft.com/office/drawing/2014/main" id="{B0C77C26-1A93-5588-875D-C99CC73B695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0" t="15000" r="8000" b="1000"/>
          <a:stretch>
            <a:fillRect/>
          </a:stretch>
        </p:blipFill>
        <p:spPr>
          <a:xfrm>
            <a:off x="609600" y="2093119"/>
            <a:ext cx="6477000" cy="364331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EAB7EB4-FE72-4602-9CCD-8701362D638F}"/>
              </a:ext>
            </a:extLst>
          </p:cNvPr>
          <p:cNvSpPr>
            <a:spLocks noGrp="1"/>
          </p:cNvSpPr>
          <p:nvPr/>
        </p:nvSpPr>
        <p:spPr>
          <a:xfrm>
            <a:off x="7524750" y="1952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Test 1 · collection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8A4CD9-8130-43BA-A70E-9C9C29B64304}"/>
              </a:ext>
            </a:extLst>
          </p:cNvPr>
          <p:cNvSpPr>
            <a:spLocks noGrp="1"/>
          </p:cNvSpPr>
          <p:nvPr/>
        </p:nvSpPr>
        <p:spPr>
          <a:xfrm>
            <a:off x="7524750" y="2362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SharedRoughness: 0.2 → 0.8; observe all three spheres.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34B5EB-0B4B-415D-9DEF-86C5C14E1FA0}"/>
              </a:ext>
            </a:extLst>
          </p:cNvPr>
          <p:cNvSpPr>
            <a:spLocks noGrp="1"/>
          </p:cNvSpPr>
          <p:nvPr/>
        </p:nvSpPr>
        <p:spPr>
          <a:xfrm>
            <a:off x="7524750" y="32861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Reset before Test 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471D6C-F6E6-4832-83DE-9552CA06E60B}"/>
              </a:ext>
            </a:extLst>
          </p:cNvPr>
          <p:cNvSpPr>
            <a:spLocks noGrp="1"/>
          </p:cNvSpPr>
          <p:nvPr/>
        </p:nvSpPr>
        <p:spPr>
          <a:xfrm>
            <a:off x="7524750" y="36957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Restore the recorded collection value (staged: 0.28).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2ED9E6C-5F39-4C3C-981F-352AE2C104EC}"/>
              </a:ext>
            </a:extLst>
          </p:cNvPr>
          <p:cNvSpPr>
            <a:spLocks noGrp="1"/>
          </p:cNvSpPr>
          <p:nvPr/>
        </p:nvSpPr>
        <p:spPr>
          <a:xfrm>
            <a:off x="7524750" y="4619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Test 2 · component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C3F83F6-A57B-45E8-8B48-A470CACFC0C2}"/>
              </a:ext>
            </a:extLst>
          </p:cNvPr>
          <p:cNvSpPr>
            <a:spLocks noGrp="1"/>
          </p:cNvSpPr>
          <p:nvPr/>
        </p:nvSpPr>
        <p:spPr>
          <a:xfrm>
            <a:off x="7524750" y="5029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Change one mesh component’s RGB data at indices 0–2.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898E52-AF8D-412D-B86C-CB673DCCA718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Would duplicating an instance isolate a collection value?</a:t>
            </a:r>
          </a:p>
        </p:txBody>
      </p:sp>
    </p:spTree>
    <p:extLst>
      <p:ext uri="{BB962C8B-B14F-4D97-AF65-F5344CB8AC3E}">
        <p14:creationId xmlns:p14="http://schemas.microsoft.com/office/powerpoint/2010/main" val="14162084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8875A73-6F69-4D98-943C-6CFA0FB93CBE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PARAMETER BEHAVIOR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DDA6E03-93A6-4F56-87FA-E319268490C1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Runtime values and static switches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95F7D1-2705-4262-88F5-98E3C3C809F4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8B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7CCB690-0B41-40E4-957E-478B812D4D2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00660269"/>
              </p:ext>
            </p:extLst>
          </p:nvPr>
        </p:nvGraphicFramePr>
        <p:xfrm>
          <a:off x="609600" y="2000250"/>
          <a:ext cx="10972800" cy="3002280"/>
        </p:xfrm>
        <a:graphic>
          <a:graphicData uri="http://schemas.openxmlformats.org/drawingml/2006/table">
            <a:tbl>
              <a:tblPr/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3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1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Need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Mechanism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Important condition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Reusable surface variant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Material instance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Objects using it share its overrides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Change a value during play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Dynamic material instance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Create, assign, then update that same MID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Set runtime data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MPC / primitive data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Choose shared or component scope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Choose a graph branch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Static switch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Compile-time variant; not runtime interpolation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83BE124F-B328-455F-915B-D19830009155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C4D3E3"/>
                </a:solidFill>
              </a:defRPr>
            </a:defPPr>
            <a:lvl1pPr>
              <a:defRPr sz="1800" b="0">
                <a:solidFill>
                  <a:srgbClr val="C4D3E3"/>
                </a:solidFill>
              </a:defRPr>
            </a:lvl1pPr>
            <a:lvl2pPr>
              <a:defRPr sz="1800" b="0">
                <a:solidFill>
                  <a:srgbClr val="C4D3E3"/>
                </a:solidFill>
              </a:defRPr>
            </a:lvl2pPr>
            <a:lvl3pPr>
              <a:defRPr sz="1800" b="0">
                <a:solidFill>
                  <a:srgbClr val="C4D3E3"/>
                </a:solidFill>
              </a:defRPr>
            </a:lvl3pPr>
            <a:lvl4pPr>
              <a:defRPr sz="1800" b="0">
                <a:solidFill>
                  <a:srgbClr val="C4D3E3"/>
                </a:solidFill>
              </a:defRPr>
            </a:lvl4pPr>
            <a:lvl5pPr>
              <a:defRPr sz="1800" b="0">
                <a:solidFill>
                  <a:srgbClr val="C4D3E3"/>
                </a:solidFill>
              </a:defRPr>
            </a:lvl5pPr>
            <a:lvl6pPr>
              <a:defRPr sz="1800" b="0">
                <a:solidFill>
                  <a:srgbClr val="C4D3E3"/>
                </a:solidFill>
              </a:defRPr>
            </a:lvl6pPr>
            <a:lvl7pPr>
              <a:defRPr sz="1800" b="0">
                <a:solidFill>
                  <a:srgbClr val="C4D3E3"/>
                </a:solidFill>
              </a:defRPr>
            </a:lvl7pPr>
            <a:lvl8pPr>
              <a:defRPr sz="1800" b="0">
                <a:solidFill>
                  <a:srgbClr val="C4D3E3"/>
                </a:solidFill>
              </a:defRPr>
            </a:lvl8pPr>
            <a:lvl9pPr>
              <a:defRPr sz="1800" b="0">
                <a:solidFill>
                  <a:srgbClr val="C4D3E3"/>
                </a:solidFill>
              </a:defRPr>
            </a:lvl9pPr>
          </a:lstStyle>
          <a:p>
            <a:pPr>
              <a:defRPr sz="1800" b="0">
                <a:solidFill>
                  <a:srgbClr val="C4D3E3"/>
                </a:solidFill>
              </a:defRPr>
            </a:pPr>
            <a:r>
              <a:rPr sz="1800" b="0">
                <a:solidFill>
                  <a:srgbClr val="C4D3E3"/>
                </a:solidFill>
                <a:latin typeface="Aptos" panose="020B0004020202020204" pitchFamily="34" charset="0"/>
              </a:rPr>
              <a:t>UsePackedORM / UseAdvancedUV: static. Sequencer can animate collection values.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B0E725-9F04-4E6B-8F66-9FCBD6C0E719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Why is setting a scalar on an unused dynamic instance invisible?</a:t>
            </a:r>
          </a:p>
        </p:txBody>
      </p:sp>
    </p:spTree>
    <p:extLst>
      <p:ext uri="{BB962C8B-B14F-4D97-AF65-F5344CB8AC3E}">
        <p14:creationId xmlns:p14="http://schemas.microsoft.com/office/powerpoint/2010/main" val="21470559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5F3044-9E53-46F5-90A4-FCA7EDAFA3B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REFERENCE STATIONS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C236F-F6F3-4BE6-A348-ECE3A9AE18E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Directional coverage and decals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FF885E-E0D2-4E80-AF1F-BBBE955A7C2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09</a:t>
            </a:r>
          </a:p>
        </p:txBody>
      </p:sp>
      <p:pic>
        <p:nvPicPr>
          <p:cNvPr id="13" name="Picture 4" descr="Current Unreal gallery, reference 09; native 3840 x 2160 capture.">
            <a:extLst>
              <a:ext uri="{FF2B5EF4-FFF2-40B4-BE49-F238E27FC236}">
                <a16:creationId xmlns:a16="http://schemas.microsoft.com/office/drawing/2014/main" id="{3321BB89-4F98-3798-33D8-55363B42A2F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00" b="6000"/>
          <a:stretch>
            <a:fillRect/>
          </a:stretch>
        </p:blipFill>
        <p:spPr>
          <a:xfrm>
            <a:off x="609600" y="2095500"/>
            <a:ext cx="5286375" cy="2200466"/>
          </a:xfrm>
          <a:prstGeom prst="rect">
            <a:avLst/>
          </a:prstGeom>
        </p:spPr>
      </p:pic>
      <p:pic>
        <p:nvPicPr>
          <p:cNvPr id="15" name="Picture 5" descr="Current Unreal gallery, reference 10; native 3840 x 2160 capture.">
            <a:extLst>
              <a:ext uri="{FF2B5EF4-FFF2-40B4-BE49-F238E27FC236}">
                <a16:creationId xmlns:a16="http://schemas.microsoft.com/office/drawing/2014/main" id="{B43EE47B-D688-B6DD-E503-E2202901CACA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00" b="6000"/>
          <a:stretch>
            <a:fillRect/>
          </a:stretch>
        </p:blipFill>
        <p:spPr>
          <a:xfrm>
            <a:off x="6276975" y="2095500"/>
            <a:ext cx="5286375" cy="220046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1FE45C6-5D38-457B-8A3F-39C659C889FF}"/>
              </a:ext>
            </a:extLst>
          </p:cNvPr>
          <p:cNvSpPr>
            <a:spLocks noGrp="1"/>
          </p:cNvSpPr>
          <p:nvPr/>
        </p:nvSpPr>
        <p:spPr>
          <a:xfrm>
            <a:off x="609600" y="4619625"/>
            <a:ext cx="5286375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09 / Directional coverage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CA8524-BC57-48DB-B03A-19A0BFA5CFA4}"/>
              </a:ext>
            </a:extLst>
          </p:cNvPr>
          <p:cNvSpPr>
            <a:spLocks noGrp="1"/>
          </p:cNvSpPr>
          <p:nvPr/>
        </p:nvSpPr>
        <p:spPr>
          <a:xfrm>
            <a:off x="609600" y="5029200"/>
            <a:ext cx="5286375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Compare normal and direction</a:t>
            </a:r>
          </a:p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in the same coordinate space.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EF18A9-D221-49F6-878C-257F720C9527}"/>
              </a:ext>
            </a:extLst>
          </p:cNvPr>
          <p:cNvSpPr>
            <a:spLocks noGrp="1"/>
          </p:cNvSpPr>
          <p:nvPr/>
        </p:nvSpPr>
        <p:spPr>
          <a:xfrm>
            <a:off x="6276975" y="4619625"/>
            <a:ext cx="5286375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10 / Decal projection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A42645-B8B2-4DED-AEB0-F838D16AA36E}"/>
              </a:ext>
            </a:extLst>
          </p:cNvPr>
          <p:cNvSpPr>
            <a:spLocks noGrp="1"/>
          </p:cNvSpPr>
          <p:nvPr/>
        </p:nvSpPr>
        <p:spPr>
          <a:xfrm>
            <a:off x="6276975" y="5029200"/>
            <a:ext cx="5286375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Check projector bounds and</a:t>
            </a:r>
          </a:p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receiver response.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A9C7DD-579A-4F92-8CAC-A792E1589DDE}"/>
              </a:ext>
            </a:extLst>
          </p:cNvPr>
          <p:cNvSpPr>
            <a:spLocks noGrp="1"/>
          </p:cNvSpPr>
          <p:nvPr/>
        </p:nvSpPr>
        <p:spPr>
          <a:xfrm>
            <a:off x="609600" y="6000750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Predict → change one control → compare → reset</a:t>
            </a:r>
          </a:p>
        </p:txBody>
      </p:sp>
    </p:spTree>
    <p:extLst>
      <p:ext uri="{BB962C8B-B14F-4D97-AF65-F5344CB8AC3E}">
        <p14:creationId xmlns:p14="http://schemas.microsoft.com/office/powerpoint/2010/main" val="5650259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B80340-1863-4C60-9E9F-7963C7EB505E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DIRECTIONAL SNOW AND MOSS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677B4F-CED2-4926-B195-6D3D3AC72293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Directional coverage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62E764-1F90-49DE-9B93-BD8574E09B09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9A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8498BB-9E2D-479F-9CBC-0FD1CA113F59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572750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E0F3F0"/>
                </a:solidFill>
              </a:defRPr>
            </a:defPPr>
            <a:lvl1pPr>
              <a:defRPr sz="1875">
                <a:solidFill>
                  <a:srgbClr val="E0F3F0"/>
                </a:solidFill>
              </a:defRPr>
            </a:lvl1pPr>
            <a:lvl2pPr>
              <a:defRPr sz="1875">
                <a:solidFill>
                  <a:srgbClr val="E0F3F0"/>
                </a:solidFill>
              </a:defRPr>
            </a:lvl2pPr>
            <a:lvl3pPr>
              <a:defRPr sz="1875">
                <a:solidFill>
                  <a:srgbClr val="E0F3F0"/>
                </a:solidFill>
              </a:defRPr>
            </a:lvl3pPr>
            <a:lvl4pPr>
              <a:defRPr sz="1875">
                <a:solidFill>
                  <a:srgbClr val="E0F3F0"/>
                </a:solidFill>
              </a:defRPr>
            </a:lvl4pPr>
            <a:lvl5pPr>
              <a:defRPr sz="1875">
                <a:solidFill>
                  <a:srgbClr val="E0F3F0"/>
                </a:solidFill>
              </a:defRPr>
            </a:lvl5pPr>
            <a:lvl6pPr>
              <a:defRPr sz="1875">
                <a:solidFill>
                  <a:srgbClr val="E0F3F0"/>
                </a:solidFill>
              </a:defRPr>
            </a:lvl6pPr>
            <a:lvl7pPr>
              <a:defRPr sz="1875">
                <a:solidFill>
                  <a:srgbClr val="E0F3F0"/>
                </a:solidFill>
              </a:defRPr>
            </a:lvl7pPr>
            <a:lvl8pPr>
              <a:defRPr sz="1875">
                <a:solidFill>
                  <a:srgbClr val="E0F3F0"/>
                </a:solidFill>
              </a:defRPr>
            </a:lvl8pPr>
            <a:lvl9pPr>
              <a:defRPr sz="1875">
                <a:solidFill>
                  <a:srgbClr val="E0F3F0"/>
                </a:solidFill>
              </a:defRPr>
            </a:lvl9pPr>
          </a:lstStyle>
          <a:p>
            <a:pPr>
              <a:defRPr sz="1875">
                <a:solidFill>
                  <a:srgbClr val="E0F3F0"/>
                </a:solidFill>
              </a:defRPr>
            </a:pPr>
            <a:r>
              <a:rPr sz="1875">
                <a:solidFill>
                  <a:srgbClr val="E0F3F0"/>
                </a:solidFill>
                <a:latin typeface="Aptos" panose="020B0004020202020204" pitchFamily="34" charset="0"/>
              </a:rPr>
              <a:t>Normalize D. Raising 0–1 coverage to a larger power narrows the mask.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085CD6-E757-3C05-ABDD-F76D9E216FC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857375"/>
            <a:ext cx="10972800" cy="39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8639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47E846-D81D-4E59-9649-C11E0F6B6DEF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COORDINATES AND MOTION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1F5A30-FECC-4429-B7E5-7184FBA353DD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UV space and world projection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8A895E-0EC6-4965-BE06-61044FD1E4AC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9B</a:t>
            </a:r>
          </a:p>
        </p:txBody>
      </p:sp>
      <p:pic>
        <p:nvPicPr>
          <p:cNvPr id="14" name="Picture 4" descr="Current Unreal gallery, reference 05; native 3840 x 2160 capture.">
            <a:extLst>
              <a:ext uri="{FF2B5EF4-FFF2-40B4-BE49-F238E27FC236}">
                <a16:creationId xmlns:a16="http://schemas.microsoft.com/office/drawing/2014/main" id="{3D9DFDAD-1B31-021D-10D7-DCE52BA5B7E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476" b="8476"/>
          <a:stretch>
            <a:fillRect/>
          </a:stretch>
        </p:blipFill>
        <p:spPr>
          <a:xfrm>
            <a:off x="609600" y="2667000"/>
            <a:ext cx="6477000" cy="251564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1CDCA4E-5E40-4705-BFD5-AE9751D0D29A}"/>
              </a:ext>
            </a:extLst>
          </p:cNvPr>
          <p:cNvSpPr>
            <a:spLocks noGrp="1"/>
          </p:cNvSpPr>
          <p:nvPr/>
        </p:nvSpPr>
        <p:spPr>
          <a:xfrm>
            <a:off x="7524750" y="1952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UV coordinates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0644F1-85E6-405F-9A36-671F9D49F4C5}"/>
              </a:ext>
            </a:extLst>
          </p:cNvPr>
          <p:cNvSpPr>
            <a:spLocks noGrp="1"/>
          </p:cNvSpPr>
          <p:nvPr/>
        </p:nvSpPr>
        <p:spPr>
          <a:xfrm>
            <a:off x="7524750" y="2362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The pattern follows the mesh’s UV mapping.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17DBC6-9DE3-4173-9CA7-E7FA170D7BBD}"/>
              </a:ext>
            </a:extLst>
          </p:cNvPr>
          <p:cNvSpPr>
            <a:spLocks noGrp="1"/>
          </p:cNvSpPr>
          <p:nvPr/>
        </p:nvSpPr>
        <p:spPr>
          <a:xfrm>
            <a:off x="7524750" y="32861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World projection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FFA936F-B7D5-483F-928E-E8E92A9924AD}"/>
              </a:ext>
            </a:extLst>
          </p:cNvPr>
          <p:cNvSpPr>
            <a:spLocks noGrp="1"/>
          </p:cNvSpPr>
          <p:nvPr/>
        </p:nvSpPr>
        <p:spPr>
          <a:xfrm>
            <a:off x="7524750" y="36957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The sampling field stays in world space.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62550BD-D34B-439C-AA47-8CDA0E36DBCF}"/>
              </a:ext>
            </a:extLst>
          </p:cNvPr>
          <p:cNvSpPr>
            <a:spLocks noGrp="1"/>
          </p:cNvSpPr>
          <p:nvPr/>
        </p:nvSpPr>
        <p:spPr>
          <a:xfrm>
            <a:off x="7524750" y="4619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Movement test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A2C7CA6-0493-4FFA-A1FC-7BEBE3FCF655}"/>
              </a:ext>
            </a:extLst>
          </p:cNvPr>
          <p:cNvSpPr>
            <a:spLocks noGrp="1"/>
          </p:cNvSpPr>
          <p:nvPr/>
        </p:nvSpPr>
        <p:spPr>
          <a:xfrm>
            <a:off x="7524750" y="5029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Translate the object, then inspect whether the pattern follows.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6CBEF6-97D1-45C6-8B8D-A60EB4A54A46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Should this surface pattern move with the object or remain in the world?</a:t>
            </a:r>
          </a:p>
        </p:txBody>
      </p:sp>
    </p:spTree>
    <p:extLst>
      <p:ext uri="{BB962C8B-B14F-4D97-AF65-F5344CB8AC3E}">
        <p14:creationId xmlns:p14="http://schemas.microsoft.com/office/powerpoint/2010/main" val="13174444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F0CBC2E-02CD-4709-AA61-6B65F6A28EAC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LAB ROUTE 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629C611-C8AB-4A87-A9C5-5E7239CE86F4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Decal projection and receivers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2B123E-87FA-48DC-9AA4-17AFB0292653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9C</a:t>
            </a:r>
          </a:p>
        </p:txBody>
      </p:sp>
      <p:pic>
        <p:nvPicPr>
          <p:cNvPr id="14" name="Picture 4" descr="Current Unreal gallery, reference 10; native 3840 x 2160 capture.">
            <a:extLst>
              <a:ext uri="{FF2B5EF4-FFF2-40B4-BE49-F238E27FC236}">
                <a16:creationId xmlns:a16="http://schemas.microsoft.com/office/drawing/2014/main" id="{415C44FA-C163-33F1-B26C-6E20EF89349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0" t="15000" r="8000" b="1000"/>
          <a:stretch>
            <a:fillRect/>
          </a:stretch>
        </p:blipFill>
        <p:spPr>
          <a:xfrm>
            <a:off x="609600" y="2093119"/>
            <a:ext cx="6477000" cy="364331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F974432-8119-45F2-BB1A-90FC7D942290}"/>
              </a:ext>
            </a:extLst>
          </p:cNvPr>
          <p:cNvSpPr>
            <a:spLocks noGrp="1"/>
          </p:cNvSpPr>
          <p:nvPr/>
        </p:nvSpPr>
        <p:spPr>
          <a:xfrm>
            <a:off x="7524750" y="1952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Projector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F34A58-EEFE-4A06-8CE8-CF0A466F3194}"/>
              </a:ext>
            </a:extLst>
          </p:cNvPr>
          <p:cNvSpPr>
            <a:spLocks noGrp="1"/>
          </p:cNvSpPr>
          <p:nvPr/>
        </p:nvSpPr>
        <p:spPr>
          <a:xfrm>
            <a:off x="7524750" y="2362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Material assignment, direction and volume bounds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A0E0B03-DD13-4C60-8D87-428B3DF8258B}"/>
              </a:ext>
            </a:extLst>
          </p:cNvPr>
          <p:cNvSpPr>
            <a:spLocks noGrp="1"/>
          </p:cNvSpPr>
          <p:nvPr/>
        </p:nvSpPr>
        <p:spPr>
          <a:xfrm>
            <a:off x="7524750" y="32861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Receiver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553265-2A40-46E7-BDE1-48112BA37A08}"/>
              </a:ext>
            </a:extLst>
          </p:cNvPr>
          <p:cNvSpPr>
            <a:spLocks noGrp="1"/>
          </p:cNvSpPr>
          <p:nvPr/>
        </p:nvSpPr>
        <p:spPr>
          <a:xfrm>
            <a:off x="7524750" y="36957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Receives Decals + the material’s Decal Response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040910-2FAB-4F67-A122-3DB3224CA8B5}"/>
              </a:ext>
            </a:extLst>
          </p:cNvPr>
          <p:cNvSpPr>
            <a:spLocks noGrp="1"/>
          </p:cNvSpPr>
          <p:nvPr/>
        </p:nvSpPr>
        <p:spPr>
          <a:xfrm>
            <a:off x="7524750" y="4619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Controlled test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7E93A9-01FC-40CE-92A0-E1E3CFE7D882}"/>
              </a:ext>
            </a:extLst>
          </p:cNvPr>
          <p:cNvSpPr>
            <a:spLocks noGrp="1"/>
          </p:cNvSpPr>
          <p:nvPr/>
        </p:nvSpPr>
        <p:spPr>
          <a:xfrm>
            <a:off x="7524750" y="5029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MI_10_RoughnessDecal: Roughness 0.03 versus 0.8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ED9479-E878-44AD-B8A0-1D1BC00AC310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Why might a roughness-only decal show no obvious color patch?</a:t>
            </a:r>
          </a:p>
        </p:txBody>
      </p:sp>
    </p:spTree>
    <p:extLst>
      <p:ext uri="{BB962C8B-B14F-4D97-AF65-F5344CB8AC3E}">
        <p14:creationId xmlns:p14="http://schemas.microsoft.com/office/powerpoint/2010/main" val="11435263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722E4A4-6D1E-4882-8751-A393D206383C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REUSABLE LAYERS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90F3B0-E7B5-49E7-B815-E821D182D2E9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Material layers and blends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8E3194-DD01-42B2-8EA9-4A9082D78883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9D</a:t>
            </a:r>
          </a:p>
        </p:txBody>
      </p:sp>
      <p:pic>
        <p:nvPicPr>
          <p:cNvPr id="14" name="Picture 4" descr="Current Unreal gallery, reference 12; native 3840 x 2160 capture.">
            <a:extLst>
              <a:ext uri="{FF2B5EF4-FFF2-40B4-BE49-F238E27FC236}">
                <a16:creationId xmlns:a16="http://schemas.microsoft.com/office/drawing/2014/main" id="{789FB100-E399-95CA-C78E-FFDE83ED33F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0" t="15000" r="8000" b="1000"/>
          <a:stretch>
            <a:fillRect/>
          </a:stretch>
        </p:blipFill>
        <p:spPr>
          <a:xfrm>
            <a:off x="609600" y="2093119"/>
            <a:ext cx="6477000" cy="364331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E69390C-7A98-404E-B3AF-C8407735EB6C}"/>
              </a:ext>
            </a:extLst>
          </p:cNvPr>
          <p:cNvSpPr>
            <a:spLocks noGrp="1"/>
          </p:cNvSpPr>
          <p:nvPr/>
        </p:nvSpPr>
        <p:spPr>
          <a:xfrm>
            <a:off x="7524750" y="1952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Surface layer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60D9BC-FEA6-41CB-B6B4-AE88D1CF861B}"/>
              </a:ext>
            </a:extLst>
          </p:cNvPr>
          <p:cNvSpPr>
            <a:spLocks noGrp="1"/>
          </p:cNvSpPr>
          <p:nvPr/>
        </p:nvSpPr>
        <p:spPr>
          <a:xfrm>
            <a:off x="7524750" y="2362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Defines the surface attributes.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34DE53E-B423-4429-9478-FF51D8927797}"/>
              </a:ext>
            </a:extLst>
          </p:cNvPr>
          <p:cNvSpPr>
            <a:spLocks noGrp="1"/>
          </p:cNvSpPr>
          <p:nvPr/>
        </p:nvSpPr>
        <p:spPr>
          <a:xfrm>
            <a:off x="7524750" y="32861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Layer blend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9FF3F0-86D8-4BC8-BC27-37389F65792E}"/>
              </a:ext>
            </a:extLst>
          </p:cNvPr>
          <p:cNvSpPr>
            <a:spLocks noGrp="1"/>
          </p:cNvSpPr>
          <p:nvPr/>
        </p:nvSpPr>
        <p:spPr>
          <a:xfrm>
            <a:off x="7524750" y="36957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Defines how the next surface contributes.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FB0944-4AEB-4248-9D32-2482BA9EF651}"/>
              </a:ext>
            </a:extLst>
          </p:cNvPr>
          <p:cNvSpPr>
            <a:spLocks noGrp="1"/>
          </p:cNvSpPr>
          <p:nvPr/>
        </p:nvSpPr>
        <p:spPr>
          <a:xfrm>
            <a:off x="7524750" y="4619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Instance controls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AF864C-6165-4473-8D31-7981B4BE3F67}"/>
              </a:ext>
            </a:extLst>
          </p:cNvPr>
          <p:cNvSpPr>
            <a:spLocks noGrp="1"/>
          </p:cNvSpPr>
          <p:nvPr/>
        </p:nvSpPr>
        <p:spPr>
          <a:xfrm>
            <a:off x="7524750" y="5029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MI_12_Layers_0/1/2 → Layer Parameters → Transition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230AE6-6AE7-4DF1-B231-B04DE35AB52F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If a parameter name repeats, what else identifies the correct control?</a:t>
            </a:r>
          </a:p>
        </p:txBody>
      </p:sp>
    </p:spTree>
    <p:extLst>
      <p:ext uri="{BB962C8B-B14F-4D97-AF65-F5344CB8AC3E}">
        <p14:creationId xmlns:p14="http://schemas.microsoft.com/office/powerpoint/2010/main" val="3157466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lang="en-US" sz="1350" b="1">
                <a:solidFill>
                  <a:srgbClr val="FFCA78"/>
                </a:solidFill>
                <a:latin typeface="Aptos" panose="020B0004020202020204" pitchFamily="34" charset="0"/>
              </a:rPr>
              <a:t>ART DIRECTION</a:t>
            </a:r>
            <a:endParaRPr sz="1350" b="1">
              <a:solidFill>
                <a:srgbClr val="FFCA78"/>
              </a:solidFill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lang="en-US" sz="3000" b="1">
                <a:solidFill>
                  <a:srgbClr val="FFFFFF"/>
                </a:solidFill>
                <a:latin typeface="Aptos" panose="020B0004020202020204" pitchFamily="34" charset="0"/>
              </a:rPr>
              <a:t>Gather reference with a purpose</a:t>
            </a:r>
            <a:endParaRPr sz="3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lang="en-US" sz="1200" b="0">
                <a:solidFill>
                  <a:srgbClr val="C4D3E3"/>
                </a:solidFill>
                <a:latin typeface="Aptos" panose="020B0004020202020204" pitchFamily="34" charset="0"/>
              </a:rPr>
              <a:t>9E</a:t>
            </a:r>
            <a:endParaRPr sz="1200" b="0">
              <a:solidFill>
                <a:srgbClr val="C4D3E3"/>
              </a:solidFill>
              <a:latin typeface="Aptos" panose="020B00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977A88-3312-4BE7-A621-0085873E27F9}"/>
              </a:ext>
            </a:extLst>
          </p:cNvPr>
          <p:cNvSpPr>
            <a:spLocks noGrp="1"/>
          </p:cNvSpPr>
          <p:nvPr/>
        </p:nvSpPr>
        <p:spPr>
          <a:xfrm>
            <a:off x="628650" y="2000250"/>
            <a:ext cx="6032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1800" b="1">
                <a:solidFill>
                  <a:srgbClr val="72D4C1"/>
                </a:solidFill>
                <a:latin typeface="Aptos" panose="020B0004020202020204" pitchFamily="34" charset="0"/>
              </a:rPr>
              <a:t>01  Name the question</a:t>
            </a:r>
            <a:endParaRPr sz="180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6BB3C6-D23A-46B1-8C64-65CB21745906}"/>
              </a:ext>
            </a:extLst>
          </p:cNvPr>
          <p:cNvSpPr>
            <a:spLocks noGrp="1"/>
          </p:cNvSpPr>
          <p:nvPr/>
        </p:nvSpPr>
        <p:spPr>
          <a:xfrm>
            <a:off x="628650" y="2457450"/>
            <a:ext cx="60325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1800" b="0">
                <a:solidFill>
                  <a:srgbClr val="FFFFFF"/>
                </a:solidFill>
                <a:latin typeface="Aptos" panose="020B0004020202020204" pitchFamily="34" charset="0"/>
              </a:rPr>
              <a:t>What should change: shape, motion, coverage, or reflected light?</a:t>
            </a:r>
            <a:endParaRPr sz="18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F6D300-B2A8-46E6-8B79-A80183B9E54B}"/>
              </a:ext>
            </a:extLst>
          </p:cNvPr>
          <p:cNvSpPr>
            <a:spLocks noGrp="1"/>
          </p:cNvSpPr>
          <p:nvPr/>
        </p:nvSpPr>
        <p:spPr>
          <a:xfrm>
            <a:off x="628650" y="3333750"/>
            <a:ext cx="6032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1800" b="1">
                <a:solidFill>
                  <a:srgbClr val="72D4C1"/>
                </a:solidFill>
                <a:latin typeface="Aptos" panose="020B0004020202020204" pitchFamily="34" charset="0"/>
              </a:rPr>
              <a:t>02  Annotate the evidence</a:t>
            </a:r>
            <a:endParaRPr sz="180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549415-62FC-4F35-A5EF-38A8A6EB4536}"/>
              </a:ext>
            </a:extLst>
          </p:cNvPr>
          <p:cNvSpPr>
            <a:spLocks noGrp="1"/>
          </p:cNvSpPr>
          <p:nvPr/>
        </p:nvSpPr>
        <p:spPr>
          <a:xfrm>
            <a:off x="628650" y="3790950"/>
            <a:ext cx="60325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1800" b="0">
                <a:solidFill>
                  <a:srgbClr val="FFFFFF"/>
                </a:solidFill>
                <a:latin typeface="Aptos" panose="020B0004020202020204" pitchFamily="34" charset="0"/>
              </a:rPr>
              <a:t>Mark direction, timing, scale and where the effect stops.</a:t>
            </a:r>
            <a:endParaRPr sz="18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1BA1AE-065C-4789-879B-F7DBE96B0881}"/>
              </a:ext>
            </a:extLst>
          </p:cNvPr>
          <p:cNvSpPr>
            <a:spLocks noGrp="1"/>
          </p:cNvSpPr>
          <p:nvPr/>
        </p:nvSpPr>
        <p:spPr>
          <a:xfrm>
            <a:off x="628650" y="4667250"/>
            <a:ext cx="6032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1800" b="1">
                <a:solidFill>
                  <a:srgbClr val="72D4C1"/>
                </a:solidFill>
                <a:latin typeface="Aptos" panose="020B0004020202020204" pitchFamily="34" charset="0"/>
              </a:rPr>
              <a:t>03  Define your target</a:t>
            </a:r>
            <a:endParaRPr sz="180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224719-3B70-4AF7-986E-36DBDBE1B0B2}"/>
              </a:ext>
            </a:extLst>
          </p:cNvPr>
          <p:cNvSpPr>
            <a:spLocks noGrp="1"/>
          </p:cNvSpPr>
          <p:nvPr/>
        </p:nvSpPr>
        <p:spPr>
          <a:xfrm>
            <a:off x="628650" y="5124450"/>
            <a:ext cx="603250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1800" b="0">
                <a:solidFill>
                  <a:srgbClr val="FFFFFF"/>
                </a:solidFill>
                <a:latin typeface="Aptos" panose="020B0004020202020204" pitchFamily="34" charset="0"/>
              </a:rPr>
              <a:t>Describe one visible result you can test in your scene.</a:t>
            </a:r>
            <a:endParaRPr sz="1800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15" name="Picture 11" descr="Current Unreal gallery, reference 15; native 3840 x 2160 capture.">
            <a:extLst>
              <a:ext uri="{FF2B5EF4-FFF2-40B4-BE49-F238E27FC236}">
                <a16:creationId xmlns:a16="http://schemas.microsoft.com/office/drawing/2014/main" id="{87A0EA6C-D115-BBE2-6CD1-DB976B0621A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0" t="15000" r="8000" b="1000"/>
          <a:stretch>
            <a:fillRect/>
          </a:stretch>
        </p:blipFill>
        <p:spPr>
          <a:xfrm>
            <a:off x="7048500" y="2349500"/>
            <a:ext cx="4445000" cy="250031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005D495-9AAA-155E-533B-80650A1B7315}"/>
              </a:ext>
            </a:extLst>
          </p:cNvPr>
          <p:cNvSpPr txBox="1"/>
          <p:nvPr/>
        </p:nvSpPr>
        <p:spPr>
          <a:xfrm>
            <a:off x="7048500" y="5041900"/>
            <a:ext cx="4445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Observe: a sharper highlight inside the wet area.</a:t>
            </a:r>
          </a:p>
        </p:txBody>
      </p:sp>
    </p:spTree>
    <p:extLst>
      <p:ext uri="{BB962C8B-B14F-4D97-AF65-F5344CB8AC3E}">
        <p14:creationId xmlns:p14="http://schemas.microsoft.com/office/powerpoint/2010/main" val="42553338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lang="en-US" sz="1350" b="1">
                <a:solidFill>
                  <a:srgbClr val="FFCA78"/>
                </a:solidFill>
                <a:latin typeface="Aptos" panose="020B0004020202020204" pitchFamily="34" charset="0"/>
              </a:rPr>
              <a:t>FROM OBSERVATION TO IMPLEMENTATION</a:t>
            </a:r>
            <a:endParaRPr sz="1350" b="1">
              <a:solidFill>
                <a:srgbClr val="FFCA78"/>
              </a:solidFill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lang="en-US" sz="3000" b="1">
                <a:solidFill>
                  <a:srgbClr val="FFFFFF"/>
                </a:solidFill>
                <a:latin typeface="Aptos" panose="020B0004020202020204" pitchFamily="34" charset="0"/>
              </a:rPr>
              <a:t>Turn the effect into a shader plan</a:t>
            </a:r>
            <a:endParaRPr sz="3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lang="en-US" sz="1200" b="0">
                <a:solidFill>
                  <a:srgbClr val="C4D3E3"/>
                </a:solidFill>
                <a:latin typeface="Aptos" panose="020B0004020202020204" pitchFamily="34" charset="0"/>
              </a:rPr>
              <a:t>9G</a:t>
            </a:r>
            <a:endParaRPr sz="1200" b="0">
              <a:solidFill>
                <a:srgbClr val="C4D3E3"/>
              </a:solidFill>
              <a:latin typeface="Aptos" panose="020B00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977A88-3312-4BE7-A621-0085873E27F9}"/>
              </a:ext>
            </a:extLst>
          </p:cNvPr>
          <p:cNvSpPr>
            <a:spLocks noGrp="1"/>
          </p:cNvSpPr>
          <p:nvPr/>
        </p:nvSpPr>
        <p:spPr>
          <a:xfrm>
            <a:off x="628650" y="2000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2250" b="1">
                <a:solidFill>
                  <a:srgbClr val="72D4C1"/>
                </a:solidFill>
                <a:latin typeface="Aptos" panose="020B0004020202020204" pitchFamily="34" charset="0"/>
              </a:rPr>
              <a:t>Visible cue  →  driving signal  →  output</a:t>
            </a:r>
            <a:endParaRPr sz="225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6BB3C6-D23A-46B1-8C64-65CB21745906}"/>
              </a:ext>
            </a:extLst>
          </p:cNvPr>
          <p:cNvSpPr>
            <a:spLocks noGrp="1"/>
          </p:cNvSpPr>
          <p:nvPr/>
        </p:nvSpPr>
        <p:spPr>
          <a:xfrm>
            <a:off x="628650" y="2457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>
                <a:solidFill>
                  <a:srgbClr val="FFFFFF"/>
                </a:solidFill>
                <a:latin typeface="Aptos" panose="020B0004020202020204" pitchFamily="34" charset="0"/>
              </a:rPr>
              <a:t>Separate surface appearance, vertex motion and particle behavior.</a:t>
            </a:r>
            <a:endParaRPr sz="2025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F6D300-B2A8-46E6-8B79-A80183B9E54B}"/>
              </a:ext>
            </a:extLst>
          </p:cNvPr>
          <p:cNvSpPr>
            <a:spLocks noGrp="1"/>
          </p:cNvSpPr>
          <p:nvPr/>
        </p:nvSpPr>
        <p:spPr>
          <a:xfrm>
            <a:off x="628650" y="33337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2250" b="1">
                <a:solidFill>
                  <a:srgbClr val="72D4C1"/>
                </a:solidFill>
                <a:latin typeface="Aptos" panose="020B0004020202020204" pitchFamily="34" charset="0"/>
              </a:rPr>
              <a:t>Burn boundary  →  progress + noise  →  one mask</a:t>
            </a:r>
            <a:endParaRPr sz="225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549415-62FC-4F35-A5EF-38A8A6EB4536}"/>
              </a:ext>
            </a:extLst>
          </p:cNvPr>
          <p:cNvSpPr>
            <a:spLocks noGrp="1"/>
          </p:cNvSpPr>
          <p:nvPr/>
        </p:nvSpPr>
        <p:spPr>
          <a:xfrm>
            <a:off x="628650" y="37909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>
                <a:solidFill>
                  <a:srgbClr val="FFFFFF"/>
                </a:solidFill>
                <a:latin typeface="Aptos" panose="020B0004020202020204" pitchFamily="34" charset="0"/>
              </a:rPr>
              <a:t>Preview the mask alone before connecting the final appearance.</a:t>
            </a:r>
            <a:endParaRPr sz="2025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1BA1AE-065C-4789-879B-F7DBE96B0881}"/>
              </a:ext>
            </a:extLst>
          </p:cNvPr>
          <p:cNvSpPr>
            <a:spLocks noGrp="1"/>
          </p:cNvSpPr>
          <p:nvPr/>
        </p:nvSpPr>
        <p:spPr>
          <a:xfrm>
            <a:off x="628650" y="4667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2250" b="1">
                <a:solidFill>
                  <a:srgbClr val="72D4C1"/>
                </a:solidFill>
                <a:latin typeface="Aptos" panose="020B0004020202020204" pitchFamily="34" charset="0"/>
              </a:rPr>
              <a:t>Use that mask  →  coordinate the response</a:t>
            </a:r>
            <a:endParaRPr sz="225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224719-3B70-4AF7-986E-36DBDBE1B0B2}"/>
              </a:ext>
            </a:extLst>
          </p:cNvPr>
          <p:cNvSpPr>
            <a:spLocks noGrp="1"/>
          </p:cNvSpPr>
          <p:nvPr/>
        </p:nvSpPr>
        <p:spPr>
          <a:xfrm>
            <a:off x="628650" y="5124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>
                <a:solidFill>
                  <a:srgbClr val="FFFFFF"/>
                </a:solidFill>
                <a:latin typeface="Aptos" panose="020B0004020202020204" pitchFamily="34" charset="0"/>
              </a:rPr>
              <a:t>Char color + roughness; hot edge + emissive; optional Niagara emission.</a:t>
            </a:r>
            <a:endParaRPr sz="2025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62994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lang="en-US" sz="1350" b="1">
                <a:solidFill>
                  <a:srgbClr val="FFCA78"/>
                </a:solidFill>
                <a:latin typeface="Aptos" panose="020B0004020202020204" pitchFamily="34" charset="0"/>
              </a:rPr>
              <a:t>ITERATION AND ART JUDGMENT</a:t>
            </a:r>
            <a:endParaRPr sz="1350" b="1">
              <a:solidFill>
                <a:srgbClr val="FFCA78"/>
              </a:solidFill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lang="en-US" sz="3000" b="1">
                <a:solidFill>
                  <a:srgbClr val="FFFFFF"/>
                </a:solidFill>
                <a:latin typeface="Aptos" panose="020B0004020202020204" pitchFamily="34" charset="0"/>
              </a:rPr>
              <a:t>Build the smallest convincing version</a:t>
            </a:r>
            <a:endParaRPr sz="3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lang="en-US" sz="1200" b="0">
                <a:solidFill>
                  <a:srgbClr val="C4D3E3"/>
                </a:solidFill>
                <a:latin typeface="Aptos" panose="020B0004020202020204" pitchFamily="34" charset="0"/>
              </a:rPr>
              <a:t>9H</a:t>
            </a:r>
            <a:endParaRPr sz="1200" b="0">
              <a:solidFill>
                <a:srgbClr val="C4D3E3"/>
              </a:solidFill>
              <a:latin typeface="Aptos" panose="020B00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977A88-3312-4BE7-A621-0085873E27F9}"/>
              </a:ext>
            </a:extLst>
          </p:cNvPr>
          <p:cNvSpPr>
            <a:spLocks noGrp="1"/>
          </p:cNvSpPr>
          <p:nvPr/>
        </p:nvSpPr>
        <p:spPr>
          <a:xfrm>
            <a:off x="628650" y="2000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2250" b="1">
                <a:solidFill>
                  <a:srgbClr val="72D4C1"/>
                </a:solidFill>
                <a:latin typeface="Aptos" panose="020B0004020202020204" pitchFamily="34" charset="0"/>
              </a:rPr>
              <a:t>01  Establish the primary read</a:t>
            </a:r>
            <a:endParaRPr sz="225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6BB3C6-D23A-46B1-8C64-65CB21745906}"/>
              </a:ext>
            </a:extLst>
          </p:cNvPr>
          <p:cNvSpPr>
            <a:spLocks noGrp="1"/>
          </p:cNvSpPr>
          <p:nvPr/>
        </p:nvSpPr>
        <p:spPr>
          <a:xfrm>
            <a:off x="628650" y="2457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>
                <a:solidFill>
                  <a:srgbClr val="FFFFFF"/>
                </a:solidFill>
                <a:latin typeface="Aptos" panose="020B0004020202020204" pitchFamily="34" charset="0"/>
              </a:rPr>
              <a:t>Make the main motion or surface change readable before adding detail.</a:t>
            </a:r>
            <a:endParaRPr sz="2025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F6D300-B2A8-46E6-8B79-A80183B9E54B}"/>
              </a:ext>
            </a:extLst>
          </p:cNvPr>
          <p:cNvSpPr>
            <a:spLocks noGrp="1"/>
          </p:cNvSpPr>
          <p:nvPr/>
        </p:nvSpPr>
        <p:spPr>
          <a:xfrm>
            <a:off x="628650" y="33337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2250" b="1">
                <a:solidFill>
                  <a:srgbClr val="72D4C1"/>
                </a:solidFill>
                <a:latin typeface="Aptos" panose="020B0004020202020204" pitchFamily="34" charset="0"/>
              </a:rPr>
              <a:t>02  Compare under useful conditions</a:t>
            </a:r>
            <a:endParaRPr sz="225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549415-62FC-4F35-A5EF-38A8A6EB4536}"/>
              </a:ext>
            </a:extLst>
          </p:cNvPr>
          <p:cNvSpPr>
            <a:spLocks noGrp="1"/>
          </p:cNvSpPr>
          <p:nvPr/>
        </p:nvSpPr>
        <p:spPr>
          <a:xfrm>
            <a:off x="628650" y="37909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>
                <a:solidFill>
                  <a:srgbClr val="FFFFFF"/>
                </a:solidFill>
                <a:latin typeface="Aptos" panose="020B0004020202020204" pitchFamily="34" charset="0"/>
              </a:rPr>
              <a:t>Match camera and lighting; test one control and one failure case.</a:t>
            </a:r>
            <a:endParaRPr sz="2025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1BA1AE-065C-4789-879B-F7DBE96B0881}"/>
              </a:ext>
            </a:extLst>
          </p:cNvPr>
          <p:cNvSpPr>
            <a:spLocks noGrp="1"/>
          </p:cNvSpPr>
          <p:nvPr/>
        </p:nvSpPr>
        <p:spPr>
          <a:xfrm>
            <a:off x="628650" y="4667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lang="en-US" sz="2250" b="1">
                <a:solidFill>
                  <a:srgbClr val="72D4C1"/>
                </a:solidFill>
                <a:latin typeface="Aptos" panose="020B0004020202020204" pitchFamily="34" charset="0"/>
              </a:rPr>
              <a:t>03  Keep only details that help</a:t>
            </a:r>
            <a:endParaRPr sz="2250" b="1">
              <a:solidFill>
                <a:srgbClr val="72D4C1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224719-3B70-4AF7-986E-36DBDBE1B0B2}"/>
              </a:ext>
            </a:extLst>
          </p:cNvPr>
          <p:cNvSpPr>
            <a:spLocks noGrp="1"/>
          </p:cNvSpPr>
          <p:nvPr/>
        </p:nvSpPr>
        <p:spPr>
          <a:xfrm>
            <a:off x="628650" y="5124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lang="en-US" sz="2025" b="0">
                <a:solidFill>
                  <a:srgbClr val="FFFFFF"/>
                </a:solidFill>
                <a:latin typeface="Aptos" panose="020B0004020202020204" pitchFamily="34" charset="0"/>
              </a:rPr>
              <a:t>Capture before/after, name the improvement, and explain the tradeoff.</a:t>
            </a:r>
            <a:endParaRPr sz="2025" b="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95544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sz="1350" b="1">
                <a:solidFill>
                  <a:srgbClr val="FFCA78"/>
                </a:solidFill>
                <a:latin typeface="Aptos" panose="020B0004020202020204" pitchFamily="34" charset="0"/>
              </a:rPr>
              <a:t>LAB HANDOFF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LAB: finish your original shader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977A88-3312-4BE7-A621-0085873E27F9}"/>
              </a:ext>
            </a:extLst>
          </p:cNvPr>
          <p:cNvSpPr>
            <a:spLocks noGrp="1"/>
          </p:cNvSpPr>
          <p:nvPr/>
        </p:nvSpPr>
        <p:spPr>
          <a:xfrm>
            <a:off x="628650" y="2000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  <a:latin typeface="Aptos" panose="020B0004020202020204" pitchFamily="34" charset="0"/>
              </a:rPr>
              <a:t>01  Choose one finish or fix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6BB3C6-D23A-46B1-8C64-65CB21745906}"/>
              </a:ext>
            </a:extLst>
          </p:cNvPr>
          <p:cNvSpPr>
            <a:spLocks noGrp="1"/>
          </p:cNvSpPr>
          <p:nvPr/>
        </p:nvSpPr>
        <p:spPr>
          <a:xfrm>
            <a:off x="628650" y="2457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Choose one unfinished feature or problem in your existing shader.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F6D300-B2A8-46E6-8B79-A80183B9E54B}"/>
              </a:ext>
            </a:extLst>
          </p:cNvPr>
          <p:cNvSpPr>
            <a:spLocks noGrp="1"/>
          </p:cNvSpPr>
          <p:nvPr/>
        </p:nvSpPr>
        <p:spPr>
          <a:xfrm>
            <a:off x="628650" y="33337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  <a:latin typeface="Aptos" panose="020B0004020202020204" pitchFamily="34" charset="0"/>
              </a:rPr>
              <a:t>02  Build and compare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549415-62FC-4F35-A5EF-38A8A6EB4536}"/>
              </a:ext>
            </a:extLst>
          </p:cNvPr>
          <p:cNvSpPr>
            <a:spLocks noGrp="1"/>
          </p:cNvSpPr>
          <p:nvPr/>
        </p:nvSpPr>
        <p:spPr>
          <a:xfrm>
            <a:off x="628650" y="37909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Make a focused improvement; use a reference route if it helps.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1BA1AE-065C-4789-879B-F7DBE96B0881}"/>
              </a:ext>
            </a:extLst>
          </p:cNvPr>
          <p:cNvSpPr>
            <a:spLocks noGrp="1"/>
          </p:cNvSpPr>
          <p:nvPr/>
        </p:nvSpPr>
        <p:spPr>
          <a:xfrm>
            <a:off x="628650" y="4667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  <a:latin typeface="Aptos" panose="020B0004020202020204" pitchFamily="34" charset="0"/>
              </a:rPr>
              <a:t>03  Save and explain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224719-3B70-4AF7-986E-36DBDBE1B0B2}"/>
              </a:ext>
            </a:extLst>
          </p:cNvPr>
          <p:cNvSpPr>
            <a:spLocks noGrp="1"/>
          </p:cNvSpPr>
          <p:nvPr/>
        </p:nvSpPr>
        <p:spPr>
          <a:xfrm>
            <a:off x="628650" y="5124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Capture the result and explain your graph. Keep your finished work.</a:t>
            </a:r>
          </a:p>
        </p:txBody>
      </p:sp>
    </p:spTree>
    <p:extLst>
      <p:ext uri="{BB962C8B-B14F-4D97-AF65-F5344CB8AC3E}">
        <p14:creationId xmlns:p14="http://schemas.microsoft.com/office/powerpoint/2010/main" val="17570035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D43F973-D22A-4FC5-9A73-0B51D7952AD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sz="1350" b="1">
                <a:solidFill>
                  <a:srgbClr val="FFCA78"/>
                </a:solidFill>
                <a:latin typeface="Aptos" panose="020B0004020202020204" pitchFamily="34" charset="0"/>
              </a:rPr>
              <a:t>LAB • 6:25–6:50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E4F1E1-A22D-43FC-A5D2-CB7809BEE270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Your shader: result and explanation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552915-15E3-4A60-B1A3-9DEE5E0CB9B0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11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BF29CAA-E931-4602-8F78-49F90AF17A2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96278261"/>
              </p:ext>
            </p:extLst>
          </p:nvPr>
        </p:nvGraphicFramePr>
        <p:xfrm>
          <a:off x="609600" y="1952625"/>
          <a:ext cx="10972800" cy="3714750"/>
        </p:xfrm>
        <a:graphic>
          <a:graphicData uri="http://schemas.openxmlformats.org/drawingml/2006/table">
            <a:tbl>
              <a:tblPr/>
              <a:tblGrid>
                <a:gridCol w="314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9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Finish your shader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Use the existing assignment brief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Choose a finish or fix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One missing feature, unclear control or visual issue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Test the result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Check the intended view and one useful edge case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Make the graph readable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Group logic and label artist-facing controls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Capture and explain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Show your result and how the shader produces it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Save your work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Keep useful edits; reset temporary reference tests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88F8088D-EFC8-4719-B972-8D92B9322982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1">
                <a:solidFill>
                  <a:srgbClr val="72D4C1"/>
                </a:solidFill>
              </a:defRPr>
            </a:defPPr>
            <a:lvl1pPr>
              <a:defRPr sz="1950" b="1">
                <a:solidFill>
                  <a:srgbClr val="72D4C1"/>
                </a:solidFill>
              </a:defRPr>
            </a:lvl1pPr>
            <a:lvl2pPr>
              <a:defRPr sz="1950" b="1">
                <a:solidFill>
                  <a:srgbClr val="72D4C1"/>
                </a:solidFill>
              </a:defRPr>
            </a:lvl2pPr>
            <a:lvl3pPr>
              <a:defRPr sz="1950" b="1">
                <a:solidFill>
                  <a:srgbClr val="72D4C1"/>
                </a:solidFill>
              </a:defRPr>
            </a:lvl3pPr>
            <a:lvl4pPr>
              <a:defRPr sz="1950" b="1">
                <a:solidFill>
                  <a:srgbClr val="72D4C1"/>
                </a:solidFill>
              </a:defRPr>
            </a:lvl4pPr>
            <a:lvl5pPr>
              <a:defRPr sz="1950" b="1">
                <a:solidFill>
                  <a:srgbClr val="72D4C1"/>
                </a:solidFill>
              </a:defRPr>
            </a:lvl5pPr>
            <a:lvl6pPr>
              <a:defRPr sz="1950" b="1">
                <a:solidFill>
                  <a:srgbClr val="72D4C1"/>
                </a:solidFill>
              </a:defRPr>
            </a:lvl6pPr>
            <a:lvl7pPr>
              <a:defRPr sz="1950" b="1">
                <a:solidFill>
                  <a:srgbClr val="72D4C1"/>
                </a:solidFill>
              </a:defRPr>
            </a:lvl7pPr>
            <a:lvl8pPr>
              <a:defRPr sz="1950" b="1">
                <a:solidFill>
                  <a:srgbClr val="72D4C1"/>
                </a:solidFill>
              </a:defRPr>
            </a:lvl8pPr>
            <a:lvl9pPr>
              <a:defRPr sz="1950" b="1">
                <a:solidFill>
                  <a:srgbClr val="72D4C1"/>
                </a:solidFill>
              </a:defRPr>
            </a:lvl9pPr>
          </a:lstStyle>
          <a:p>
            <a:pPr>
              <a:defRPr sz="1950" b="1">
                <a:solidFill>
                  <a:srgbClr val="72D4C1"/>
                </a:solidFill>
              </a:defRPr>
            </a:pPr>
            <a:r>
              <a:rPr sz="1950" b="1">
                <a:solidFill>
                  <a:srgbClr val="72D4C1"/>
                </a:solidFill>
                <a:latin typeface="Aptos" panose="020B0004020202020204" pitchFamily="34" charset="0"/>
              </a:rPr>
              <a:t>Use your actual parameter name, values, and observed result.</a:t>
            </a:r>
          </a:p>
        </p:txBody>
      </p:sp>
    </p:spTree>
    <p:extLst>
      <p:ext uri="{BB962C8B-B14F-4D97-AF65-F5344CB8AC3E}">
        <p14:creationId xmlns:p14="http://schemas.microsoft.com/office/powerpoint/2010/main" val="2761059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A02EC05-4801-4AAF-BBEC-1B5AFDC28020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sz="1350" b="1">
                <a:solidFill>
                  <a:srgbClr val="FFCA78"/>
                </a:solidFill>
                <a:latin typeface="Aptos" panose="020B0004020202020204" pitchFamily="34" charset="0"/>
              </a:rPr>
              <a:t>FINAL ASSIGNMENT · ROUGH OUTLINE · 6:50–6:55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A17BC6-AF1B-4450-96C3-C159F6582009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Final project: exploratory technical art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68DEE7-B5F9-499F-BD4F-A20BD72B86D5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B0EEB4-65D3-4B5B-9260-2D3CE0F77827}"/>
              </a:ext>
            </a:extLst>
          </p:cNvPr>
          <p:cNvSpPr>
            <a:spLocks noGrp="1"/>
          </p:cNvSpPr>
          <p:nvPr/>
        </p:nvSpPr>
        <p:spPr>
          <a:xfrm>
            <a:off x="609600" y="2000250"/>
            <a:ext cx="5334000" cy="1762125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E515E30-CC2C-4879-8C0F-488F414E9D99}"/>
              </a:ext>
            </a:extLst>
          </p:cNvPr>
          <p:cNvSpPr>
            <a:spLocks noGrp="1"/>
          </p:cNvSpPr>
          <p:nvPr/>
        </p:nvSpPr>
        <p:spPr>
          <a:xfrm>
            <a:off x="800100" y="2133600"/>
            <a:ext cx="49530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Explore and build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ADE494-9A4F-4D0F-BF05-A39DBA952C8D}"/>
              </a:ext>
            </a:extLst>
          </p:cNvPr>
          <p:cNvSpPr>
            <a:spLocks noGrp="1"/>
          </p:cNvSpPr>
          <p:nvPr/>
        </p:nvSpPr>
        <p:spPr>
          <a:xfrm>
            <a:off x="800100" y="2619375"/>
            <a:ext cx="4953000" cy="1095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Choose a technical-art question.</a:t>
            </a: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Make a tool, shader, procedural (PCG) system, effect or other exploration. A tool is optional.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84A16E-6D70-45DF-8856-3ECFF2B090CF}"/>
              </a:ext>
            </a:extLst>
          </p:cNvPr>
          <p:cNvSpPr>
            <a:spLocks noGrp="1"/>
          </p:cNvSpPr>
          <p:nvPr/>
        </p:nvSpPr>
        <p:spPr>
          <a:xfrm>
            <a:off x="6172200" y="2000250"/>
            <a:ext cx="5410200" cy="1762125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CA32CD-9436-4B19-B803-982B9C029E46}"/>
              </a:ext>
            </a:extLst>
          </p:cNvPr>
          <p:cNvSpPr>
            <a:spLocks noGrp="1"/>
          </p:cNvSpPr>
          <p:nvPr/>
        </p:nvSpPr>
        <p:spPr>
          <a:xfrm>
            <a:off x="6362700" y="2133600"/>
            <a:ext cx="50292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Work solo or in a group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E491DB-E43F-4874-AE5E-F20CE7FB6520}"/>
              </a:ext>
            </a:extLst>
          </p:cNvPr>
          <p:cNvSpPr>
            <a:spLocks noGrp="1"/>
          </p:cNvSpPr>
          <p:nvPr/>
        </p:nvSpPr>
        <p:spPr>
          <a:xfrm>
            <a:off x="6362700" y="2619375"/>
            <a:ext cx="5029200" cy="1095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Scope a small, functional result, as with the midterm.</a:t>
            </a: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For teams, define each person’s contribution.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AD2D87-0262-4765-884F-FDBB05C88C5D}"/>
              </a:ext>
            </a:extLst>
          </p:cNvPr>
          <p:cNvSpPr>
            <a:spLocks noGrp="1"/>
          </p:cNvSpPr>
          <p:nvPr/>
        </p:nvSpPr>
        <p:spPr>
          <a:xfrm>
            <a:off x="609600" y="3971925"/>
            <a:ext cx="5334000" cy="1762125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376B46A-171D-408E-A526-D7B0427F2A6E}"/>
              </a:ext>
            </a:extLst>
          </p:cNvPr>
          <p:cNvSpPr>
            <a:spLocks noGrp="1"/>
          </p:cNvSpPr>
          <p:nvPr/>
        </p:nvSpPr>
        <p:spPr>
          <a:xfrm>
            <a:off x="800100" y="4105275"/>
            <a:ext cx="49530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Final presentation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EE16E1-80F3-4CD1-8A45-60F684004622}"/>
              </a:ext>
            </a:extLst>
          </p:cNvPr>
          <p:cNvSpPr>
            <a:spLocks noGrp="1"/>
          </p:cNvSpPr>
          <p:nvPr/>
        </p:nvSpPr>
        <p:spPr>
          <a:xfrm>
            <a:off x="800100" y="4591050"/>
            <a:ext cx="4953000" cy="1095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Teach the class and demonstrate your work.</a:t>
            </a: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Explain the concept, experiments, results and limitations.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811EDD1-3A7D-4F7B-BA3E-8A43DA32931D}"/>
              </a:ext>
            </a:extLst>
          </p:cNvPr>
          <p:cNvSpPr>
            <a:spLocks noGrp="1"/>
          </p:cNvSpPr>
          <p:nvPr/>
        </p:nvSpPr>
        <p:spPr>
          <a:xfrm>
            <a:off x="6172200" y="3971925"/>
            <a:ext cx="5410200" cy="1762125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4725704-C52D-4426-B6F1-0081D738E45D}"/>
              </a:ext>
            </a:extLst>
          </p:cNvPr>
          <p:cNvSpPr>
            <a:spLocks noGrp="1"/>
          </p:cNvSpPr>
          <p:nvPr/>
        </p:nvSpPr>
        <p:spPr>
          <a:xfrm>
            <a:off x="6362700" y="4105275"/>
            <a:ext cx="50292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Develop a portfolio piece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39AE20-4A79-48DC-B506-E434FE856D08}"/>
              </a:ext>
            </a:extLst>
          </p:cNvPr>
          <p:cNvSpPr>
            <a:spLocks noGrp="1"/>
          </p:cNvSpPr>
          <p:nvPr/>
        </p:nvSpPr>
        <p:spPr>
          <a:xfrm>
            <a:off x="6362700" y="4591050"/>
            <a:ext cx="5029200" cy="1095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Plan a clear breakdown with visuals, your process and evidence.</a:t>
            </a: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Show what you contributed and learned.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6B3CF1C-D4F4-4C9C-BF0B-6F98468F9450}"/>
              </a:ext>
            </a:extLst>
          </p:cNvPr>
          <p:cNvSpPr>
            <a:spLocks noGrp="1"/>
          </p:cNvSpPr>
          <p:nvPr/>
        </p:nvSpPr>
        <p:spPr>
          <a:xfrm>
            <a:off x="609600" y="6057900"/>
            <a:ext cx="10715625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72D4C1"/>
                </a:solidFill>
              </a:defRPr>
            </a:defPPr>
            <a:lvl1pPr>
              <a:defRPr sz="1875" b="1">
                <a:solidFill>
                  <a:srgbClr val="72D4C1"/>
                </a:solidFill>
              </a:defRPr>
            </a:lvl1pPr>
            <a:lvl2pPr>
              <a:defRPr sz="1875" b="1">
                <a:solidFill>
                  <a:srgbClr val="72D4C1"/>
                </a:solidFill>
              </a:defRPr>
            </a:lvl2pPr>
            <a:lvl3pPr>
              <a:defRPr sz="1875" b="1">
                <a:solidFill>
                  <a:srgbClr val="72D4C1"/>
                </a:solidFill>
              </a:defRPr>
            </a:lvl3pPr>
            <a:lvl4pPr>
              <a:defRPr sz="1875" b="1">
                <a:solidFill>
                  <a:srgbClr val="72D4C1"/>
                </a:solidFill>
              </a:defRPr>
            </a:lvl4pPr>
            <a:lvl5pPr>
              <a:defRPr sz="1875" b="1">
                <a:solidFill>
                  <a:srgbClr val="72D4C1"/>
                </a:solidFill>
              </a:defRPr>
            </a:lvl5pPr>
            <a:lvl6pPr>
              <a:defRPr sz="1875" b="1">
                <a:solidFill>
                  <a:srgbClr val="72D4C1"/>
                </a:solidFill>
              </a:defRPr>
            </a:lvl6pPr>
            <a:lvl7pPr>
              <a:defRPr sz="1875" b="1">
                <a:solidFill>
                  <a:srgbClr val="72D4C1"/>
                </a:solidFill>
              </a:defRPr>
            </a:lvl7pPr>
            <a:lvl8pPr>
              <a:defRPr sz="1875" b="1">
                <a:solidFill>
                  <a:srgbClr val="72D4C1"/>
                </a:solidFill>
              </a:defRPr>
            </a:lvl8pPr>
            <a:lvl9pPr>
              <a:defRPr sz="1875" b="1">
                <a:solidFill>
                  <a:srgbClr val="72D4C1"/>
                </a:solidFill>
              </a:defRPr>
            </a:lvl9pPr>
          </a:lstStyle>
          <a:p>
            <a:pPr>
              <a:defRPr sz="1875" b="1">
                <a:solidFill>
                  <a:srgbClr val="72D4C1"/>
                </a:solidFill>
              </a:defRPr>
            </a:pPr>
            <a:r>
              <a:rPr sz="1875" b="1">
                <a:solidFill>
                  <a:srgbClr val="72D4C1"/>
                </a:solidFill>
                <a:latin typeface="Aptos" panose="020B0004020202020204" pitchFamily="34" charset="0"/>
              </a:rPr>
              <a:t>Start with: question → minimum useful result → test → teaching goal</a:t>
            </a:r>
          </a:p>
        </p:txBody>
      </p:sp>
    </p:spTree>
    <p:extLst>
      <p:ext uri="{BB962C8B-B14F-4D97-AF65-F5344CB8AC3E}">
        <p14:creationId xmlns:p14="http://schemas.microsoft.com/office/powerpoint/2010/main" val="7292438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7F96F5-E811-4AFA-86DC-A5CF9A3AA966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sz="1350" b="1">
                <a:solidFill>
                  <a:srgbClr val="FFCA78"/>
                </a:solidFill>
                <a:latin typeface="Aptos" panose="020B0004020202020204" pitchFamily="34" charset="0"/>
              </a:rPr>
              <a:t>PROJECT DISCUSSION · 6:55–7:00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D93F522-91F0-4272-9AB9-51DE52E836DC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Your project starting point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29520E7-538D-40E9-AC59-D1B066D117C6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6F16D8-0E82-4265-B9CB-45748943FD77}"/>
              </a:ext>
            </a:extLst>
          </p:cNvPr>
          <p:cNvSpPr>
            <a:spLocks noGrp="1"/>
          </p:cNvSpPr>
          <p:nvPr/>
        </p:nvSpPr>
        <p:spPr>
          <a:xfrm>
            <a:off x="609600" y="2000250"/>
            <a:ext cx="10972800" cy="1066800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68B5A4-E368-4E57-B738-0350C2415A41}"/>
              </a:ext>
            </a:extLst>
          </p:cNvPr>
          <p:cNvSpPr>
            <a:spLocks noGrp="1"/>
          </p:cNvSpPr>
          <p:nvPr/>
        </p:nvSpPr>
        <p:spPr>
          <a:xfrm>
            <a:off x="800100" y="2133600"/>
            <a:ext cx="10591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Question + smallest useful result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9B16AC-4949-40A4-A5E0-F2CB0BD2C24F}"/>
              </a:ext>
            </a:extLst>
          </p:cNvPr>
          <p:cNvSpPr>
            <a:spLocks noGrp="1"/>
          </p:cNvSpPr>
          <p:nvPr/>
        </p:nvSpPr>
        <p:spPr>
          <a:xfrm>
            <a:off x="800100" y="2619375"/>
            <a:ext cx="10591800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What will you investigate, and what can you build first?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351C9F-A38A-487C-9A26-7F818849ED23}"/>
              </a:ext>
            </a:extLst>
          </p:cNvPr>
          <p:cNvSpPr>
            <a:spLocks noGrp="1"/>
          </p:cNvSpPr>
          <p:nvPr/>
        </p:nvSpPr>
        <p:spPr>
          <a:xfrm>
            <a:off x="609600" y="3286125"/>
            <a:ext cx="10972800" cy="1066800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A09129-4EBF-44F0-8D9E-C921D93B2474}"/>
              </a:ext>
            </a:extLst>
          </p:cNvPr>
          <p:cNvSpPr>
            <a:spLocks noGrp="1"/>
          </p:cNvSpPr>
          <p:nvPr/>
        </p:nvSpPr>
        <p:spPr>
          <a:xfrm>
            <a:off x="800100" y="3419475"/>
            <a:ext cx="10591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Evidence + teaching goal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3F37B37-6914-45C5-830C-9BD63EEF8C62}"/>
              </a:ext>
            </a:extLst>
          </p:cNvPr>
          <p:cNvSpPr>
            <a:spLocks noGrp="1"/>
          </p:cNvSpPr>
          <p:nvPr/>
        </p:nvSpPr>
        <p:spPr>
          <a:xfrm>
            <a:off x="800100" y="3905250"/>
            <a:ext cx="10591800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How will you test it? What should classmates understand after your demo?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C6A90E-FEEA-4261-A529-389E09E71A68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1066800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699D5B-C200-4421-B52A-CF60E6C4A5CB}"/>
              </a:ext>
            </a:extLst>
          </p:cNvPr>
          <p:cNvSpPr>
            <a:spLocks noGrp="1"/>
          </p:cNvSpPr>
          <p:nvPr/>
        </p:nvSpPr>
        <p:spPr>
          <a:xfrm>
            <a:off x="800100" y="4705350"/>
            <a:ext cx="10591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Roles + portfolio evidence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D5351B-83B6-4BBB-B13E-B87ED4783629}"/>
              </a:ext>
            </a:extLst>
          </p:cNvPr>
          <p:cNvSpPr>
            <a:spLocks noGrp="1"/>
          </p:cNvSpPr>
          <p:nvPr/>
        </p:nvSpPr>
        <p:spPr>
          <a:xfrm>
            <a:off x="800100" y="5191125"/>
            <a:ext cx="10591800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Solo or group? Identify contributions and the visuals you need to capture.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291C682-34B6-4F3D-A647-982038161250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668000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72D4C1"/>
                </a:solidFill>
              </a:defRPr>
            </a:defPPr>
            <a:lvl1pPr>
              <a:defRPr sz="1875" b="1">
                <a:solidFill>
                  <a:srgbClr val="72D4C1"/>
                </a:solidFill>
              </a:defRPr>
            </a:lvl1pPr>
            <a:lvl2pPr>
              <a:defRPr sz="1875" b="1">
                <a:solidFill>
                  <a:srgbClr val="72D4C1"/>
                </a:solidFill>
              </a:defRPr>
            </a:lvl2pPr>
            <a:lvl3pPr>
              <a:defRPr sz="1875" b="1">
                <a:solidFill>
                  <a:srgbClr val="72D4C1"/>
                </a:solidFill>
              </a:defRPr>
            </a:lvl3pPr>
            <a:lvl4pPr>
              <a:defRPr sz="1875" b="1">
                <a:solidFill>
                  <a:srgbClr val="72D4C1"/>
                </a:solidFill>
              </a:defRPr>
            </a:lvl4pPr>
            <a:lvl5pPr>
              <a:defRPr sz="1875" b="1">
                <a:solidFill>
                  <a:srgbClr val="72D4C1"/>
                </a:solidFill>
              </a:defRPr>
            </a:lvl5pPr>
            <a:lvl6pPr>
              <a:defRPr sz="1875" b="1">
                <a:solidFill>
                  <a:srgbClr val="72D4C1"/>
                </a:solidFill>
              </a:defRPr>
            </a:lvl6pPr>
            <a:lvl7pPr>
              <a:defRPr sz="1875" b="1">
                <a:solidFill>
                  <a:srgbClr val="72D4C1"/>
                </a:solidFill>
              </a:defRPr>
            </a:lvl7pPr>
            <a:lvl8pPr>
              <a:defRPr sz="1875" b="1">
                <a:solidFill>
                  <a:srgbClr val="72D4C1"/>
                </a:solidFill>
              </a:defRPr>
            </a:lvl8pPr>
            <a:lvl9pPr>
              <a:defRPr sz="1875" b="1">
                <a:solidFill>
                  <a:srgbClr val="72D4C1"/>
                </a:solidFill>
              </a:defRPr>
            </a:lvl9pPr>
          </a:lstStyle>
          <a:p>
            <a:pPr>
              <a:defRPr sz="1875" b="1">
                <a:solidFill>
                  <a:srgbClr val="72D4C1"/>
                </a:solidFill>
              </a:defRPr>
            </a:pPr>
            <a:r>
              <a:rPr sz="1875" b="1">
                <a:solidFill>
                  <a:srgbClr val="72D4C1"/>
                </a:solidFill>
                <a:latin typeface="Aptos" panose="020B0004020202020204" pitchFamily="34" charset="0"/>
              </a:rPr>
              <a:t>What part of your idea needs help with scope or technical direction?</a:t>
            </a:r>
          </a:p>
        </p:txBody>
      </p:sp>
    </p:spTree>
    <p:extLst>
      <p:ext uri="{BB962C8B-B14F-4D97-AF65-F5344CB8AC3E}">
        <p14:creationId xmlns:p14="http://schemas.microsoft.com/office/powerpoint/2010/main" val="20514469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AFA14F6-7BF7-4CF5-852D-1194F1B9F26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REFERENCE • EXPLORE AFTER THE LIVE WALKTHROUGH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8EEECF8-224E-493E-9585-E4CC47EDD438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Parameter troubleshooting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7C5FC2-D26F-4082-BEA4-DEF61257DBE5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888E41-6C0A-4625-8FF7-D747D71B487E}"/>
              </a:ext>
            </a:extLst>
          </p:cNvPr>
          <p:cNvSpPr>
            <a:spLocks noGrp="1"/>
          </p:cNvSpPr>
          <p:nvPr/>
        </p:nvSpPr>
        <p:spPr>
          <a:xfrm>
            <a:off x="609600" y="2047875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1 / Assignment and override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7C7AA3-92CD-45C7-BEE7-B903DA190C22}"/>
              </a:ext>
            </a:extLst>
          </p:cNvPr>
          <p:cNvSpPr>
            <a:spLocks noGrp="1"/>
          </p:cNvSpPr>
          <p:nvPr/>
        </p:nvSpPr>
        <p:spPr>
          <a:xfrm>
            <a:off x="609600" y="2457450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Is the duplicate assigned? Is its parameter checkbox enabled?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F8FF46-5B58-4F12-AA78-BD0D382EEC12}"/>
              </a:ext>
            </a:extLst>
          </p:cNvPr>
          <p:cNvSpPr>
            <a:spLocks noGrp="1"/>
          </p:cNvSpPr>
          <p:nvPr/>
        </p:nvSpPr>
        <p:spPr>
          <a:xfrm>
            <a:off x="609600" y="3286125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2 / Active branch and scope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BDF208-7DA2-48D2-8267-5E2EC2CF1721}"/>
              </a:ext>
            </a:extLst>
          </p:cNvPr>
          <p:cNvSpPr>
            <a:spLocks noGrp="1"/>
          </p:cNvSpPr>
          <p:nvPr/>
        </p:nvSpPr>
        <p:spPr>
          <a:xfrm>
            <a:off x="609600" y="3695700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Packed mode uses ORM controls. Collection values affect every reader.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FE2C33-B79B-47AF-9170-1DD18D029411}"/>
              </a:ext>
            </a:extLst>
          </p:cNvPr>
          <p:cNvSpPr>
            <a:spLocks noGrp="1"/>
          </p:cNvSpPr>
          <p:nvPr/>
        </p:nvSpPr>
        <p:spPr>
          <a:xfrm>
            <a:off x="609600" y="4524375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3 / Data and comparison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27BBA2-DD49-4302-96F5-A3DA8FD5FA2C}"/>
              </a:ext>
            </a:extLst>
          </p:cNvPr>
          <p:cNvSpPr>
            <a:spLocks noGrp="1"/>
          </p:cNvSpPr>
          <p:nvPr/>
        </p:nvSpPr>
        <p:spPr>
          <a:xfrm>
            <a:off x="609600" y="4933950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Check channels, color space, sampler, camera, light and exposure.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50231D-FFA7-4166-B721-DB37574676E8}"/>
              </a:ext>
            </a:extLst>
          </p:cNvPr>
          <p:cNvSpPr>
            <a:spLocks noGrp="1"/>
          </p:cNvSpPr>
          <p:nvPr/>
        </p:nvSpPr>
        <p:spPr>
          <a:xfrm>
            <a:off x="609600" y="6000750"/>
            <a:ext cx="109728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1">
                <a:solidFill>
                  <a:srgbClr val="72D4C1"/>
                </a:solidFill>
              </a:defRPr>
            </a:defPPr>
            <a:lvl1pPr>
              <a:defRPr sz="1800" b="1">
                <a:solidFill>
                  <a:srgbClr val="72D4C1"/>
                </a:solidFill>
              </a:defRPr>
            </a:lvl1pPr>
            <a:lvl2pPr>
              <a:defRPr sz="1800" b="1">
                <a:solidFill>
                  <a:srgbClr val="72D4C1"/>
                </a:solidFill>
              </a:defRPr>
            </a:lvl2pPr>
            <a:lvl3pPr>
              <a:defRPr sz="1800" b="1">
                <a:solidFill>
                  <a:srgbClr val="72D4C1"/>
                </a:solidFill>
              </a:defRPr>
            </a:lvl3pPr>
            <a:lvl4pPr>
              <a:defRPr sz="1800" b="1">
                <a:solidFill>
                  <a:srgbClr val="72D4C1"/>
                </a:solidFill>
              </a:defRPr>
            </a:lvl4pPr>
            <a:lvl5pPr>
              <a:defRPr sz="1800" b="1">
                <a:solidFill>
                  <a:srgbClr val="72D4C1"/>
                </a:solidFill>
              </a:defRPr>
            </a:lvl5pPr>
            <a:lvl6pPr>
              <a:defRPr sz="1800" b="1">
                <a:solidFill>
                  <a:srgbClr val="72D4C1"/>
                </a:solidFill>
              </a:defRPr>
            </a:lvl6pPr>
            <a:lvl7pPr>
              <a:defRPr sz="1800" b="1">
                <a:solidFill>
                  <a:srgbClr val="72D4C1"/>
                </a:solidFill>
              </a:defRPr>
            </a:lvl7pPr>
            <a:lvl8pPr>
              <a:defRPr sz="1800" b="1">
                <a:solidFill>
                  <a:srgbClr val="72D4C1"/>
                </a:solidFill>
              </a:defRPr>
            </a:lvl8pPr>
            <a:lvl9pPr>
              <a:defRPr sz="1800" b="1">
                <a:solidFill>
                  <a:srgbClr val="72D4C1"/>
                </a:solidFill>
              </a:defRPr>
            </a:lvl9pPr>
          </a:lstStyle>
          <a:p>
            <a:pPr>
              <a:defRPr sz="1800" b="1">
                <a:solidFill>
                  <a:srgbClr val="72D4C1"/>
                </a:solidFill>
              </a:defRPr>
            </a:pPr>
            <a:r>
              <a:rPr sz="1800" b="1">
                <a:solidFill>
                  <a:srgbClr val="72D4C1"/>
                </a:solidFill>
                <a:latin typeface="Aptos" panose="020B0004020202020204" pitchFamily="34" charset="0"/>
              </a:rPr>
              <a:t>Explore further: Shader cheat sheet + Lab outline in the Week 9 packet</a:t>
            </a:r>
          </a:p>
        </p:txBody>
      </p:sp>
    </p:spTree>
    <p:extLst>
      <p:ext uri="{BB962C8B-B14F-4D97-AF65-F5344CB8AC3E}">
        <p14:creationId xmlns:p14="http://schemas.microsoft.com/office/powerpoint/2010/main" val="1868824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F4B5D7-A66D-4426-BA75-A6E6D416C67E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OPTIONAL STATION 07 EXTENSION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F354B9-7481-4128-A71B-CC7149BA6345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28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Parallax: height changes the texture lookup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5A3E80-62F9-4A14-A8BD-FFA105EA2783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15A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9AD9F6-056F-4724-B456-7CF9432D92D5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572750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E0F3F0"/>
                </a:solidFill>
              </a:defRPr>
            </a:defPPr>
            <a:lvl1pPr>
              <a:defRPr sz="1875">
                <a:solidFill>
                  <a:srgbClr val="E0F3F0"/>
                </a:solidFill>
              </a:defRPr>
            </a:lvl1pPr>
            <a:lvl2pPr>
              <a:defRPr sz="1875">
                <a:solidFill>
                  <a:srgbClr val="E0F3F0"/>
                </a:solidFill>
              </a:defRPr>
            </a:lvl2pPr>
            <a:lvl3pPr>
              <a:defRPr sz="1875">
                <a:solidFill>
                  <a:srgbClr val="E0F3F0"/>
                </a:solidFill>
              </a:defRPr>
            </a:lvl3pPr>
            <a:lvl4pPr>
              <a:defRPr sz="1875">
                <a:solidFill>
                  <a:srgbClr val="E0F3F0"/>
                </a:solidFill>
              </a:defRPr>
            </a:lvl4pPr>
            <a:lvl5pPr>
              <a:defRPr sz="1875">
                <a:solidFill>
                  <a:srgbClr val="E0F3F0"/>
                </a:solidFill>
              </a:defRPr>
            </a:lvl5pPr>
            <a:lvl6pPr>
              <a:defRPr sz="1875">
                <a:solidFill>
                  <a:srgbClr val="E0F3F0"/>
                </a:solidFill>
              </a:defRPr>
            </a:lvl6pPr>
            <a:lvl7pPr>
              <a:defRPr sz="1875">
                <a:solidFill>
                  <a:srgbClr val="E0F3F0"/>
                </a:solidFill>
              </a:defRPr>
            </a:lvl7pPr>
            <a:lvl8pPr>
              <a:defRPr sz="1875">
                <a:solidFill>
                  <a:srgbClr val="E0F3F0"/>
                </a:solidFill>
              </a:defRPr>
            </a:lvl8pPr>
            <a:lvl9pPr>
              <a:defRPr sz="1875">
                <a:solidFill>
                  <a:srgbClr val="E0F3F0"/>
                </a:solidFill>
              </a:defRPr>
            </a:lvl9pPr>
          </a:lstStyle>
          <a:p>
            <a:pPr>
              <a:defRPr sz="1875">
                <a:solidFill>
                  <a:srgbClr val="E0F3F0"/>
                </a:solidFill>
              </a:defRPr>
            </a:pPr>
            <a:r>
              <a:rPr sz="1875">
                <a:solidFill>
                  <a:srgbClr val="E0F3F0"/>
                </a:solidFill>
                <a:latin typeface="Aptos" panose="020B0004020202020204" pitchFamily="34" charset="0"/>
              </a:rPr>
              <a:t>Station 07: height channel A. Feed Parallax UVs to related texture samples.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B83B4CE-21B2-02A8-A6CA-08BB0D0C188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857375"/>
            <a:ext cx="10972800" cy="39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327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2D9F5C1-5AC1-42A5-AEC3-EB8E6F7CDFA9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OPTIONAL STATION 07 EXTENSION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F75A97-C4E7-4038-AC4A-87AE19FA4F09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28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Parallax: test depth, then test quality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C87890-CB1E-44CC-A927-7B6611D9D37C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ONE CONTROL AT A TIME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16C161-2833-405D-8103-6376839299BB}"/>
              </a:ext>
            </a:extLst>
          </p:cNvPr>
          <p:cNvSpPr>
            <a:spLocks noGrp="1"/>
          </p:cNvSpPr>
          <p:nvPr/>
        </p:nvSpPr>
        <p:spPr>
          <a:xfrm>
            <a:off x="609600" y="2495550"/>
            <a:ext cx="10972800" cy="628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ptos" panose="020B0004020202020204" pitchFamily="34" charset="0"/>
              </a:rPr>
              <a:t>Near Height: 0.00 → 0.04; keep the camera close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8753E7-E7A2-4F08-B1B1-9452EF8E23E8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QUALITY HAS A COST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EBCD8A-39F2-4029-A09E-0CF34EDBCA7E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10972800" cy="628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ptos" panose="020B0004020202020204" pitchFamily="34" charset="0"/>
              </a:rPr>
              <a:t>More steps can reduce artifacts; inspect shallow angles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9D590D-586D-4A10-90B1-A173F962016D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CHECK IN THE SCENE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7AFD72-E22E-441E-BED1-ED268B05F95B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10972800" cy="628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ptos" panose="020B0004020202020204" pitchFamily="34" charset="0"/>
              </a:rPr>
              <a:t>Test distance, intersections, lighting and the silhouette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B14711A-D337-4B83-8276-1E3FBC6DD34F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Record the visible benefit, one failure case, and your reset values.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9BCC555-74E2-44BF-A344-50A3318BAD47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15B</a:t>
            </a:r>
          </a:p>
        </p:txBody>
      </p:sp>
    </p:spTree>
    <p:extLst>
      <p:ext uri="{BB962C8B-B14F-4D97-AF65-F5344CB8AC3E}">
        <p14:creationId xmlns:p14="http://schemas.microsoft.com/office/powerpoint/2010/main" val="12677063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D235A4-D618-408A-88CA-C00D27E0DD94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LAB COMPANION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61DA18-C378-4B8D-8E62-229E132B8CD6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Lab review: finish your shader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F76341B-8DDF-470D-A1FD-2332272455D1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6:25–6:30 · PREPARE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B712B7-D9C6-410D-93E0-F56DD380511C}"/>
              </a:ext>
            </a:extLst>
          </p:cNvPr>
          <p:cNvSpPr>
            <a:spLocks noGrp="1"/>
          </p:cNvSpPr>
          <p:nvPr/>
        </p:nvSpPr>
        <p:spPr>
          <a:xfrm>
            <a:off x="609600" y="25050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Open your shader. Choose one finish or fix.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944D98-9ED5-480A-AE5B-38D3C0E1C287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6:30–6:45 · TEST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73D43D-B0B4-4978-A244-3AF35254D3A4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Build, test and capture your improvement.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591AB3-7C8D-4B98-B720-0E1807F2A5DD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6:45–6:50 · EXPLAIN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BF3D65-933C-405B-9A4C-EBA1809C58CE}"/>
              </a:ext>
            </a:extLst>
          </p:cNvPr>
          <p:cNvSpPr>
            <a:spLocks noGrp="1"/>
          </p:cNvSpPr>
          <p:nvPr/>
        </p:nvSpPr>
        <p:spPr>
          <a:xfrm>
            <a:off x="609600" y="4981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Explain your result; save your work and evidence.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3E756D-8243-4BCC-8E03-EC01CB5BF730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What is the smallest improvement that makes your shader ready?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9F1D76-5AA4-487E-A47E-E7937797CEC3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L0</a:t>
            </a:r>
          </a:p>
        </p:txBody>
      </p:sp>
    </p:spTree>
    <p:extLst>
      <p:ext uri="{BB962C8B-B14F-4D97-AF65-F5344CB8AC3E}">
        <p14:creationId xmlns:p14="http://schemas.microsoft.com/office/powerpoint/2010/main" val="13805189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E5B6FD-ED2E-4BFC-AE1E-1A3DE3EFBDEA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LAB COMPANION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B74924-FFE3-4659-9F98-19383AED71A2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B · Painted height transition</a:t>
            </a:r>
          </a:p>
        </p:txBody>
      </p:sp>
      <p:pic>
        <p:nvPicPr>
          <p:cNvPr id="14" name="Picture 3" descr="Current Unreal gallery, reference 08; native 3840 x 2160 capture.">
            <a:extLst>
              <a:ext uri="{FF2B5EF4-FFF2-40B4-BE49-F238E27FC236}">
                <a16:creationId xmlns:a16="http://schemas.microsoft.com/office/drawing/2014/main" id="{B472E7AA-9ABC-01B7-EDAD-3A754522505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0" t="15000" r="8000" b="1000"/>
          <a:stretch>
            <a:fillRect/>
          </a:stretch>
        </p:blipFill>
        <p:spPr>
          <a:xfrm>
            <a:off x="609600" y="2163961"/>
            <a:ext cx="6191250" cy="348257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FA885C2-8FAE-449B-A49F-81F2D52C1C9B}"/>
              </a:ext>
            </a:extLst>
          </p:cNvPr>
          <p:cNvSpPr>
            <a:spLocks noGrp="1"/>
          </p:cNvSpPr>
          <p:nvPr/>
        </p:nvSpPr>
        <p:spPr>
          <a:xfrm>
            <a:off x="7239000" y="20955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SET UP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F39994-3523-467F-B730-F948D14FEC4B}"/>
              </a:ext>
            </a:extLst>
          </p:cNvPr>
          <p:cNvSpPr>
            <a:spLocks noGrp="1"/>
          </p:cNvSpPr>
          <p:nvPr/>
        </p:nvSpPr>
        <p:spPr>
          <a:xfrm>
            <a:off x="7239000" y="250507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Station 08 · copy MI_08_HeightBlend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3FEE7D-D2A7-4815-9316-C02F6D3F8E79}"/>
              </a:ext>
            </a:extLst>
          </p:cNvPr>
          <p:cNvSpPr>
            <a:spLocks noGrp="1"/>
          </p:cNvSpPr>
          <p:nvPr/>
        </p:nvSpPr>
        <p:spPr>
          <a:xfrm>
            <a:off x="7239000" y="333375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COMPARE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65533CA-57FE-4CC9-A65C-4428751A0B01}"/>
              </a:ext>
            </a:extLst>
          </p:cNvPr>
          <p:cNvSpPr>
            <a:spLocks noGrp="1"/>
          </p:cNvSpPr>
          <p:nvPr/>
        </p:nvSpPr>
        <p:spPr>
          <a:xfrm>
            <a:off x="7239000" y="374332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Blend Contrast: 1 → 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4FAF00-5BC6-4C7F-B0E3-EE6B0D2176E8}"/>
              </a:ext>
            </a:extLst>
          </p:cNvPr>
          <p:cNvSpPr>
            <a:spLocks noGrp="1"/>
          </p:cNvSpPr>
          <p:nvPr/>
        </p:nvSpPr>
        <p:spPr>
          <a:xfrm>
            <a:off x="7239000" y="45720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LOOK FOR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3D1B48-BA9C-416E-8C93-4D9300C51474}"/>
              </a:ext>
            </a:extLst>
          </p:cNvPr>
          <p:cNvSpPr>
            <a:spLocks noGrp="1"/>
          </p:cNvSpPr>
          <p:nvPr/>
        </p:nvSpPr>
        <p:spPr>
          <a:xfrm>
            <a:off x="7239000" y="498157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Transition shape; unchanged silhouette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937F193-AB77-47B3-AAF7-47F878D133A2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Is this changing blend coverage or moving vertices?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2F4F92F-F5A3-48D4-88E5-C885ED468489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LB</a:t>
            </a:r>
          </a:p>
        </p:txBody>
      </p:sp>
    </p:spTree>
    <p:extLst>
      <p:ext uri="{BB962C8B-B14F-4D97-AF65-F5344CB8AC3E}">
        <p14:creationId xmlns:p14="http://schemas.microsoft.com/office/powerpoint/2010/main" val="591722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FFB64C-2081-4D69-8B19-9F6EA5725ACF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LAB COMPANION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EFB419-E54B-4074-AC24-87B105987134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C · Shared and per-object controls</a:t>
            </a:r>
          </a:p>
        </p:txBody>
      </p:sp>
      <p:pic>
        <p:nvPicPr>
          <p:cNvPr id="14" name="Picture 3" descr="Current Unreal gallery, reference 11; native 3840 x 2160 capture.">
            <a:extLst>
              <a:ext uri="{FF2B5EF4-FFF2-40B4-BE49-F238E27FC236}">
                <a16:creationId xmlns:a16="http://schemas.microsoft.com/office/drawing/2014/main" id="{706F888C-3BC6-7B6B-ACE1-15AFA4FF49E2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0" t="15000" r="8000" b="1000"/>
          <a:stretch>
            <a:fillRect/>
          </a:stretch>
        </p:blipFill>
        <p:spPr>
          <a:xfrm>
            <a:off x="609600" y="2163961"/>
            <a:ext cx="6191250" cy="348257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C6F1F1D-F863-4480-A0CE-57ED7047777C}"/>
              </a:ext>
            </a:extLst>
          </p:cNvPr>
          <p:cNvSpPr>
            <a:spLocks noGrp="1"/>
          </p:cNvSpPr>
          <p:nvPr/>
        </p:nvSpPr>
        <p:spPr>
          <a:xfrm>
            <a:off x="7239000" y="20955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TEST 1 · SHARED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B516496-1E5F-44EC-A969-76BB9E9BDB41}"/>
              </a:ext>
            </a:extLst>
          </p:cNvPr>
          <p:cNvSpPr>
            <a:spLocks noGrp="1"/>
          </p:cNvSpPr>
          <p:nvPr/>
        </p:nvSpPr>
        <p:spPr>
          <a:xfrm>
            <a:off x="7239000" y="250507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SharedRoughness: 0.2 → 0.8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43EE31F-7141-4653-B0F8-284C9D2338E0}"/>
              </a:ext>
            </a:extLst>
          </p:cNvPr>
          <p:cNvSpPr>
            <a:spLocks noGrp="1"/>
          </p:cNvSpPr>
          <p:nvPr/>
        </p:nvSpPr>
        <p:spPr>
          <a:xfrm>
            <a:off x="7239000" y="333375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RESET, THEN TEST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91928E-CCB5-4AB5-8FA8-2CA59795C4A5}"/>
              </a:ext>
            </a:extLst>
          </p:cNvPr>
          <p:cNvSpPr>
            <a:spLocks noGrp="1"/>
          </p:cNvSpPr>
          <p:nvPr/>
        </p:nvSpPr>
        <p:spPr>
          <a:xfrm>
            <a:off x="7239000" y="374332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Change one component’s RGB data: entries 0–2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588687-4C49-4A19-A7E2-C3D7BFD75512}"/>
              </a:ext>
            </a:extLst>
          </p:cNvPr>
          <p:cNvSpPr>
            <a:spLocks noGrp="1"/>
          </p:cNvSpPr>
          <p:nvPr/>
        </p:nvSpPr>
        <p:spPr>
          <a:xfrm>
            <a:off x="7239000" y="45720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LOOK FOR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77E06E-D9B7-450E-BB83-1704E0821BBA}"/>
              </a:ext>
            </a:extLst>
          </p:cNvPr>
          <p:cNvSpPr>
            <a:spLocks noGrp="1"/>
          </p:cNvSpPr>
          <p:nvPr/>
        </p:nvSpPr>
        <p:spPr>
          <a:xfrm>
            <a:off x="7239000" y="498157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Three surfaces change; then only one changes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70EA8F0-B8E1-4359-A267-A7B47A0AEB5A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Which object owns each value?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C3A3-8C87-4506-8776-7EFF72140EF0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LC</a:t>
            </a:r>
          </a:p>
        </p:txBody>
      </p:sp>
    </p:spTree>
    <p:extLst>
      <p:ext uri="{BB962C8B-B14F-4D97-AF65-F5344CB8AC3E}">
        <p14:creationId xmlns:p14="http://schemas.microsoft.com/office/powerpoint/2010/main" val="7523561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04CFC18-916A-4EB7-904A-1007BF4A0AA0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LAB COMPANION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AA8250-F8ED-4FEE-9DE7-04A1004A7E16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D · Decal surface response</a:t>
            </a:r>
          </a:p>
        </p:txBody>
      </p:sp>
      <p:pic>
        <p:nvPicPr>
          <p:cNvPr id="14" name="Picture 3" descr="Current Unreal gallery, reference 10; native 3840 x 2160 capture.">
            <a:extLst>
              <a:ext uri="{FF2B5EF4-FFF2-40B4-BE49-F238E27FC236}">
                <a16:creationId xmlns:a16="http://schemas.microsoft.com/office/drawing/2014/main" id="{E9407AA0-1D19-EEFF-D2C9-67241F0FBE59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0" t="15000" r="8000" b="1000"/>
          <a:stretch>
            <a:fillRect/>
          </a:stretch>
        </p:blipFill>
        <p:spPr>
          <a:xfrm>
            <a:off x="609600" y="2163961"/>
            <a:ext cx="6191250" cy="348257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D8F2254-77C5-4D03-BEBB-BE2C6C93CB73}"/>
              </a:ext>
            </a:extLst>
          </p:cNvPr>
          <p:cNvSpPr>
            <a:spLocks noGrp="1"/>
          </p:cNvSpPr>
          <p:nvPr/>
        </p:nvSpPr>
        <p:spPr>
          <a:xfrm>
            <a:off x="7239000" y="20955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SET UP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A5CBE0-602F-46FE-ABBA-2F914A2640E7}"/>
              </a:ext>
            </a:extLst>
          </p:cNvPr>
          <p:cNvSpPr>
            <a:spLocks noGrp="1"/>
          </p:cNvSpPr>
          <p:nvPr/>
        </p:nvSpPr>
        <p:spPr>
          <a:xfrm>
            <a:off x="7239000" y="250507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Assign a copy of MI_10_RoughnessDecal.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4D4199-D40F-4A1A-BBF5-E0579A2F0853}"/>
              </a:ext>
            </a:extLst>
          </p:cNvPr>
          <p:cNvSpPr>
            <a:spLocks noGrp="1"/>
          </p:cNvSpPr>
          <p:nvPr/>
        </p:nvSpPr>
        <p:spPr>
          <a:xfrm>
            <a:off x="7239000" y="333375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COMPARE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285B067-E365-44DA-9BF5-F85D71C93D66}"/>
              </a:ext>
            </a:extLst>
          </p:cNvPr>
          <p:cNvSpPr>
            <a:spLocks noGrp="1"/>
          </p:cNvSpPr>
          <p:nvPr/>
        </p:nvSpPr>
        <p:spPr>
          <a:xfrm>
            <a:off x="7239000" y="374332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Roughness: 0.03 → 0.8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B365BB-A84C-4AF6-BCD8-AE37FF634794}"/>
              </a:ext>
            </a:extLst>
          </p:cNvPr>
          <p:cNvSpPr>
            <a:spLocks noGrp="1"/>
          </p:cNvSpPr>
          <p:nvPr/>
        </p:nvSpPr>
        <p:spPr>
          <a:xfrm>
            <a:off x="7239000" y="45720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LOOK FOR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EB42C0-5802-4D5C-8534-85A7189A4D52}"/>
              </a:ext>
            </a:extLst>
          </p:cNvPr>
          <p:cNvSpPr>
            <a:spLocks noGrp="1"/>
          </p:cNvSpPr>
          <p:nvPr/>
        </p:nvSpPr>
        <p:spPr>
          <a:xfrm>
            <a:off x="7239000" y="498157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Changed reflections inside the projection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FCEDC4-1D7E-4C52-8933-F4DE379AC6AA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Can a decal change a surface without adding a color patch?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B525252-7411-4ECD-9805-6F2EE32C6DD7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LD</a:t>
            </a:r>
          </a:p>
        </p:txBody>
      </p:sp>
    </p:spTree>
    <p:extLst>
      <p:ext uri="{BB962C8B-B14F-4D97-AF65-F5344CB8AC3E}">
        <p14:creationId xmlns:p14="http://schemas.microsoft.com/office/powerpoint/2010/main" val="11762897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42789F-75D1-4F6C-9385-0452FB73E642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LAB COMPANION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B6153A-E141-4041-9A40-460B67606342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Optional · Parallax depth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0E10CF-60A7-4DAB-951D-2DA8D293637D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SET UP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49D90-2AE2-41D7-A6E9-B4CEEAF4676C}"/>
              </a:ext>
            </a:extLst>
          </p:cNvPr>
          <p:cNvSpPr>
            <a:spLocks noGrp="1"/>
          </p:cNvSpPr>
          <p:nvPr/>
        </p:nvSpPr>
        <p:spPr>
          <a:xfrm>
            <a:off x="609600" y="25050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Station 07 · duplicate and assign the POM instance.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48F44E-29C9-48D9-B575-5A4EB10D5817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COMPARE CLOSE TO THE SURFACE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1609127-1F00-4C87-B574-E68D0217E4E0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POM | Near Height: 0.00 → 0.04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1B7304F-E51A-4DF9-AA4A-DE66EDB859D1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LOOK FOR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5F9B69-73F3-49B7-969B-DDF769881C6A}"/>
              </a:ext>
            </a:extLst>
          </p:cNvPr>
          <p:cNvSpPr>
            <a:spLocks noGrp="1"/>
          </p:cNvSpPr>
          <p:nvPr/>
        </p:nvSpPr>
        <p:spPr>
          <a:xfrm>
            <a:off x="609600" y="4981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View-dependent relief; unchanged mesh silhouette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94D8F8-D478-4F22-9A7C-2BD8B0A485EA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What changes when you move sideways—and what does not?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75C9451-3C7C-41B1-8CF5-2141D611A74F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LE</a:t>
            </a:r>
          </a:p>
        </p:txBody>
      </p:sp>
    </p:spTree>
    <p:extLst>
      <p:ext uri="{BB962C8B-B14F-4D97-AF65-F5344CB8AC3E}">
        <p14:creationId xmlns:p14="http://schemas.microsoft.com/office/powerpoint/2010/main" val="8604356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CC616D-6250-4E58-AFF7-02E2726E7A0A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LAB COMPANION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D6F93E-9228-4C6A-AA60-3A4AE4227E0F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Lab review: explain your result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2009F1-6BBE-4349-8DD7-2F5C14FF9EC5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SHOW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BF529A-EA85-4051-9088-4A0E8E58F2EF}"/>
              </a:ext>
            </a:extLst>
          </p:cNvPr>
          <p:cNvSpPr>
            <a:spLocks noGrp="1"/>
          </p:cNvSpPr>
          <p:nvPr/>
        </p:nvSpPr>
        <p:spPr>
          <a:xfrm>
            <a:off x="609600" y="25050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Your shader result + the graph that produces it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705414-2DD5-44AC-B31B-18DD76655634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EXPLAIN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273693-EF33-4B9F-A086-DDA79C5EF1C9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Prediction → observation → reason or limitation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9D8E23-0285-462F-A4F1-4E2EBDB35DB0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MAKE IT REPRODUCIBLE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3ADBFA-CA39-40B9-8918-391A5ECD9E63}"/>
              </a:ext>
            </a:extLst>
          </p:cNvPr>
          <p:cNvSpPr>
            <a:spLocks noGrp="1"/>
          </p:cNvSpPr>
          <p:nvPr/>
        </p:nvSpPr>
        <p:spPr>
          <a:xfrm>
            <a:off x="609600" y="4981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Readable graph, result capture and a brief explanation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DB59AA-C812-487B-AF44-BA5D2A311D72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Can a classmate explain how your shader achieves its effect?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A29E9F-A1CD-416E-823B-2A825FB0FBFD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LF</a:t>
            </a:r>
          </a:p>
        </p:txBody>
      </p:sp>
    </p:spTree>
    <p:extLst>
      <p:ext uri="{BB962C8B-B14F-4D97-AF65-F5344CB8AC3E}">
        <p14:creationId xmlns:p14="http://schemas.microsoft.com/office/powerpoint/2010/main" val="11207914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128E3A2-3C34-4EA4-85F2-52A261B9F1BC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· TEXTURE ORGANIZATION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E36453-D0E5-4D2F-A9F1-1ABB6369F9FF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Channel packing, atlases and arrays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5A039C-D4B3-465E-92F9-1E44B53104C9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17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7095C1-F980-4B39-A8B9-591008C6B807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572750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E0F3F0"/>
                </a:solidFill>
              </a:defRPr>
            </a:defPPr>
            <a:lvl1pPr>
              <a:defRPr sz="1875">
                <a:solidFill>
                  <a:srgbClr val="E0F3F0"/>
                </a:solidFill>
              </a:defRPr>
            </a:lvl1pPr>
            <a:lvl2pPr>
              <a:defRPr sz="1875">
                <a:solidFill>
                  <a:srgbClr val="E0F3F0"/>
                </a:solidFill>
              </a:defRPr>
            </a:lvl2pPr>
            <a:lvl3pPr>
              <a:defRPr sz="1875">
                <a:solidFill>
                  <a:srgbClr val="E0F3F0"/>
                </a:solidFill>
              </a:defRPr>
            </a:lvl3pPr>
            <a:lvl4pPr>
              <a:defRPr sz="1875">
                <a:solidFill>
                  <a:srgbClr val="E0F3F0"/>
                </a:solidFill>
              </a:defRPr>
            </a:lvl4pPr>
            <a:lvl5pPr>
              <a:defRPr sz="1875">
                <a:solidFill>
                  <a:srgbClr val="E0F3F0"/>
                </a:solidFill>
              </a:defRPr>
            </a:lvl5pPr>
            <a:lvl6pPr>
              <a:defRPr sz="1875">
                <a:solidFill>
                  <a:srgbClr val="E0F3F0"/>
                </a:solidFill>
              </a:defRPr>
            </a:lvl6pPr>
            <a:lvl7pPr>
              <a:defRPr sz="1875">
                <a:solidFill>
                  <a:srgbClr val="E0F3F0"/>
                </a:solidFill>
              </a:defRPr>
            </a:lvl7pPr>
            <a:lvl8pPr>
              <a:defRPr sz="1875">
                <a:solidFill>
                  <a:srgbClr val="E0F3F0"/>
                </a:solidFill>
              </a:defRPr>
            </a:lvl8pPr>
            <a:lvl9pPr>
              <a:defRPr sz="1875">
                <a:solidFill>
                  <a:srgbClr val="E0F3F0"/>
                </a:solidFill>
              </a:defRPr>
            </a:lvl9pPr>
          </a:lstStyle>
          <a:p>
            <a:pPr>
              <a:defRPr sz="1875">
                <a:solidFill>
                  <a:srgbClr val="E0F3F0"/>
                </a:solidFill>
              </a:defRPr>
            </a:pPr>
            <a:r>
              <a:rPr sz="1875">
                <a:solidFill>
                  <a:srgbClr val="E0F3F0"/>
                </a:solidFill>
                <a:latin typeface="Aptos" panose="020B0004020202020204" pitchFamily="34" charset="0"/>
              </a:rPr>
              <a:t>Week 10: compare the same visible result, then measure memory and render cost.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9EB889-2DE5-A9C6-FF12-229341EB78C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857375"/>
            <a:ext cx="10972800" cy="39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5434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D13B01-E35F-4A8E-9ADC-E15090C3211B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· WATER SHADER REFERENCE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9D66FE-F116-4CB9-90A3-F5FEA5356763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Flow mask and flow direction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DAFB29-7EED-4955-AD1F-EDD15EB8778C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5C3358-E525-43E3-9B09-2AA3ED6B17E3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572750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E0F3F0"/>
                </a:solidFill>
              </a:defRPr>
            </a:defPPr>
            <a:lvl1pPr>
              <a:defRPr sz="1875">
                <a:solidFill>
                  <a:srgbClr val="E0F3F0"/>
                </a:solidFill>
              </a:defRPr>
            </a:lvl1pPr>
            <a:lvl2pPr>
              <a:defRPr sz="1875">
                <a:solidFill>
                  <a:srgbClr val="E0F3F0"/>
                </a:solidFill>
              </a:defRPr>
            </a:lvl2pPr>
            <a:lvl3pPr>
              <a:defRPr sz="1875">
                <a:solidFill>
                  <a:srgbClr val="E0F3F0"/>
                </a:solidFill>
              </a:defRPr>
            </a:lvl3pPr>
            <a:lvl4pPr>
              <a:defRPr sz="1875">
                <a:solidFill>
                  <a:srgbClr val="E0F3F0"/>
                </a:solidFill>
              </a:defRPr>
            </a:lvl4pPr>
            <a:lvl5pPr>
              <a:defRPr sz="1875">
                <a:solidFill>
                  <a:srgbClr val="E0F3F0"/>
                </a:solidFill>
              </a:defRPr>
            </a:lvl5pPr>
            <a:lvl6pPr>
              <a:defRPr sz="1875">
                <a:solidFill>
                  <a:srgbClr val="E0F3F0"/>
                </a:solidFill>
              </a:defRPr>
            </a:lvl6pPr>
            <a:lvl7pPr>
              <a:defRPr sz="1875">
                <a:solidFill>
                  <a:srgbClr val="E0F3F0"/>
                </a:solidFill>
              </a:defRPr>
            </a:lvl7pPr>
            <a:lvl8pPr>
              <a:defRPr sz="1875">
                <a:solidFill>
                  <a:srgbClr val="E0F3F0"/>
                </a:solidFill>
              </a:defRPr>
            </a:lvl8pPr>
            <a:lvl9pPr>
              <a:defRPr sz="1875">
                <a:solidFill>
                  <a:srgbClr val="E0F3F0"/>
                </a:solidFill>
              </a:defRPr>
            </a:lvl9pPr>
          </a:lstStyle>
          <a:p>
            <a:pPr>
              <a:defRPr sz="1875">
                <a:solidFill>
                  <a:srgbClr val="E0F3F0"/>
                </a:solidFill>
              </a:defRPr>
            </a:pPr>
            <a:r>
              <a:rPr sz="1875">
                <a:solidFill>
                  <a:srgbClr val="E0F3F0"/>
                </a:solidFill>
                <a:latin typeface="Aptos" panose="020B0004020202020204" pitchFamily="34" charset="0"/>
              </a:rPr>
              <a:t>Texture motion does not move the mesh. Optional water reference.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2E3FCD-98D7-6AD7-E77A-5E08C6E6E04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857375"/>
            <a:ext cx="10972800" cy="39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9091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4782008-5DC8-408F-B789-03267504F810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· DECAL RECEIVERS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64B11E-30E6-4D72-A2D1-351181F41F3D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Custom decal response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3331E3-0D4E-462B-93DB-49FB1BBDD4F3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PROJECTED INPUT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6249B7-11C2-477A-88AD-47D0B243C40F}"/>
              </a:ext>
            </a:extLst>
          </p:cNvPr>
          <p:cNvSpPr>
            <a:spLocks noGrp="1"/>
          </p:cNvSpPr>
          <p:nvPr/>
        </p:nvSpPr>
        <p:spPr>
          <a:xfrm>
            <a:off x="609600" y="2505075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ptos" panose="020B0004020202020204" pitchFamily="34" charset="0"/>
              </a:rPr>
              <a:t>The decal supplies color, normal or roughness data.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AC5D8D-3DAC-4235-B652-F198F0F41D39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RECEIVER LOGIC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058960-1A07-40B6-984E-02D8708E7AF5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ptos" panose="020B0004020202020204" pitchFamily="34" charset="0"/>
              </a:rPr>
              <a:t>A surface mask can confine the response to crevices.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5C5C61-11BC-4728-BDB9-935379A6C36C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APPLY ONCE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6272DE-60CB-44A4-AAEB-B1D270205574}"/>
              </a:ext>
            </a:extLst>
          </p:cNvPr>
          <p:cNvSpPr>
            <a:spLocks noGrp="1"/>
          </p:cNvSpPr>
          <p:nvPr/>
        </p:nvSpPr>
        <p:spPr>
          <a:xfrm>
            <a:off x="609600" y="4981575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ptos" panose="020B0004020202020204" pitchFamily="34" charset="0"/>
              </a:rPr>
              <a:t>For manual DBuffer blending: receiver Decal Response = None.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FE7BCCA-D97A-44DA-8B22-3665FB213C16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Actor Receives Decals and material Decal Response are different controls.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C9324F-CDEB-408B-A667-38232350271B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9F</a:t>
            </a:r>
          </a:p>
        </p:txBody>
      </p:sp>
    </p:spTree>
    <p:extLst>
      <p:ext uri="{BB962C8B-B14F-4D97-AF65-F5344CB8AC3E}">
        <p14:creationId xmlns:p14="http://schemas.microsoft.com/office/powerpoint/2010/main" val="15070176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86D9C5-F353-4072-A767-DED6AB8362A3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· OUTSIDE EXAMPLE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BAE907-73E5-4F07-A7D3-384F9056E96A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Snow that remembers contact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A1FA561-32D4-3489-2450-2666CDCC9DB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0350" y="2416969"/>
            <a:ext cx="4445000" cy="250031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E6859FF-D47F-4C04-8258-F781FBCF0BFB}"/>
              </a:ext>
            </a:extLst>
          </p:cNvPr>
          <p:cNvSpPr>
            <a:spLocks noGrp="1"/>
          </p:cNvSpPr>
          <p:nvPr/>
        </p:nvSpPr>
        <p:spPr>
          <a:xfrm>
            <a:off x="7296150" y="2000250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MECHANISM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F40F5F-EB84-4E33-BEE6-978B21771860}"/>
              </a:ext>
            </a:extLst>
          </p:cNvPr>
          <p:cNvSpPr>
            <a:spLocks noGrp="1"/>
          </p:cNvSpPr>
          <p:nvPr/>
        </p:nvSpPr>
        <p:spPr>
          <a:xfrm>
            <a:off x="7296150" y="235267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A render target stores an interaction mask.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EC85D9-DB0F-4D46-8DBA-2ED81BBBEF88}"/>
              </a:ext>
            </a:extLst>
          </p:cNvPr>
          <p:cNvSpPr>
            <a:spLocks noGrp="1"/>
          </p:cNvSpPr>
          <p:nvPr/>
        </p:nvSpPr>
        <p:spPr>
          <a:xfrm>
            <a:off x="7296150" y="3190875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START SMALL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B2C373-F40E-475F-97B9-48281CAE18CD}"/>
              </a:ext>
            </a:extLst>
          </p:cNvPr>
          <p:cNvSpPr>
            <a:spLocks noGrp="1"/>
          </p:cNvSpPr>
          <p:nvPr/>
        </p:nvSpPr>
        <p:spPr>
          <a:xfrm>
            <a:off x="7296150" y="3543300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One small patch; stamp a footprint mask.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EA232E-F070-4125-AFCC-CB431598E179}"/>
              </a:ext>
            </a:extLst>
          </p:cNvPr>
          <p:cNvSpPr>
            <a:spLocks noGrp="1"/>
          </p:cNvSpPr>
          <p:nvPr/>
        </p:nvSpPr>
        <p:spPr>
          <a:xfrm>
            <a:off x="7296150" y="4381500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FINAL-PROJECT STRETCH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FAC370-2492-4C8A-8C66-EDF7839904AF}"/>
              </a:ext>
            </a:extLst>
          </p:cNvPr>
          <p:cNvSpPr>
            <a:spLocks noGrp="1"/>
          </p:cNvSpPr>
          <p:nvPr/>
        </p:nvSpPr>
        <p:spPr>
          <a:xfrm>
            <a:off x="7296150" y="473392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Persistent trails with convincing depth.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9C01141-2C35-4B1E-A44D-0E2B4AD6AFC9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6286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72D4C1"/>
                </a:solidFill>
              </a:defRPr>
            </a:defPPr>
            <a:lvl1pPr>
              <a:defRPr sz="1875" b="1">
                <a:solidFill>
                  <a:srgbClr val="72D4C1"/>
                </a:solidFill>
              </a:defRPr>
            </a:lvl1pPr>
            <a:lvl2pPr>
              <a:defRPr sz="1875" b="1">
                <a:solidFill>
                  <a:srgbClr val="72D4C1"/>
                </a:solidFill>
              </a:defRPr>
            </a:lvl2pPr>
            <a:lvl3pPr>
              <a:defRPr sz="1875" b="1">
                <a:solidFill>
                  <a:srgbClr val="72D4C1"/>
                </a:solidFill>
              </a:defRPr>
            </a:lvl3pPr>
            <a:lvl4pPr>
              <a:defRPr sz="1875" b="1">
                <a:solidFill>
                  <a:srgbClr val="72D4C1"/>
                </a:solidFill>
              </a:defRPr>
            </a:lvl4pPr>
            <a:lvl5pPr>
              <a:defRPr sz="1875" b="1">
                <a:solidFill>
                  <a:srgbClr val="72D4C1"/>
                </a:solidFill>
              </a:defRPr>
            </a:lvl5pPr>
            <a:lvl6pPr>
              <a:defRPr sz="1875" b="1">
                <a:solidFill>
                  <a:srgbClr val="72D4C1"/>
                </a:solidFill>
              </a:defRPr>
            </a:lvl6pPr>
            <a:lvl7pPr>
              <a:defRPr sz="1875" b="1">
                <a:solidFill>
                  <a:srgbClr val="72D4C1"/>
                </a:solidFill>
              </a:defRPr>
            </a:lvl7pPr>
            <a:lvl8pPr>
              <a:defRPr sz="1875" b="1">
                <a:solidFill>
                  <a:srgbClr val="72D4C1"/>
                </a:solidFill>
              </a:defRPr>
            </a:lvl8pPr>
            <a:lvl9pPr>
              <a:defRPr sz="1875" b="1">
                <a:solidFill>
                  <a:srgbClr val="72D4C1"/>
                </a:solidFill>
              </a:defRPr>
            </a:lvl9pPr>
          </a:lstStyle>
          <a:p>
            <a:pPr>
              <a:defRPr sz="1875" b="1">
                <a:solidFill>
                  <a:srgbClr val="72D4C1"/>
                </a:solidFill>
              </a:defRPr>
            </a:pPr>
            <a:r>
              <a:rPr>
                <a:latin typeface="Aptos" panose="020B0004020202020204" pitchFamily="34" charset="0"/>
                <a:hlinkClick r:id="rId4"/>
              </a:rPr>
              <a:t>Open the online example ↗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7447A1-185A-4077-8AE7-3EFEB07B97CF}"/>
              </a:ext>
            </a:extLst>
          </p:cNvPr>
          <p:cNvSpPr>
            <a:spLocks noGrp="1"/>
          </p:cNvSpPr>
          <p:nvPr/>
        </p:nvSpPr>
        <p:spPr>
          <a:xfrm>
            <a:off x="609600" y="6181725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FFFFFF"/>
                </a:solidFill>
              </a:defRPr>
            </a:defPPr>
            <a:lvl1pPr>
              <a:defRPr sz="1725" b="0">
                <a:solidFill>
                  <a:srgbClr val="FFFFFF"/>
                </a:solidFill>
              </a:defRPr>
            </a:lvl1pPr>
            <a:lvl2pPr>
              <a:defRPr sz="1725" b="0">
                <a:solidFill>
                  <a:srgbClr val="FFFFFF"/>
                </a:solidFill>
              </a:defRPr>
            </a:lvl2pPr>
            <a:lvl3pPr>
              <a:defRPr sz="1725" b="0">
                <a:solidFill>
                  <a:srgbClr val="FFFFFF"/>
                </a:solidFill>
              </a:defRPr>
            </a:lvl3pPr>
            <a:lvl4pPr>
              <a:defRPr sz="1725" b="0">
                <a:solidFill>
                  <a:srgbClr val="FFFFFF"/>
                </a:solidFill>
              </a:defRPr>
            </a:lvl4pPr>
            <a:lvl5pPr>
              <a:defRPr sz="1725" b="0">
                <a:solidFill>
                  <a:srgbClr val="FFFFFF"/>
                </a:solidFill>
              </a:defRPr>
            </a:lvl5pPr>
            <a:lvl6pPr>
              <a:defRPr sz="1725" b="0">
                <a:solidFill>
                  <a:srgbClr val="FFFFFF"/>
                </a:solidFill>
              </a:defRPr>
            </a:lvl6pPr>
            <a:lvl7pPr>
              <a:defRPr sz="1725" b="0">
                <a:solidFill>
                  <a:srgbClr val="FFFFFF"/>
                </a:solidFill>
              </a:defRPr>
            </a:lvl7pPr>
            <a:lvl8pPr>
              <a:defRPr sz="1725" b="0">
                <a:solidFill>
                  <a:srgbClr val="FFFFFF"/>
                </a:solidFill>
              </a:defRPr>
            </a:lvl8pPr>
            <a:lvl9pPr>
              <a:defRPr sz="1725" b="0">
                <a:solidFill>
                  <a:srgbClr val="FFFFFF"/>
                </a:solidFill>
              </a:defRPr>
            </a:lvl9pPr>
          </a:lstStyle>
          <a:p>
            <a:pPr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  <a:latin typeface="Aptos" panose="020B0004020202020204" pitchFamily="34" charset="0"/>
              </a:rPr>
              <a:t>Borrow a focused idea for the shader you are already making.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2F924E-5DBD-413E-9B17-F3487433D264}"/>
              </a:ext>
            </a:extLst>
          </p:cNvPr>
          <p:cNvSpPr>
            <a:spLocks noGrp="1"/>
          </p:cNvSpPr>
          <p:nvPr/>
        </p:nvSpPr>
        <p:spPr>
          <a:xfrm>
            <a:off x="11049000" y="6457950"/>
            <a:ext cx="6667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19A</a:t>
            </a:r>
          </a:p>
        </p:txBody>
      </p:sp>
    </p:spTree>
    <p:extLst>
      <p:ext uri="{BB962C8B-B14F-4D97-AF65-F5344CB8AC3E}">
        <p14:creationId xmlns:p14="http://schemas.microsoft.com/office/powerpoint/2010/main" val="1430086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70914D0-D4C4-4FC5-962B-4B68D3723511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· OUTSIDE EXAMPLE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50F2C7-78DE-4203-AC92-B39E431029C6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Grass that bends with the world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19378EA-9C39-E7B1-D57C-15F0420960FF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0350" y="2416969"/>
            <a:ext cx="4445000" cy="250031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FD7171D-F158-43BD-B862-79EE0513D893}"/>
              </a:ext>
            </a:extLst>
          </p:cNvPr>
          <p:cNvSpPr>
            <a:spLocks noGrp="1"/>
          </p:cNvSpPr>
          <p:nvPr/>
        </p:nvSpPr>
        <p:spPr>
          <a:xfrm>
            <a:off x="7296150" y="2000250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MECHANISM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ECEB24-D1BB-4F77-B2E2-DB7C570D88DD}"/>
              </a:ext>
            </a:extLst>
          </p:cNvPr>
          <p:cNvSpPr>
            <a:spLocks noGrp="1"/>
          </p:cNvSpPr>
          <p:nvPr/>
        </p:nvSpPr>
        <p:spPr>
          <a:xfrm>
            <a:off x="7296150" y="235267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Pivot data guides material-driven bending.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461DB73-3F2C-4FA3-A4BA-A0F8806292CE}"/>
              </a:ext>
            </a:extLst>
          </p:cNvPr>
          <p:cNvSpPr>
            <a:spLocks noGrp="1"/>
          </p:cNvSpPr>
          <p:nvPr/>
        </p:nvSpPr>
        <p:spPr>
          <a:xfrm>
            <a:off x="7296150" y="3190875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START SMALL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4FC799-2528-42B8-AB7A-4FD67D5ABA1E}"/>
              </a:ext>
            </a:extLst>
          </p:cNvPr>
          <p:cNvSpPr>
            <a:spLocks noGrp="1"/>
          </p:cNvSpPr>
          <p:nvPr/>
        </p:nvSpPr>
        <p:spPr>
          <a:xfrm>
            <a:off x="7296150" y="3543300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Mask the roots; animate one grass clump.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FE93E1D-6EBE-46A1-811A-743580AB6028}"/>
              </a:ext>
            </a:extLst>
          </p:cNvPr>
          <p:cNvSpPr>
            <a:spLocks noGrp="1"/>
          </p:cNvSpPr>
          <p:nvPr/>
        </p:nvSpPr>
        <p:spPr>
          <a:xfrm>
            <a:off x="7296150" y="4381500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FINAL-PROJECT STRETCH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089B396-1BEB-4BED-8CA4-3042AAFD501E}"/>
              </a:ext>
            </a:extLst>
          </p:cNvPr>
          <p:cNvSpPr>
            <a:spLocks noGrp="1"/>
          </p:cNvSpPr>
          <p:nvPr/>
        </p:nvSpPr>
        <p:spPr>
          <a:xfrm>
            <a:off x="7296150" y="473392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Add player interaction and varied motion.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EB12F7-FF90-4E70-9415-5ACE7C6FA016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6286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72D4C1"/>
                </a:solidFill>
              </a:defRPr>
            </a:defPPr>
            <a:lvl1pPr>
              <a:defRPr sz="1875" b="1">
                <a:solidFill>
                  <a:srgbClr val="72D4C1"/>
                </a:solidFill>
              </a:defRPr>
            </a:lvl1pPr>
            <a:lvl2pPr>
              <a:defRPr sz="1875" b="1">
                <a:solidFill>
                  <a:srgbClr val="72D4C1"/>
                </a:solidFill>
              </a:defRPr>
            </a:lvl2pPr>
            <a:lvl3pPr>
              <a:defRPr sz="1875" b="1">
                <a:solidFill>
                  <a:srgbClr val="72D4C1"/>
                </a:solidFill>
              </a:defRPr>
            </a:lvl3pPr>
            <a:lvl4pPr>
              <a:defRPr sz="1875" b="1">
                <a:solidFill>
                  <a:srgbClr val="72D4C1"/>
                </a:solidFill>
              </a:defRPr>
            </a:lvl4pPr>
            <a:lvl5pPr>
              <a:defRPr sz="1875" b="1">
                <a:solidFill>
                  <a:srgbClr val="72D4C1"/>
                </a:solidFill>
              </a:defRPr>
            </a:lvl5pPr>
            <a:lvl6pPr>
              <a:defRPr sz="1875" b="1">
                <a:solidFill>
                  <a:srgbClr val="72D4C1"/>
                </a:solidFill>
              </a:defRPr>
            </a:lvl6pPr>
            <a:lvl7pPr>
              <a:defRPr sz="1875" b="1">
                <a:solidFill>
                  <a:srgbClr val="72D4C1"/>
                </a:solidFill>
              </a:defRPr>
            </a:lvl7pPr>
            <a:lvl8pPr>
              <a:defRPr sz="1875" b="1">
                <a:solidFill>
                  <a:srgbClr val="72D4C1"/>
                </a:solidFill>
              </a:defRPr>
            </a:lvl8pPr>
            <a:lvl9pPr>
              <a:defRPr sz="1875" b="1">
                <a:solidFill>
                  <a:srgbClr val="72D4C1"/>
                </a:solidFill>
              </a:defRPr>
            </a:lvl9pPr>
          </a:lstStyle>
          <a:p>
            <a:pPr>
              <a:defRPr sz="1875" b="1">
                <a:solidFill>
                  <a:srgbClr val="72D4C1"/>
                </a:solidFill>
              </a:defRPr>
            </a:pPr>
            <a:r>
              <a:rPr>
                <a:latin typeface="Aptos" panose="020B0004020202020204" pitchFamily="34" charset="0"/>
                <a:hlinkClick r:id="rId4"/>
              </a:rPr>
              <a:t>Open the online example ↗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204369-C697-45D6-B028-7DB55218D22A}"/>
              </a:ext>
            </a:extLst>
          </p:cNvPr>
          <p:cNvSpPr>
            <a:spLocks noGrp="1"/>
          </p:cNvSpPr>
          <p:nvPr/>
        </p:nvSpPr>
        <p:spPr>
          <a:xfrm>
            <a:off x="609600" y="6181725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FFFFFF"/>
                </a:solidFill>
              </a:defRPr>
            </a:defPPr>
            <a:lvl1pPr>
              <a:defRPr sz="1725" b="0">
                <a:solidFill>
                  <a:srgbClr val="FFFFFF"/>
                </a:solidFill>
              </a:defRPr>
            </a:lvl1pPr>
            <a:lvl2pPr>
              <a:defRPr sz="1725" b="0">
                <a:solidFill>
                  <a:srgbClr val="FFFFFF"/>
                </a:solidFill>
              </a:defRPr>
            </a:lvl2pPr>
            <a:lvl3pPr>
              <a:defRPr sz="1725" b="0">
                <a:solidFill>
                  <a:srgbClr val="FFFFFF"/>
                </a:solidFill>
              </a:defRPr>
            </a:lvl3pPr>
            <a:lvl4pPr>
              <a:defRPr sz="1725" b="0">
                <a:solidFill>
                  <a:srgbClr val="FFFFFF"/>
                </a:solidFill>
              </a:defRPr>
            </a:lvl4pPr>
            <a:lvl5pPr>
              <a:defRPr sz="1725" b="0">
                <a:solidFill>
                  <a:srgbClr val="FFFFFF"/>
                </a:solidFill>
              </a:defRPr>
            </a:lvl5pPr>
            <a:lvl6pPr>
              <a:defRPr sz="1725" b="0">
                <a:solidFill>
                  <a:srgbClr val="FFFFFF"/>
                </a:solidFill>
              </a:defRPr>
            </a:lvl6pPr>
            <a:lvl7pPr>
              <a:defRPr sz="1725" b="0">
                <a:solidFill>
                  <a:srgbClr val="FFFFFF"/>
                </a:solidFill>
              </a:defRPr>
            </a:lvl7pPr>
            <a:lvl8pPr>
              <a:defRPr sz="1725" b="0">
                <a:solidFill>
                  <a:srgbClr val="FFFFFF"/>
                </a:solidFill>
              </a:defRPr>
            </a:lvl8pPr>
            <a:lvl9pPr>
              <a:defRPr sz="1725" b="0">
                <a:solidFill>
                  <a:srgbClr val="FFFFFF"/>
                </a:solidFill>
              </a:defRPr>
            </a:lvl9pPr>
          </a:lstStyle>
          <a:p>
            <a:pPr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  <a:latin typeface="Aptos" panose="020B0004020202020204" pitchFamily="34" charset="0"/>
              </a:rPr>
              <a:t>Borrow a focused idea for the shader you are already making.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DCFA352-EE26-46E6-B24D-C90D77F17D2B}"/>
              </a:ext>
            </a:extLst>
          </p:cNvPr>
          <p:cNvSpPr>
            <a:spLocks noGrp="1"/>
          </p:cNvSpPr>
          <p:nvPr/>
        </p:nvSpPr>
        <p:spPr>
          <a:xfrm>
            <a:off x="11049000" y="6457950"/>
            <a:ext cx="6667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19B</a:t>
            </a:r>
          </a:p>
        </p:txBody>
      </p:sp>
    </p:spTree>
    <p:extLst>
      <p:ext uri="{BB962C8B-B14F-4D97-AF65-F5344CB8AC3E}">
        <p14:creationId xmlns:p14="http://schemas.microsoft.com/office/powerpoint/2010/main" val="6201087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lang="en-US" sz="1350" b="1">
                <a:solidFill>
                  <a:srgbClr val="FFCA78"/>
                </a:solidFill>
                <a:latin typeface="Aptos" panose="020B0004020202020204" pitchFamily="34" charset="0"/>
              </a:rPr>
              <a:t>OPTIONAL REFERENCE</a:t>
            </a:r>
            <a:endParaRPr sz="1350" b="1">
              <a:solidFill>
                <a:srgbClr val="FFCA78"/>
              </a:solidFill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lang="en-US" sz="3000" b="1">
                <a:solidFill>
                  <a:srgbClr val="FFFFFF"/>
                </a:solidFill>
                <a:latin typeface="Aptos" panose="020B0004020202020204" pitchFamily="34" charset="0"/>
              </a:rPr>
              <a:t>Interior depth and glass response</a:t>
            </a:r>
            <a:endParaRPr sz="3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lang="en-US" sz="1200" b="0">
                <a:solidFill>
                  <a:srgbClr val="C4D3E3"/>
                </a:solidFill>
                <a:latin typeface="Aptos" panose="020B0004020202020204" pitchFamily="34" charset="0"/>
              </a:rPr>
              <a:t>20A</a:t>
            </a:r>
            <a:endParaRPr sz="1200" b="0">
              <a:solidFill>
                <a:srgbClr val="C4D3E3"/>
              </a:solidFill>
              <a:latin typeface="Aptos" panose="020B0004020202020204" pitchFamily="34" charset="0"/>
            </a:endParaRPr>
          </a:p>
        </p:txBody>
      </p:sp>
      <p:pic>
        <p:nvPicPr>
          <p:cNvPr id="15" name="Picture 11" descr="Current Unreal gallery, reference 24; native 3840 x 2160 capture.">
            <a:extLst>
              <a:ext uri="{FF2B5EF4-FFF2-40B4-BE49-F238E27FC236}">
                <a16:creationId xmlns:a16="http://schemas.microsoft.com/office/drawing/2014/main" id="{49F3D4DA-C493-94D2-76EE-20381551134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0" t="15000" r="8000" b="1000"/>
          <a:stretch>
            <a:fillRect/>
          </a:stretch>
        </p:blipFill>
        <p:spPr>
          <a:xfrm>
            <a:off x="698500" y="1968500"/>
            <a:ext cx="7112000" cy="40005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6994F25-410A-04C7-62D8-D31494DC5876}"/>
              </a:ext>
            </a:extLst>
          </p:cNvPr>
          <p:cNvSpPr txBox="1"/>
          <p:nvPr/>
        </p:nvSpPr>
        <p:spPr>
          <a:xfrm>
            <a:off x="8191500" y="2222500"/>
            <a:ext cx="3365500" cy="2554545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Interior mapping</a:t>
            </a:r>
          </a:p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View direction samples a virtual room on a flat plane.</a:t>
            </a:r>
          </a:p>
          <a:p>
            <a:endParaRPr lang="en-US" sz="2000">
              <a:solidFill>
                <a:srgbClr val="FFFFFF"/>
              </a:solidFill>
              <a:latin typeface="Aptos" panose="020B0004020202020204" pitchFamily="34" charset="0"/>
            </a:endParaRPr>
          </a:p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Glass layer</a:t>
            </a:r>
          </a:p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Compare clear, frosted and patterned surfaces over that same room.</a:t>
            </a:r>
          </a:p>
        </p:txBody>
      </p:sp>
    </p:spTree>
    <p:extLst>
      <p:ext uri="{BB962C8B-B14F-4D97-AF65-F5344CB8AC3E}">
        <p14:creationId xmlns:p14="http://schemas.microsoft.com/office/powerpoint/2010/main" val="6751851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lang="en-US" sz="1350" b="1">
                <a:solidFill>
                  <a:srgbClr val="FFCA78"/>
                </a:solidFill>
                <a:latin typeface="Aptos" panose="020B0004020202020204" pitchFamily="34" charset="0"/>
              </a:rPr>
              <a:t>OPTIONAL REFERENCE</a:t>
            </a:r>
            <a:endParaRPr sz="1350" b="1">
              <a:solidFill>
                <a:srgbClr val="FFCA78"/>
              </a:solidFill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lang="en-US" sz="3000" b="1">
                <a:solidFill>
                  <a:srgbClr val="FFFFFF"/>
                </a:solidFill>
                <a:latin typeface="Aptos" panose="020B0004020202020204" pitchFamily="34" charset="0"/>
              </a:rPr>
              <a:t>A portable ShaderToy example</a:t>
            </a:r>
            <a:endParaRPr sz="3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lang="en-US" sz="1200" b="0">
                <a:solidFill>
                  <a:srgbClr val="C4D3E3"/>
                </a:solidFill>
                <a:latin typeface="Aptos" panose="020B0004020202020204" pitchFamily="34" charset="0"/>
              </a:rPr>
              <a:t>20B</a:t>
            </a:r>
            <a:endParaRPr sz="1200" b="0">
              <a:solidFill>
                <a:srgbClr val="C4D3E3"/>
              </a:solidFill>
              <a:latin typeface="Aptos" panose="020B0004020202020204" pitchFamily="34" charset="0"/>
            </a:endParaRPr>
          </a:p>
        </p:txBody>
      </p:sp>
      <p:pic>
        <p:nvPicPr>
          <p:cNvPr id="15" name="Picture 11" descr="Current Unreal gallery, reference 25; native 3840 x 2160 capture.">
            <a:extLst>
              <a:ext uri="{FF2B5EF4-FFF2-40B4-BE49-F238E27FC236}">
                <a16:creationId xmlns:a16="http://schemas.microsoft.com/office/drawing/2014/main" id="{36AAC1AA-40A9-6A2C-01F6-2464DEC3A0E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00" t="15000" r="8000" b="1000"/>
          <a:stretch>
            <a:fillRect/>
          </a:stretch>
        </p:blipFill>
        <p:spPr>
          <a:xfrm>
            <a:off x="698500" y="1968500"/>
            <a:ext cx="7112000" cy="4000500"/>
          </a:xfrm>
          <a:prstGeom prst="rect">
            <a:avLst/>
          </a:prstGeom>
        </p:spPr>
      </p:pic>
      <p:sp>
        <p:nvSpPr>
          <p:cNvPr id="13" name="TextBox 12">
            <a:hlinkClick r:id="rId4"/>
            <a:extLst>
              <a:ext uri="{FF2B5EF4-FFF2-40B4-BE49-F238E27FC236}">
                <a16:creationId xmlns:a16="http://schemas.microsoft.com/office/drawing/2014/main" id="{AD8E6D49-6154-1EE2-CD80-D2CB607EFD80}"/>
              </a:ext>
            </a:extLst>
          </p:cNvPr>
          <p:cNvSpPr txBox="1"/>
          <p:nvPr/>
        </p:nvSpPr>
        <p:spPr>
          <a:xfrm>
            <a:off x="8191500" y="2159000"/>
            <a:ext cx="3365500" cy="2862322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Star Nest</a:t>
            </a:r>
          </a:p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One Image pass; no textures or feedback buffers.</a:t>
            </a:r>
          </a:p>
          <a:p>
            <a:endParaRPr lang="en-US" sz="2000">
              <a:solidFill>
                <a:srgbClr val="FFFFFF"/>
              </a:solidFill>
              <a:latin typeface="Aptos" panose="020B0004020202020204" pitchFamily="34" charset="0"/>
            </a:endParaRPr>
          </a:p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UV + time → HLSL Custom node → Emissive</a:t>
            </a:r>
          </a:p>
          <a:p>
            <a:endParaRPr lang="en-US" sz="2000">
              <a:solidFill>
                <a:srgbClr val="FFFFFF"/>
              </a:solidFill>
              <a:latin typeface="Aptos" panose="020B0004020202020204" pitchFamily="34" charset="0"/>
            </a:endParaRPr>
          </a:p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Compare 8 and 20 steps at the same frozen time.</a:t>
            </a:r>
          </a:p>
        </p:txBody>
      </p:sp>
    </p:spTree>
    <p:extLst>
      <p:ext uri="{BB962C8B-B14F-4D97-AF65-F5344CB8AC3E}">
        <p14:creationId xmlns:p14="http://schemas.microsoft.com/office/powerpoint/2010/main" val="39980232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lang="en-US" sz="1350" b="1">
                <a:solidFill>
                  <a:srgbClr val="FFCA78"/>
                </a:solidFill>
                <a:latin typeface="Aptos" panose="020B0004020202020204" pitchFamily="34" charset="0"/>
              </a:rPr>
              <a:t>OPTIONAL REFERENCE</a:t>
            </a:r>
            <a:endParaRPr sz="1350" b="1">
              <a:solidFill>
                <a:srgbClr val="FFCA78"/>
              </a:solidFill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lang="en-US" sz="3000" b="1">
                <a:solidFill>
                  <a:srgbClr val="FFFFFF"/>
                </a:solidFill>
                <a:latin typeface="Aptos" panose="020B0004020202020204" pitchFamily="34" charset="0"/>
              </a:rPr>
              <a:t>GLSL → HLSL → Unreal Material</a:t>
            </a:r>
            <a:endParaRPr sz="3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lang="en-US" sz="1200" b="0">
                <a:solidFill>
                  <a:srgbClr val="C4D3E3"/>
                </a:solidFill>
                <a:latin typeface="Aptos" panose="020B0004020202020204" pitchFamily="34" charset="0"/>
              </a:rPr>
              <a:t>20C</a:t>
            </a:r>
            <a:endParaRPr sz="1200" b="0">
              <a:solidFill>
                <a:srgbClr val="C4D3E3"/>
              </a:solidFill>
              <a:latin typeface="Aptos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757892-CCBF-3747-0CCF-193E49F112DF}"/>
              </a:ext>
            </a:extLst>
          </p:cNvPr>
          <p:cNvSpPr txBox="1"/>
          <p:nvPr/>
        </p:nvSpPr>
        <p:spPr>
          <a:xfrm>
            <a:off x="698500" y="2095500"/>
            <a:ext cx="10795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300">
                <a:solidFill>
                  <a:srgbClr val="C0C0C0"/>
                </a:solidFill>
                <a:latin typeface="Aptos" panose="020B0004020202020204" pitchFamily="34" charset="0"/>
              </a:rPr>
              <a:t>01  Recreate the inputs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7E9188-6641-D2DB-C138-BE0E53C6A41B}"/>
              </a:ext>
            </a:extLst>
          </p:cNvPr>
          <p:cNvSpPr txBox="1"/>
          <p:nvPr/>
        </p:nvSpPr>
        <p:spPr>
          <a:xfrm>
            <a:off x="698500" y="2603500"/>
            <a:ext cx="10795000" cy="40011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fragCoord / iResolution → UV; iTime → Time; mouse → parameters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1BDCC0-B744-9D50-E1B7-2F449D36016A}"/>
              </a:ext>
            </a:extLst>
          </p:cNvPr>
          <p:cNvSpPr txBox="1"/>
          <p:nvPr/>
        </p:nvSpPr>
        <p:spPr>
          <a:xfrm>
            <a:off x="698500" y="3492500"/>
            <a:ext cx="10795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300">
                <a:solidFill>
                  <a:srgbClr val="C0C0C0"/>
                </a:solidFill>
                <a:latin typeface="Aptos" panose="020B0004020202020204" pitchFamily="34" charset="0"/>
              </a:rPr>
              <a:t>02  Translate the operations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E3CDFB-1642-5110-3644-418572CEEA98}"/>
              </a:ext>
            </a:extLst>
          </p:cNvPr>
          <p:cNvSpPr txBox="1"/>
          <p:nvPr/>
        </p:nvSpPr>
        <p:spPr>
          <a:xfrm>
            <a:off x="698500" y="4000500"/>
            <a:ext cx="10795000" cy="40011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vec3 → float3; mix → lerp; fract → frac; verify mod and matrix order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E3834E-7169-B226-CE31-D621CFD57861}"/>
              </a:ext>
            </a:extLst>
          </p:cNvPr>
          <p:cNvSpPr txBox="1"/>
          <p:nvPr/>
        </p:nvSpPr>
        <p:spPr>
          <a:xfrm>
            <a:off x="698500" y="4889500"/>
            <a:ext cx="10795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300">
                <a:solidFill>
                  <a:srgbClr val="C0C0C0"/>
                </a:solidFill>
                <a:latin typeface="Aptos" panose="020B0004020202020204" pitchFamily="34" charset="0"/>
              </a:rPr>
              <a:t>03  Compare before adding controls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635AA6-9E94-7203-61EC-E90BF1E1381C}"/>
              </a:ext>
            </a:extLst>
          </p:cNvPr>
          <p:cNvSpPr txBox="1"/>
          <p:nvPr/>
        </p:nvSpPr>
        <p:spPr>
          <a:xfrm>
            <a:off x="698500" y="5397500"/>
            <a:ext cx="10795000" cy="40011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000">
                <a:solidFill>
                  <a:srgbClr val="FFFFFF"/>
                </a:solidFill>
                <a:latin typeface="Aptos" panose="020B0004020202020204" pitchFamily="34" charset="0"/>
              </a:rPr>
              <a:t>Match time, aspect and UV direction. Check output, then profile GPU cost.</a:t>
            </a:r>
          </a:p>
        </p:txBody>
      </p:sp>
    </p:spTree>
    <p:extLst>
      <p:ext uri="{BB962C8B-B14F-4D97-AF65-F5344CB8AC3E}">
        <p14:creationId xmlns:p14="http://schemas.microsoft.com/office/powerpoint/2010/main" val="194650522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lang="en-US" sz="1350" b="1">
                <a:solidFill>
                  <a:srgbClr val="FFCA78"/>
                </a:solidFill>
                <a:latin typeface="Aptos" panose="020B0004020202020204" pitchFamily="34" charset="0"/>
              </a:rPr>
              <a:t>OPTIONAL REFERENCE</a:t>
            </a:r>
            <a:endParaRPr sz="1350" b="1">
              <a:solidFill>
                <a:srgbClr val="FFCA78"/>
              </a:solidFill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lang="en-US" sz="3000" b="1">
                <a:solidFill>
                  <a:srgbClr val="FFFFFF"/>
                </a:solidFill>
                <a:latin typeface="Aptos" panose="020B0004020202020204" pitchFamily="34" charset="0"/>
              </a:rPr>
              <a:t>Shader ideas to build on</a:t>
            </a:r>
            <a:endParaRPr sz="30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lang="en-US" sz="1200" b="0">
                <a:solidFill>
                  <a:srgbClr val="C4D3E3"/>
                </a:solidFill>
                <a:latin typeface="Aptos" panose="020B0004020202020204" pitchFamily="34" charset="0"/>
              </a:rPr>
              <a:t>20D</a:t>
            </a:r>
            <a:endParaRPr sz="1200" b="0">
              <a:solidFill>
                <a:srgbClr val="C4D3E3"/>
              </a:solidFill>
              <a:latin typeface="Aptos" panose="020B0004020202020204" pitchFamily="34" charset="0"/>
            </a:endParaRPr>
          </a:p>
        </p:txBody>
      </p:sp>
      <p:pic>
        <p:nvPicPr>
          <p:cNvPr id="12" name="Picture 11">
            <a:hlinkClick r:id="rId3"/>
            <a:extLst>
              <a:ext uri="{FF2B5EF4-FFF2-40B4-BE49-F238E27FC236}">
                <a16:creationId xmlns:a16="http://schemas.microsoft.com/office/drawing/2014/main" id="{08DEB568-8752-C3AE-B352-319F33FA8F18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2095500"/>
            <a:ext cx="2540000" cy="142875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6647EA1-4D25-6648-0AF9-2E8D7BA93691}"/>
              </a:ext>
            </a:extLst>
          </p:cNvPr>
          <p:cNvSpPr txBox="1"/>
          <p:nvPr/>
        </p:nvSpPr>
        <p:spPr>
          <a:xfrm>
            <a:off x="698500" y="3759200"/>
            <a:ext cx="2540000" cy="461665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400">
                <a:solidFill>
                  <a:srgbClr val="FFFFFF"/>
                </a:solidFill>
                <a:latin typeface="Aptos" panose="020B0004020202020204" pitchFamily="34" charset="0"/>
              </a:rPr>
              <a:t>Lava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93D843-EFCB-0F88-79B2-B9FB1F16A1B7}"/>
              </a:ext>
            </a:extLst>
          </p:cNvPr>
          <p:cNvSpPr txBox="1"/>
          <p:nvPr/>
        </p:nvSpPr>
        <p:spPr>
          <a:xfrm>
            <a:off x="698500" y="4356100"/>
            <a:ext cx="2540000" cy="92333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Crack mask + emissive</a:t>
            </a:r>
          </a:p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Try a controlled heat pulse.</a:t>
            </a:r>
          </a:p>
        </p:txBody>
      </p:sp>
      <p:pic>
        <p:nvPicPr>
          <p:cNvPr id="16" name="Picture 15">
            <a:hlinkClick r:id="rId5"/>
            <a:extLst>
              <a:ext uri="{FF2B5EF4-FFF2-40B4-BE49-F238E27FC236}">
                <a16:creationId xmlns:a16="http://schemas.microsoft.com/office/drawing/2014/main" id="{05C47F5B-6578-5421-5BE5-0A56B9BF1782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0" y="2095500"/>
            <a:ext cx="2540000" cy="142875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44DC735-5F40-06F0-ED8B-10C8E3A49C6E}"/>
              </a:ext>
            </a:extLst>
          </p:cNvPr>
          <p:cNvSpPr txBox="1"/>
          <p:nvPr/>
        </p:nvSpPr>
        <p:spPr>
          <a:xfrm>
            <a:off x="3454400" y="3759200"/>
            <a:ext cx="2540000" cy="461665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400">
                <a:solidFill>
                  <a:srgbClr val="FFFFFF"/>
                </a:solidFill>
                <a:latin typeface="Aptos" panose="020B0004020202020204" pitchFamily="34" charset="0"/>
              </a:rPr>
              <a:t>Aurora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8FCFEB-B571-B743-9C4D-81D7428D85CD}"/>
              </a:ext>
            </a:extLst>
          </p:cNvPr>
          <p:cNvSpPr txBox="1"/>
          <p:nvPr/>
        </p:nvSpPr>
        <p:spPr>
          <a:xfrm>
            <a:off x="3454400" y="4356100"/>
            <a:ext cx="2540000" cy="646331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Noise + color gradient</a:t>
            </a:r>
          </a:p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Animate one ribbon.</a:t>
            </a:r>
          </a:p>
        </p:txBody>
      </p:sp>
      <p:pic>
        <p:nvPicPr>
          <p:cNvPr id="20" name="Picture 19">
            <a:hlinkClick r:id="rId7"/>
            <a:extLst>
              <a:ext uri="{FF2B5EF4-FFF2-40B4-BE49-F238E27FC236}">
                <a16:creationId xmlns:a16="http://schemas.microsoft.com/office/drawing/2014/main" id="{305A78A4-D884-892C-7D71-B6EDBD2F624B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300" y="2095500"/>
            <a:ext cx="2540000" cy="142875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6BFC016-A234-28A8-23F6-B0792943A3D9}"/>
              </a:ext>
            </a:extLst>
          </p:cNvPr>
          <p:cNvSpPr txBox="1"/>
          <p:nvPr/>
        </p:nvSpPr>
        <p:spPr>
          <a:xfrm>
            <a:off x="6210300" y="3759200"/>
            <a:ext cx="2540000" cy="461665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400">
                <a:solidFill>
                  <a:srgbClr val="FFFFFF"/>
                </a:solidFill>
                <a:latin typeface="Aptos" panose="020B0004020202020204" pitchFamily="34" charset="0"/>
              </a:rPr>
              <a:t>VHS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25D4D4-B1FC-A43B-247C-4BBA7C8DD34A}"/>
              </a:ext>
            </a:extLst>
          </p:cNvPr>
          <p:cNvSpPr txBox="1"/>
          <p:nvPr/>
        </p:nvSpPr>
        <p:spPr>
          <a:xfrm>
            <a:off x="6210300" y="4356100"/>
            <a:ext cx="2540000" cy="92333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Screen-space distortion</a:t>
            </a:r>
          </a:p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Expose one intensity control.</a:t>
            </a:r>
          </a:p>
        </p:txBody>
      </p:sp>
      <p:pic>
        <p:nvPicPr>
          <p:cNvPr id="24" name="Picture 23">
            <a:hlinkClick r:id="rId9"/>
            <a:extLst>
              <a:ext uri="{FF2B5EF4-FFF2-40B4-BE49-F238E27FC236}">
                <a16:creationId xmlns:a16="http://schemas.microsoft.com/office/drawing/2014/main" id="{605157D7-3154-6F52-BF09-B739F65098AE}"/>
              </a:ext>
            </a:extLst>
          </p:cNvPr>
          <p:cNvPicPr>
            <a:picLocks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6200" y="2095500"/>
            <a:ext cx="2540000" cy="142875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0A358E04-31C3-4880-903A-5F5A6FAF13C5}"/>
              </a:ext>
            </a:extLst>
          </p:cNvPr>
          <p:cNvSpPr txBox="1"/>
          <p:nvPr/>
        </p:nvSpPr>
        <p:spPr>
          <a:xfrm>
            <a:off x="8966200" y="3759200"/>
            <a:ext cx="2540000" cy="461665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sz="2400">
                <a:solidFill>
                  <a:srgbClr val="FFFFFF"/>
                </a:solidFill>
                <a:latin typeface="Aptos" panose="020B0004020202020204" pitchFamily="34" charset="0"/>
              </a:rPr>
              <a:t>Vines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024260C-1538-3013-D196-ABAAA1056999}"/>
              </a:ext>
            </a:extLst>
          </p:cNvPr>
          <p:cNvSpPr txBox="1"/>
          <p:nvPr/>
        </p:nvSpPr>
        <p:spPr>
          <a:xfrm>
            <a:off x="8966200" y="4356100"/>
            <a:ext cx="2540000" cy="646331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Decal + coverage mask</a:t>
            </a:r>
          </a:p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Reveal or recolor a patch.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6568080-D360-9AEC-33B9-4A2669EA818A}"/>
              </a:ext>
            </a:extLst>
          </p:cNvPr>
          <p:cNvSpPr txBox="1"/>
          <p:nvPr/>
        </p:nvSpPr>
        <p:spPr>
          <a:xfrm>
            <a:off x="698500" y="5905500"/>
            <a:ext cx="10795000" cy="369332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>
                <a:solidFill>
                  <a:srgbClr val="FFFFFF"/>
                </a:solidFill>
                <a:latin typeface="Aptos" panose="020B0004020202020204" pitchFamily="34" charset="0"/>
              </a:rPr>
              <a:t>Outside examples · click an image to explore. Extend your existing shader if it helps.</a:t>
            </a:r>
          </a:p>
        </p:txBody>
      </p:sp>
    </p:spTree>
    <p:extLst>
      <p:ext uri="{BB962C8B-B14F-4D97-AF65-F5344CB8AC3E}">
        <p14:creationId xmlns:p14="http://schemas.microsoft.com/office/powerpoint/2010/main" val="277862227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193</TotalTime>
  <Words>12253</Words>
  <Application>Microsoft Office PowerPoint</Application>
  <DocSecurity>0</DocSecurity>
  <PresentationFormat>Widescreen</PresentationFormat>
  <Paragraphs>749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4" baseType="lpstr">
      <vt:lpstr>Aptos</vt:lpstr>
      <vt:lpstr>Century Gothic</vt:lpstr>
      <vt:lpstr>Wingdings 3</vt:lpstr>
      <vt:lpstr>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cp:revision>14</cp:revision>
  <dcterms:created xsi:type="dcterms:W3CDTF">2026-10-29T15:29:24Z</dcterms:created>
  <dcterms:modified xsi:type="dcterms:W3CDTF">2026-10-29T18:48:37Z</dcterms:modified>
</cp:coreProperties>
</file>