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5" r:id="rId1"/>
  </p:sldMasterIdLst>
  <p:notesMasterIdLst>
    <p:notesMasterId r:id="rId4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2760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18226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12979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19269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27482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3653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09016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90759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5164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92528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927788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774728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11898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92003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30242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15696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5714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472460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56" r:id="rId1"/>
    <p:sldLayoutId id="2147483657" r:id="rId2"/>
    <p:sldLayoutId id="2147483658" r:id="rId3"/>
    <p:sldLayoutId id="2147483659" r:id="rId4"/>
    <p:sldLayoutId id="2147483660" r:id="rId5"/>
    <p:sldLayoutId id="2147483661" r:id="rId6"/>
    <p:sldLayoutId id="2147483662" r:id="rId7"/>
    <p:sldLayoutId id="2147483663" r:id="rId8"/>
    <p:sldLayoutId id="2147483664" r:id="rId9"/>
    <p:sldLayoutId id="2147483665" r:id="rId10"/>
    <p:sldLayoutId id="2147483666" r:id="rId11"/>
    <p:sldLayoutId id="2147483667" r:id="rId12"/>
    <p:sldLayoutId id="2147483668" r:id="rId13"/>
    <p:sldLayoutId id="2147483669" r:id="rId14"/>
    <p:sldLayoutId id="2147483670" r:id="rId15"/>
    <p:sldLayoutId id="2147483671" r:id="rId16"/>
    <p:sldLayoutId id="2147483672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jpeg"/><Relationship Id="rId4" Type="http://schemas.openxmlformats.org/officeDocument/2006/relationships/image" Target="../media/image9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e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youtube.com/watch?v=BCj4TC5oMSI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youtube.com/watch?v=5MO65-P6nm8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techarthub.com/the-anatomy-of-an-unreal-engine-master-material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74200A9-9550-41A1-8C75-B25A813EC87B}"/>
              </a:ext>
            </a:extLst>
          </p:cNvPr>
          <p:cNvSpPr>
            <a:spLocks noGrp="1"/>
          </p:cNvSpPr>
          <p:nvPr/>
        </p:nvSpPr>
        <p:spPr>
          <a:xfrm>
            <a:off x="609600" y="609600"/>
            <a:ext cx="38100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62DFF5"/>
                </a:solidFill>
              </a:defRPr>
            </a:defPPr>
            <a:lvl1pPr>
              <a:defRPr sz="1650" b="1">
                <a:solidFill>
                  <a:srgbClr val="62DFF5"/>
                </a:solidFill>
              </a:defRPr>
            </a:lvl1pPr>
            <a:lvl2pPr>
              <a:defRPr sz="1650" b="1">
                <a:solidFill>
                  <a:srgbClr val="62DFF5"/>
                </a:solidFill>
              </a:defRPr>
            </a:lvl2pPr>
            <a:lvl3pPr>
              <a:defRPr sz="1650" b="1">
                <a:solidFill>
                  <a:srgbClr val="62DFF5"/>
                </a:solidFill>
              </a:defRPr>
            </a:lvl3pPr>
            <a:lvl4pPr>
              <a:defRPr sz="1650" b="1">
                <a:solidFill>
                  <a:srgbClr val="62DFF5"/>
                </a:solidFill>
              </a:defRPr>
            </a:lvl4pPr>
            <a:lvl5pPr>
              <a:defRPr sz="1650" b="1">
                <a:solidFill>
                  <a:srgbClr val="62DFF5"/>
                </a:solidFill>
              </a:defRPr>
            </a:lvl5pPr>
            <a:lvl6pPr>
              <a:defRPr sz="1650" b="1">
                <a:solidFill>
                  <a:srgbClr val="62DFF5"/>
                </a:solidFill>
              </a:defRPr>
            </a:lvl6pPr>
            <a:lvl7pPr>
              <a:defRPr sz="1650" b="1">
                <a:solidFill>
                  <a:srgbClr val="62DFF5"/>
                </a:solidFill>
              </a:defRPr>
            </a:lvl7pPr>
            <a:lvl8pPr>
              <a:defRPr sz="1650" b="1">
                <a:solidFill>
                  <a:srgbClr val="62DFF5"/>
                </a:solidFill>
              </a:defRPr>
            </a:lvl8pPr>
            <a:lvl9pPr>
              <a:defRPr sz="1650" b="1">
                <a:solidFill>
                  <a:srgbClr val="62DFF5"/>
                </a:solidFill>
              </a:defRPr>
            </a:lvl9pPr>
          </a:lstStyle>
          <a:p>
            <a:pPr>
              <a:defRPr sz="1650" b="1">
                <a:solidFill>
                  <a:srgbClr val="62DFF5"/>
                </a:solidFill>
              </a:defRPr>
            </a:pPr>
            <a:r>
              <a:rPr sz="1650" b="1">
                <a:solidFill>
                  <a:srgbClr val="62DFF5"/>
                </a:solidFill>
                <a:latin typeface="Aptos" panose="020B0004020202020204" pitchFamily="34" charset="0"/>
              </a:rPr>
              <a:t>WEEK 9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628021C-FA91-49D4-8CA9-5003F154413B}"/>
              </a:ext>
            </a:extLst>
          </p:cNvPr>
          <p:cNvSpPr>
            <a:spLocks noGrp="1"/>
          </p:cNvSpPr>
          <p:nvPr/>
        </p:nvSpPr>
        <p:spPr>
          <a:xfrm>
            <a:off x="609600" y="2019300"/>
            <a:ext cx="5429250" cy="1714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4350" b="1">
                <a:solidFill>
                  <a:srgbClr val="F1F7FF"/>
                </a:solidFill>
              </a:defRPr>
            </a:defPPr>
            <a:lvl1pPr>
              <a:defRPr sz="4350" b="1">
                <a:solidFill>
                  <a:srgbClr val="F1F7FF"/>
                </a:solidFill>
              </a:defRPr>
            </a:lvl1pPr>
            <a:lvl2pPr>
              <a:defRPr sz="4350" b="1">
                <a:solidFill>
                  <a:srgbClr val="F1F7FF"/>
                </a:solidFill>
              </a:defRPr>
            </a:lvl2pPr>
            <a:lvl3pPr>
              <a:defRPr sz="4350" b="1">
                <a:solidFill>
                  <a:srgbClr val="F1F7FF"/>
                </a:solidFill>
              </a:defRPr>
            </a:lvl3pPr>
            <a:lvl4pPr>
              <a:defRPr sz="4350" b="1">
                <a:solidFill>
                  <a:srgbClr val="F1F7FF"/>
                </a:solidFill>
              </a:defRPr>
            </a:lvl4pPr>
            <a:lvl5pPr>
              <a:defRPr sz="4350" b="1">
                <a:solidFill>
                  <a:srgbClr val="F1F7FF"/>
                </a:solidFill>
              </a:defRPr>
            </a:lvl5pPr>
            <a:lvl6pPr>
              <a:defRPr sz="4350" b="1">
                <a:solidFill>
                  <a:srgbClr val="F1F7FF"/>
                </a:solidFill>
              </a:defRPr>
            </a:lvl6pPr>
            <a:lvl7pPr>
              <a:defRPr sz="4350" b="1">
                <a:solidFill>
                  <a:srgbClr val="F1F7FF"/>
                </a:solidFill>
              </a:defRPr>
            </a:lvl7pPr>
            <a:lvl8pPr>
              <a:defRPr sz="4350" b="1">
                <a:solidFill>
                  <a:srgbClr val="F1F7FF"/>
                </a:solidFill>
              </a:defRPr>
            </a:lvl8pPr>
            <a:lvl9pPr>
              <a:defRPr sz="4350" b="1">
                <a:solidFill>
                  <a:srgbClr val="F1F7FF"/>
                </a:solidFill>
              </a:defRPr>
            </a:lvl9pPr>
          </a:lstStyle>
          <a:p>
            <a:pPr>
              <a:defRPr sz="4350" b="1">
                <a:solidFill>
                  <a:srgbClr val="F1F7FF"/>
                </a:solidFill>
              </a:defRPr>
            </a:pPr>
            <a:r>
              <a:rPr sz="4350" b="1">
                <a:solidFill>
                  <a:srgbClr val="F1F7FF"/>
                </a:solidFill>
                <a:latin typeface="Aptos" panose="020B0004020202020204" pitchFamily="34" charset="0"/>
              </a:rPr>
              <a:t>Shaders and</a:t>
            </a:r>
          </a:p>
          <a:p>
            <a:pPr>
              <a:defRPr sz="4350" b="1">
                <a:solidFill>
                  <a:srgbClr val="F1F7FF"/>
                </a:solidFill>
              </a:defRPr>
            </a:pPr>
            <a:r>
              <a:rPr sz="4350" b="1">
                <a:solidFill>
                  <a:srgbClr val="F1F7FF"/>
                </a:solidFill>
                <a:latin typeface="Aptos" panose="020B0004020202020204" pitchFamily="34" charset="0"/>
              </a:rPr>
              <a:t>material systems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5060B33-6046-4F28-AAA9-8E1E001F066F}"/>
              </a:ext>
            </a:extLst>
          </p:cNvPr>
          <p:cNvSpPr>
            <a:spLocks noGrp="1"/>
          </p:cNvSpPr>
          <p:nvPr/>
        </p:nvSpPr>
        <p:spPr>
          <a:xfrm>
            <a:off x="647700" y="4095750"/>
            <a:ext cx="4762500" cy="1238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C5D7EA"/>
                </a:solidFill>
              </a:defRPr>
            </a:defPPr>
            <a:lvl1pPr>
              <a:defRPr sz="2025" b="0">
                <a:solidFill>
                  <a:srgbClr val="C5D7EA"/>
                </a:solidFill>
              </a:defRPr>
            </a:lvl1pPr>
            <a:lvl2pPr>
              <a:defRPr sz="2025" b="0">
                <a:solidFill>
                  <a:srgbClr val="C5D7EA"/>
                </a:solidFill>
              </a:defRPr>
            </a:lvl2pPr>
            <a:lvl3pPr>
              <a:defRPr sz="2025" b="0">
                <a:solidFill>
                  <a:srgbClr val="C5D7EA"/>
                </a:solidFill>
              </a:defRPr>
            </a:lvl3pPr>
            <a:lvl4pPr>
              <a:defRPr sz="2025" b="0">
                <a:solidFill>
                  <a:srgbClr val="C5D7EA"/>
                </a:solidFill>
              </a:defRPr>
            </a:lvl4pPr>
            <a:lvl5pPr>
              <a:defRPr sz="2025" b="0">
                <a:solidFill>
                  <a:srgbClr val="C5D7EA"/>
                </a:solidFill>
              </a:defRPr>
            </a:lvl5pPr>
            <a:lvl6pPr>
              <a:defRPr sz="2025" b="0">
                <a:solidFill>
                  <a:srgbClr val="C5D7EA"/>
                </a:solidFill>
              </a:defRPr>
            </a:lvl6pPr>
            <a:lvl7pPr>
              <a:defRPr sz="2025" b="0">
                <a:solidFill>
                  <a:srgbClr val="C5D7EA"/>
                </a:solidFill>
              </a:defRPr>
            </a:lvl7pPr>
            <a:lvl8pPr>
              <a:defRPr sz="2025" b="0">
                <a:solidFill>
                  <a:srgbClr val="C5D7EA"/>
                </a:solidFill>
              </a:defRPr>
            </a:lvl8pPr>
            <a:lvl9pPr>
              <a:defRPr sz="2025" b="0">
                <a:solidFill>
                  <a:srgbClr val="C5D7EA"/>
                </a:solidFill>
              </a:defRPr>
            </a:lvl9pPr>
          </a:lstStyle>
          <a:p>
            <a:pPr>
              <a:defRPr sz="2025" b="0">
                <a:solidFill>
                  <a:srgbClr val="C5D7EA"/>
                </a:solidFill>
              </a:defRPr>
            </a:pPr>
            <a:r>
              <a:rPr sz="2025" b="0">
                <a:solidFill>
                  <a:srgbClr val="C5D7EA"/>
                </a:solidFill>
                <a:latin typeface="Aptos" panose="020B0004020202020204" pitchFamily="34" charset="0"/>
              </a:rPr>
              <a:t>Read the surface. Change one control. Explain the result.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DBB3B4-3AB9-45FD-96D9-E697A4F31C26}"/>
              </a:ext>
            </a:extLst>
          </p:cNvPr>
          <p:cNvSpPr>
            <a:spLocks noGrp="1"/>
          </p:cNvSpPr>
          <p:nvPr/>
        </p:nvSpPr>
        <p:spPr>
          <a:xfrm>
            <a:off x="647700" y="5905500"/>
            <a:ext cx="105727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B9CADC"/>
                </a:solidFill>
              </a:defRPr>
            </a:defPPr>
            <a:lvl1pPr>
              <a:defRPr sz="1725" b="0">
                <a:solidFill>
                  <a:srgbClr val="B9CADC"/>
                </a:solidFill>
              </a:defRPr>
            </a:lvl1pPr>
            <a:lvl2pPr>
              <a:defRPr sz="1725" b="0">
                <a:solidFill>
                  <a:srgbClr val="B9CADC"/>
                </a:solidFill>
              </a:defRPr>
            </a:lvl2pPr>
            <a:lvl3pPr>
              <a:defRPr sz="1725" b="0">
                <a:solidFill>
                  <a:srgbClr val="B9CADC"/>
                </a:solidFill>
              </a:defRPr>
            </a:lvl3pPr>
            <a:lvl4pPr>
              <a:defRPr sz="1725" b="0">
                <a:solidFill>
                  <a:srgbClr val="B9CADC"/>
                </a:solidFill>
              </a:defRPr>
            </a:lvl4pPr>
            <a:lvl5pPr>
              <a:defRPr sz="1725" b="0">
                <a:solidFill>
                  <a:srgbClr val="B9CADC"/>
                </a:solidFill>
              </a:defRPr>
            </a:lvl5pPr>
            <a:lvl6pPr>
              <a:defRPr sz="1725" b="0">
                <a:solidFill>
                  <a:srgbClr val="B9CADC"/>
                </a:solidFill>
              </a:defRPr>
            </a:lvl6pPr>
            <a:lvl7pPr>
              <a:defRPr sz="1725" b="0">
                <a:solidFill>
                  <a:srgbClr val="B9CADC"/>
                </a:solidFill>
              </a:defRPr>
            </a:lvl7pPr>
            <a:lvl8pPr>
              <a:defRPr sz="1725" b="0">
                <a:solidFill>
                  <a:srgbClr val="B9CADC"/>
                </a:solidFill>
              </a:defRPr>
            </a:lvl8pPr>
            <a:lvl9pPr>
              <a:defRPr sz="1725" b="0">
                <a:solidFill>
                  <a:srgbClr val="B9CADC"/>
                </a:solidFill>
              </a:defRPr>
            </a:lvl9pPr>
          </a:lstStyle>
          <a:p>
            <a:pPr>
              <a:defRPr sz="1725" b="0">
                <a:solidFill>
                  <a:srgbClr val="B9CADC"/>
                </a:solidFill>
              </a:defRPr>
            </a:pPr>
            <a:r>
              <a:rPr sz="1725" b="0">
                <a:solidFill>
                  <a:srgbClr val="B9CADC"/>
                </a:solidFill>
                <a:latin typeface="Aptos" panose="020B0004020202020204" pitchFamily="34" charset="0"/>
              </a:rPr>
              <a:t>Guest speakers • Finish your shader • Final-project planning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7BF251C-C5B8-450C-BB62-BB2906B22D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191250" y="2146102"/>
            <a:ext cx="5238750" cy="2946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09719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1DD1FA5-6684-4375-8FB0-333B095C2242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WELCOME • 4:30–4:45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DBFAF30-248D-43CA-8F00-9E712DB2DD7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Today’s agenda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C7CAE7-FE0A-4A0C-9846-471C75C57BEE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02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4B7F705-392F-4937-A107-6D0D1DB8487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97699213"/>
              </p:ext>
            </p:extLst>
          </p:nvPr>
        </p:nvGraphicFramePr>
        <p:xfrm>
          <a:off x="609600" y="2000250"/>
          <a:ext cx="10972800" cy="4000500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115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Time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Activity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4:30–4:45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Welcome, agenda, tech setup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4:45–6:00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Guest speakers and questions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6:00–6:15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Break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6:15–6:25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Material systems: quick walkthrough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6:25–6:50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Workshop: finish your original shader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6:50–7:00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Final assignment overview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91321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A673B83-F334-4451-AB44-9677C89E5990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TECH SETUP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C06D489-E497-4624-9C18-4A7F4915703A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Get ready to finish your shader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068422-A94F-40FE-8C35-EFAA77C1005F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03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B2B92C6-07CC-4CEA-B6F6-AFE58321E6D0}"/>
              </a:ext>
            </a:extLst>
          </p:cNvPr>
          <p:cNvSpPr>
            <a:spLocks noGrp="1"/>
          </p:cNvSpPr>
          <p:nvPr/>
        </p:nvSpPr>
        <p:spPr>
          <a:xfrm>
            <a:off x="628650" y="20002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sz="2250" b="1">
                <a:solidFill>
                  <a:srgbClr val="72D4C1"/>
                </a:solidFill>
                <a:latin typeface="Aptos" panose="020B0004020202020204" pitchFamily="34" charset="0"/>
              </a:rPr>
              <a:t>Open your shader project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070D2F-C117-4571-BEA6-EA3B7E3CC3C5}"/>
              </a:ext>
            </a:extLst>
          </p:cNvPr>
          <p:cNvSpPr>
            <a:spLocks noGrp="1"/>
          </p:cNvSpPr>
          <p:nvPr/>
        </p:nvSpPr>
        <p:spPr>
          <a:xfrm>
            <a:off x="628650" y="24574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Keep your Week 8 work ready; Week 9 stations are optional references.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5AE37F-89B4-4723-886F-78735571208C}"/>
              </a:ext>
            </a:extLst>
          </p:cNvPr>
          <p:cNvSpPr>
            <a:spLocks noGrp="1"/>
          </p:cNvSpPr>
          <p:nvPr/>
        </p:nvSpPr>
        <p:spPr>
          <a:xfrm>
            <a:off x="628650" y="33337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sz="2250" b="1">
                <a:solidFill>
                  <a:srgbClr val="72D4C1"/>
                </a:solidFill>
                <a:latin typeface="Aptos" panose="020B0004020202020204" pitchFamily="34" charset="0"/>
              </a:rPr>
              <a:t>Use a reference if helpful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52016A-2A58-4AEC-A9B6-CEF91277AC4E}"/>
              </a:ext>
            </a:extLst>
          </p:cNvPr>
          <p:cNvSpPr>
            <a:spLocks noGrp="1"/>
          </p:cNvSpPr>
          <p:nvPr/>
        </p:nvSpPr>
        <p:spPr>
          <a:xfrm>
            <a:off x="628650" y="37909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In the Outliner, expand ReferenceWing and choose a numbered camera.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DA6087-F051-40A9-B1C0-419FF473AEA1}"/>
              </a:ext>
            </a:extLst>
          </p:cNvPr>
          <p:cNvSpPr>
            <a:spLocks noGrp="1"/>
          </p:cNvSpPr>
          <p:nvPr/>
        </p:nvSpPr>
        <p:spPr>
          <a:xfrm>
            <a:off x="628650" y="46672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sz="2250" b="1">
                <a:solidFill>
                  <a:srgbClr val="72D4C1"/>
                </a:solidFill>
                <a:latin typeface="Aptos" panose="020B0004020202020204" pitchFamily="34" charset="0"/>
              </a:rPr>
              <a:t>Keep a place for your cheat sheet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DA292A-451A-4A0D-B897-B4D97532D248}"/>
              </a:ext>
            </a:extLst>
          </p:cNvPr>
          <p:cNvSpPr>
            <a:spLocks noGrp="1"/>
          </p:cNvSpPr>
          <p:nvPr/>
        </p:nvSpPr>
        <p:spPr>
          <a:xfrm>
            <a:off x="628650" y="51244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Record the control, its meaning, the visible result, and how to reset it.</a:t>
            </a:r>
          </a:p>
        </p:txBody>
      </p:sp>
    </p:spTree>
    <p:extLst>
      <p:ext uri="{BB962C8B-B14F-4D97-AF65-F5344CB8AC3E}">
        <p14:creationId xmlns:p14="http://schemas.microsoft.com/office/powerpoint/2010/main" val="773296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FD76BBA-24B1-4428-B14F-9D76C1A2F7F9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4:45–6:00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8D1DD89-D57F-4141-810C-A82229153EC0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Guest speakers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11CFC8-97A4-4527-8DE9-7B5E7D24647E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04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5EC7BED-34D8-42E8-8EA2-FCECD55DE1B7}"/>
              </a:ext>
            </a:extLst>
          </p:cNvPr>
          <p:cNvSpPr>
            <a:spLocks noGrp="1"/>
          </p:cNvSpPr>
          <p:nvPr/>
        </p:nvSpPr>
        <p:spPr>
          <a:xfrm>
            <a:off x="609600" y="2238375"/>
            <a:ext cx="10477500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850" b="0">
                <a:solidFill>
                  <a:srgbClr val="FFFFFF"/>
                </a:solidFill>
              </a:defRPr>
            </a:defPPr>
            <a:lvl1pPr>
              <a:defRPr sz="2850" b="0">
                <a:solidFill>
                  <a:srgbClr val="FFFFFF"/>
                </a:solidFill>
              </a:defRPr>
            </a:lvl1pPr>
            <a:lvl2pPr>
              <a:defRPr sz="2850" b="0">
                <a:solidFill>
                  <a:srgbClr val="FFFFFF"/>
                </a:solidFill>
              </a:defRPr>
            </a:lvl2pPr>
            <a:lvl3pPr>
              <a:defRPr sz="2850" b="0">
                <a:solidFill>
                  <a:srgbClr val="FFFFFF"/>
                </a:solidFill>
              </a:defRPr>
            </a:lvl3pPr>
            <a:lvl4pPr>
              <a:defRPr sz="2850" b="0">
                <a:solidFill>
                  <a:srgbClr val="FFFFFF"/>
                </a:solidFill>
              </a:defRPr>
            </a:lvl4pPr>
            <a:lvl5pPr>
              <a:defRPr sz="2850" b="0">
                <a:solidFill>
                  <a:srgbClr val="FFFFFF"/>
                </a:solidFill>
              </a:defRPr>
            </a:lvl5pPr>
            <a:lvl6pPr>
              <a:defRPr sz="2850" b="0">
                <a:solidFill>
                  <a:srgbClr val="FFFFFF"/>
                </a:solidFill>
              </a:defRPr>
            </a:lvl6pPr>
            <a:lvl7pPr>
              <a:defRPr sz="2850" b="0">
                <a:solidFill>
                  <a:srgbClr val="FFFFFF"/>
                </a:solidFill>
              </a:defRPr>
            </a:lvl7pPr>
            <a:lvl8pPr>
              <a:defRPr sz="2850" b="0">
                <a:solidFill>
                  <a:srgbClr val="FFFFFF"/>
                </a:solidFill>
              </a:defRPr>
            </a:lvl8pPr>
            <a:lvl9pPr>
              <a:defRPr sz="2850" b="0">
                <a:solidFill>
                  <a:srgbClr val="FFFFFF"/>
                </a:solidFill>
              </a:defRPr>
            </a:lvl9pPr>
          </a:lstStyle>
          <a:p>
            <a:pPr>
              <a:defRPr sz="2850" b="0">
                <a:solidFill>
                  <a:srgbClr val="FFFFFF"/>
                </a:solidFill>
              </a:defRPr>
            </a:pPr>
            <a:r>
              <a:rPr sz="2850" b="0">
                <a:solidFill>
                  <a:srgbClr val="FFFFFF"/>
                </a:solidFill>
                <a:latin typeface="Aptos" panose="020B0004020202020204" pitchFamily="34" charset="0"/>
              </a:rPr>
              <a:t>As you watch, choose one example to unpack.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B78626-165A-4A18-B391-AD34F98097AA}"/>
              </a:ext>
            </a:extLst>
          </p:cNvPr>
          <p:cNvSpPr>
            <a:spLocks noGrp="1"/>
          </p:cNvSpPr>
          <p:nvPr/>
        </p:nvSpPr>
        <p:spPr>
          <a:xfrm>
            <a:off x="628650" y="3476625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sz="2250" b="1">
                <a:solidFill>
                  <a:srgbClr val="72D4C1"/>
                </a:solidFill>
                <a:latin typeface="Aptos" panose="020B0004020202020204" pitchFamily="34" charset="0"/>
              </a:rPr>
              <a:t>What changed?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8CEBF95-860D-4C2B-8DD6-F1D8C938C668}"/>
              </a:ext>
            </a:extLst>
          </p:cNvPr>
          <p:cNvSpPr>
            <a:spLocks noGrp="1"/>
          </p:cNvSpPr>
          <p:nvPr/>
        </p:nvSpPr>
        <p:spPr>
          <a:xfrm>
            <a:off x="628650" y="3933825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Look for the input, the control, and the visible consequence.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750721-C74E-4D21-A3D0-F5478996178D}"/>
              </a:ext>
            </a:extLst>
          </p:cNvPr>
          <p:cNvSpPr>
            <a:spLocks noGrp="1"/>
          </p:cNvSpPr>
          <p:nvPr/>
        </p:nvSpPr>
        <p:spPr>
          <a:xfrm>
            <a:off x="628650" y="533400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sz="2250" b="1">
                <a:solidFill>
                  <a:srgbClr val="72D4C1"/>
                </a:solidFill>
                <a:latin typeface="Aptos" panose="020B0004020202020204" pitchFamily="34" charset="0"/>
              </a:rPr>
              <a:t>Keep one question for discussion.</a:t>
            </a:r>
          </a:p>
        </p:txBody>
      </p:sp>
    </p:spTree>
    <p:extLst>
      <p:ext uri="{BB962C8B-B14F-4D97-AF65-F5344CB8AC3E}">
        <p14:creationId xmlns:p14="http://schemas.microsoft.com/office/powerpoint/2010/main" val="10035342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9DB358C-31A2-4FFB-85E2-958604E8E17F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6:00–6:15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65E9FB2-07B1-4FF6-A0BE-B02DD21DAB90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Break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782DE9-BAAE-450B-9C64-63927A4699B6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05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746454-55CE-45D9-AABB-B65759E3BEF3}"/>
              </a:ext>
            </a:extLst>
          </p:cNvPr>
          <p:cNvSpPr>
            <a:spLocks noGrp="1"/>
          </p:cNvSpPr>
          <p:nvPr/>
        </p:nvSpPr>
        <p:spPr>
          <a:xfrm>
            <a:off x="609600" y="2428875"/>
            <a:ext cx="10477500" cy="1428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6000" b="1">
                <a:solidFill>
                  <a:srgbClr val="72D4C1"/>
                </a:solidFill>
              </a:defRPr>
            </a:defPPr>
            <a:lvl1pPr>
              <a:defRPr sz="6000" b="1">
                <a:solidFill>
                  <a:srgbClr val="72D4C1"/>
                </a:solidFill>
              </a:defRPr>
            </a:lvl1pPr>
            <a:lvl2pPr>
              <a:defRPr sz="6000" b="1">
                <a:solidFill>
                  <a:srgbClr val="72D4C1"/>
                </a:solidFill>
              </a:defRPr>
            </a:lvl2pPr>
            <a:lvl3pPr>
              <a:defRPr sz="6000" b="1">
                <a:solidFill>
                  <a:srgbClr val="72D4C1"/>
                </a:solidFill>
              </a:defRPr>
            </a:lvl3pPr>
            <a:lvl4pPr>
              <a:defRPr sz="6000" b="1">
                <a:solidFill>
                  <a:srgbClr val="72D4C1"/>
                </a:solidFill>
              </a:defRPr>
            </a:lvl4pPr>
            <a:lvl5pPr>
              <a:defRPr sz="6000" b="1">
                <a:solidFill>
                  <a:srgbClr val="72D4C1"/>
                </a:solidFill>
              </a:defRPr>
            </a:lvl5pPr>
            <a:lvl6pPr>
              <a:defRPr sz="6000" b="1">
                <a:solidFill>
                  <a:srgbClr val="72D4C1"/>
                </a:solidFill>
              </a:defRPr>
            </a:lvl6pPr>
            <a:lvl7pPr>
              <a:defRPr sz="6000" b="1">
                <a:solidFill>
                  <a:srgbClr val="72D4C1"/>
                </a:solidFill>
              </a:defRPr>
            </a:lvl7pPr>
            <a:lvl8pPr>
              <a:defRPr sz="6000" b="1">
                <a:solidFill>
                  <a:srgbClr val="72D4C1"/>
                </a:solidFill>
              </a:defRPr>
            </a:lvl8pPr>
            <a:lvl9pPr>
              <a:defRPr sz="6000" b="1">
                <a:solidFill>
                  <a:srgbClr val="72D4C1"/>
                </a:solidFill>
              </a:defRPr>
            </a:lvl9pPr>
          </a:lstStyle>
          <a:p>
            <a:pPr>
              <a:defRPr sz="6000" b="1">
                <a:solidFill>
                  <a:srgbClr val="72D4C1"/>
                </a:solidFill>
              </a:defRPr>
            </a:pPr>
            <a:r>
              <a:rPr sz="6000" b="1">
                <a:solidFill>
                  <a:srgbClr val="72D4C1"/>
                </a:solidFill>
                <a:latin typeface="Aptos" panose="020B0004020202020204" pitchFamily="34" charset="0"/>
              </a:rPr>
              <a:t>Back at 6:15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1717F54-F1D9-49C8-8C55-EA6E2FCD785D}"/>
              </a:ext>
            </a:extLst>
          </p:cNvPr>
          <p:cNvSpPr>
            <a:spLocks noGrp="1"/>
          </p:cNvSpPr>
          <p:nvPr/>
        </p:nvSpPr>
        <p:spPr>
          <a:xfrm>
            <a:off x="628650" y="4476750"/>
            <a:ext cx="10477500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0">
                <a:solidFill>
                  <a:srgbClr val="FFFFFF"/>
                </a:solidFill>
              </a:defRPr>
            </a:defPPr>
            <a:lvl1pPr>
              <a:defRPr sz="2400" b="0">
                <a:solidFill>
                  <a:srgbClr val="FFFFFF"/>
                </a:solidFill>
              </a:defRPr>
            </a:lvl1pPr>
            <a:lvl2pPr>
              <a:defRPr sz="2400" b="0">
                <a:solidFill>
                  <a:srgbClr val="FFFFFF"/>
                </a:solidFill>
              </a:defRPr>
            </a:lvl2pPr>
            <a:lvl3pPr>
              <a:defRPr sz="2400" b="0">
                <a:solidFill>
                  <a:srgbClr val="FFFFFF"/>
                </a:solidFill>
              </a:defRPr>
            </a:lvl3pPr>
            <a:lvl4pPr>
              <a:defRPr sz="2400" b="0">
                <a:solidFill>
                  <a:srgbClr val="FFFFFF"/>
                </a:solidFill>
              </a:defRPr>
            </a:lvl4pPr>
            <a:lvl5pPr>
              <a:defRPr sz="2400" b="0">
                <a:solidFill>
                  <a:srgbClr val="FFFFFF"/>
                </a:solidFill>
              </a:defRPr>
            </a:lvl5pPr>
            <a:lvl6pPr>
              <a:defRPr sz="2400" b="0">
                <a:solidFill>
                  <a:srgbClr val="FFFFFF"/>
                </a:solidFill>
              </a:defRPr>
            </a:lvl6pPr>
            <a:lvl7pPr>
              <a:defRPr sz="2400" b="0">
                <a:solidFill>
                  <a:srgbClr val="FFFFFF"/>
                </a:solidFill>
              </a:defRPr>
            </a:lvl7pPr>
            <a:lvl8pPr>
              <a:defRPr sz="2400" b="0">
                <a:solidFill>
                  <a:srgbClr val="FFFFFF"/>
                </a:solidFill>
              </a:defRPr>
            </a:lvl8pPr>
            <a:lvl9pPr>
              <a:defRPr sz="2400" b="0">
                <a:solidFill>
                  <a:srgbClr val="FFFFFF"/>
                </a:solidFill>
              </a:defRPr>
            </a:lvl9pPr>
          </a:lstStyle>
          <a:p>
            <a:pPr>
              <a:defRPr sz="2400" b="0">
                <a:solidFill>
                  <a:srgbClr val="FFFFFF"/>
                </a:solidFill>
              </a:defRPr>
            </a:pPr>
            <a:r>
              <a:rPr sz="2400" b="0">
                <a:solidFill>
                  <a:srgbClr val="FFFFFF"/>
                </a:solidFill>
                <a:latin typeface="Aptos" panose="020B0004020202020204" pitchFamily="34" charset="0"/>
              </a:rPr>
              <a:t>Next: a quick Unreal walkthrough, then your shader lab.</a:t>
            </a:r>
          </a:p>
        </p:txBody>
      </p:sp>
    </p:spTree>
    <p:extLst>
      <p:ext uri="{BB962C8B-B14F-4D97-AF65-F5344CB8AC3E}">
        <p14:creationId xmlns:p14="http://schemas.microsoft.com/office/powerpoint/2010/main" val="9671496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D20FB99-1C5B-48B5-86DF-DC8142FA2CB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MATERIAL SYSTEMS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EBF5684-4633-465B-B385-96B5946B8592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Material, instance and input data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B02C5C-96F6-480C-B1EE-0F93AC02AA62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06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9D049EB-2A9C-42AA-BA95-72FFF8C20346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572750" cy="619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E0F3F0"/>
                </a:solidFill>
              </a:defRPr>
            </a:defPPr>
            <a:lvl1pPr>
              <a:defRPr sz="1875">
                <a:solidFill>
                  <a:srgbClr val="E0F3F0"/>
                </a:solidFill>
              </a:defRPr>
            </a:lvl1pPr>
            <a:lvl2pPr>
              <a:defRPr sz="1875">
                <a:solidFill>
                  <a:srgbClr val="E0F3F0"/>
                </a:solidFill>
              </a:defRPr>
            </a:lvl2pPr>
            <a:lvl3pPr>
              <a:defRPr sz="1875">
                <a:solidFill>
                  <a:srgbClr val="E0F3F0"/>
                </a:solidFill>
              </a:defRPr>
            </a:lvl3pPr>
            <a:lvl4pPr>
              <a:defRPr sz="1875">
                <a:solidFill>
                  <a:srgbClr val="E0F3F0"/>
                </a:solidFill>
              </a:defRPr>
            </a:lvl4pPr>
            <a:lvl5pPr>
              <a:defRPr sz="1875">
                <a:solidFill>
                  <a:srgbClr val="E0F3F0"/>
                </a:solidFill>
              </a:defRPr>
            </a:lvl5pPr>
            <a:lvl6pPr>
              <a:defRPr sz="1875">
                <a:solidFill>
                  <a:srgbClr val="E0F3F0"/>
                </a:solidFill>
              </a:defRPr>
            </a:lvl6pPr>
            <a:lvl7pPr>
              <a:defRPr sz="1875">
                <a:solidFill>
                  <a:srgbClr val="E0F3F0"/>
                </a:solidFill>
              </a:defRPr>
            </a:lvl7pPr>
            <a:lvl8pPr>
              <a:defRPr sz="1875">
                <a:solidFill>
                  <a:srgbClr val="E0F3F0"/>
                </a:solidFill>
              </a:defRPr>
            </a:lvl8pPr>
            <a:lvl9pPr>
              <a:defRPr sz="1875">
                <a:solidFill>
                  <a:srgbClr val="E0F3F0"/>
                </a:solidFill>
              </a:defRPr>
            </a:lvl9pPr>
          </a:lstStyle>
          <a:p>
            <a:pPr>
              <a:defRPr sz="1875">
                <a:solidFill>
                  <a:srgbClr val="E0F3F0"/>
                </a:solidFill>
              </a:defRPr>
            </a:pPr>
            <a:r>
              <a:rPr sz="1875">
                <a:solidFill>
                  <a:srgbClr val="E0F3F0"/>
                </a:solidFill>
                <a:latin typeface="Aptos" panose="020B0004020202020204" pitchFamily="34" charset="0"/>
              </a:rPr>
              <a:t>An instance changes exposed controls; the parent defines the calculation.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27AF13D-0FCF-088B-091D-E7FB6A4A67A8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857375"/>
            <a:ext cx="10972800" cy="394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192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3B0521B-FA4C-4E5A-A4EB-15E1D5B4E282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SURFACE CONTROLS · MASTER → FUNCTION → INSTANCE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740653D-260F-408E-AC29-ABF212C15BF7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Roughness: graph and artist controls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4B1913-7B87-4B64-B3FA-103BE22EB11F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6A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35EDB33-78B1-4589-907D-BF6CE132E6FF}"/>
              </a:ext>
            </a:extLst>
          </p:cNvPr>
          <p:cNvSpPr>
            <a:spLocks noGrp="1"/>
          </p:cNvSpPr>
          <p:nvPr/>
        </p:nvSpPr>
        <p:spPr>
          <a:xfrm>
            <a:off x="609600" y="1866900"/>
            <a:ext cx="106680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C4D3E3"/>
                </a:solidFill>
              </a:defRPr>
            </a:defPPr>
            <a:lvl1pPr>
              <a:defRPr sz="1875" b="0">
                <a:solidFill>
                  <a:srgbClr val="C4D3E3"/>
                </a:solidFill>
              </a:defRPr>
            </a:lvl1pPr>
            <a:lvl2pPr>
              <a:defRPr sz="1875" b="0">
                <a:solidFill>
                  <a:srgbClr val="C4D3E3"/>
                </a:solidFill>
              </a:defRPr>
            </a:lvl2pPr>
            <a:lvl3pPr>
              <a:defRPr sz="1875" b="0">
                <a:solidFill>
                  <a:srgbClr val="C4D3E3"/>
                </a:solidFill>
              </a:defRPr>
            </a:lvl3pPr>
            <a:lvl4pPr>
              <a:defRPr sz="1875" b="0">
                <a:solidFill>
                  <a:srgbClr val="C4D3E3"/>
                </a:solidFill>
              </a:defRPr>
            </a:lvl4pPr>
            <a:lvl5pPr>
              <a:defRPr sz="1875" b="0">
                <a:solidFill>
                  <a:srgbClr val="C4D3E3"/>
                </a:solidFill>
              </a:defRPr>
            </a:lvl5pPr>
            <a:lvl6pPr>
              <a:defRPr sz="1875" b="0">
                <a:solidFill>
                  <a:srgbClr val="C4D3E3"/>
                </a:solidFill>
              </a:defRPr>
            </a:lvl6pPr>
            <a:lvl7pPr>
              <a:defRPr sz="1875" b="0">
                <a:solidFill>
                  <a:srgbClr val="C4D3E3"/>
                </a:solidFill>
              </a:defRPr>
            </a:lvl7pPr>
            <a:lvl8pPr>
              <a:defRPr sz="1875" b="0">
                <a:solidFill>
                  <a:srgbClr val="C4D3E3"/>
                </a:solidFill>
              </a:defRPr>
            </a:lvl8pPr>
            <a:lvl9pPr>
              <a:defRPr sz="1875" b="0">
                <a:solidFill>
                  <a:srgbClr val="C4D3E3"/>
                </a:solidFill>
              </a:defRPr>
            </a:lvl9pPr>
          </a:lstStyle>
          <a:p>
            <a:pPr>
              <a:defRPr sz="1875" b="0">
                <a:solidFill>
                  <a:srgbClr val="C4D3E3"/>
                </a:solidFill>
              </a:defRPr>
            </a:pPr>
            <a:r>
              <a:rPr sz="1875" b="0">
                <a:solidFill>
                  <a:srgbClr val="C4D3E3"/>
                </a:solidFill>
                <a:latin typeface="Aptos" panose="020B0004020202020204" pitchFamily="34" charset="0"/>
              </a:rPr>
              <a:t>MF_W09_Roughness · active signal path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42CA52-7066-42FA-90AE-E4C7566E6CD1}"/>
              </a:ext>
            </a:extLst>
          </p:cNvPr>
          <p:cNvSpPr>
            <a:spLocks noGrp="1"/>
          </p:cNvSpPr>
          <p:nvPr/>
        </p:nvSpPr>
        <p:spPr>
          <a:xfrm>
            <a:off x="609600" y="2447925"/>
            <a:ext cx="2457450" cy="1257300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4E3DC41-37E7-49EA-A903-4C4ABA9CB3B8}"/>
              </a:ext>
            </a:extLst>
          </p:cNvPr>
          <p:cNvSpPr>
            <a:spLocks noGrp="1"/>
          </p:cNvSpPr>
          <p:nvPr/>
        </p:nvSpPr>
        <p:spPr>
          <a:xfrm>
            <a:off x="800100" y="2581275"/>
            <a:ext cx="207645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Sample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25DF48C-58F9-425C-B803-53D9486C3E3C}"/>
              </a:ext>
            </a:extLst>
          </p:cNvPr>
          <p:cNvSpPr>
            <a:spLocks noGrp="1"/>
          </p:cNvSpPr>
          <p:nvPr/>
        </p:nvSpPr>
        <p:spPr>
          <a:xfrm>
            <a:off x="800100" y="3067050"/>
            <a:ext cx="2076450" cy="5905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R or ORM 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B742D0-772F-402D-9DAB-F81D4F4A2A95}"/>
              </a:ext>
            </a:extLst>
          </p:cNvPr>
          <p:cNvSpPr>
            <a:spLocks noGrp="1"/>
          </p:cNvSpPr>
          <p:nvPr/>
        </p:nvSpPr>
        <p:spPr>
          <a:xfrm>
            <a:off x="3105150" y="2800350"/>
            <a:ext cx="323850" cy="476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1">
                <a:solidFill>
                  <a:srgbClr val="72D4C1"/>
                </a:solidFill>
              </a:defRPr>
            </a:defPPr>
            <a:lvl1pPr>
              <a:defRPr sz="2400" b="1">
                <a:solidFill>
                  <a:srgbClr val="72D4C1"/>
                </a:solidFill>
              </a:defRPr>
            </a:lvl1pPr>
            <a:lvl2pPr>
              <a:defRPr sz="2400" b="1">
                <a:solidFill>
                  <a:srgbClr val="72D4C1"/>
                </a:solidFill>
              </a:defRPr>
            </a:lvl2pPr>
            <a:lvl3pPr>
              <a:defRPr sz="2400" b="1">
                <a:solidFill>
                  <a:srgbClr val="72D4C1"/>
                </a:solidFill>
              </a:defRPr>
            </a:lvl3pPr>
            <a:lvl4pPr>
              <a:defRPr sz="2400" b="1">
                <a:solidFill>
                  <a:srgbClr val="72D4C1"/>
                </a:solidFill>
              </a:defRPr>
            </a:lvl4pPr>
            <a:lvl5pPr>
              <a:defRPr sz="2400" b="1">
                <a:solidFill>
                  <a:srgbClr val="72D4C1"/>
                </a:solidFill>
              </a:defRPr>
            </a:lvl5pPr>
            <a:lvl6pPr>
              <a:defRPr sz="2400" b="1">
                <a:solidFill>
                  <a:srgbClr val="72D4C1"/>
                </a:solidFill>
              </a:defRPr>
            </a:lvl6pPr>
            <a:lvl7pPr>
              <a:defRPr sz="2400" b="1">
                <a:solidFill>
                  <a:srgbClr val="72D4C1"/>
                </a:solidFill>
              </a:defRPr>
            </a:lvl7pPr>
            <a:lvl8pPr>
              <a:defRPr sz="2400" b="1">
                <a:solidFill>
                  <a:srgbClr val="72D4C1"/>
                </a:solidFill>
              </a:defRPr>
            </a:lvl8pPr>
            <a:lvl9pPr>
              <a:defRPr sz="2400" b="1">
                <a:solidFill>
                  <a:srgbClr val="72D4C1"/>
                </a:solidFill>
              </a:defRPr>
            </a:lvl9pPr>
          </a:lstStyle>
          <a:p>
            <a:pPr>
              <a:defRPr sz="2400" b="1">
                <a:solidFill>
                  <a:srgbClr val="72D4C1"/>
                </a:solidFill>
              </a:defRPr>
            </a:pPr>
            <a:r>
              <a:rPr sz="2400" b="1">
                <a:solidFill>
                  <a:srgbClr val="72D4C1"/>
                </a:solidFill>
                <a:latin typeface="Aptos" panose="020B0004020202020204" pitchFamily="34" charset="0"/>
              </a:rPr>
              <a:t>→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F5E7512-40AC-4B5C-BEF1-543EEE27CB01}"/>
              </a:ext>
            </a:extLst>
          </p:cNvPr>
          <p:cNvSpPr>
            <a:spLocks noGrp="1"/>
          </p:cNvSpPr>
          <p:nvPr/>
        </p:nvSpPr>
        <p:spPr>
          <a:xfrm>
            <a:off x="3429000" y="2447925"/>
            <a:ext cx="2457450" cy="1257300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7DA7C2-6B03-4246-957E-4E3280D76006}"/>
              </a:ext>
            </a:extLst>
          </p:cNvPr>
          <p:cNvSpPr>
            <a:spLocks noGrp="1"/>
          </p:cNvSpPr>
          <p:nvPr/>
        </p:nvSpPr>
        <p:spPr>
          <a:xfrm>
            <a:off x="3619500" y="2581275"/>
            <a:ext cx="207645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Lerp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86C246-25AC-4622-8FAB-35D38534B38C}"/>
              </a:ext>
            </a:extLst>
          </p:cNvPr>
          <p:cNvSpPr>
            <a:spLocks noGrp="1"/>
          </p:cNvSpPr>
          <p:nvPr/>
        </p:nvSpPr>
        <p:spPr>
          <a:xfrm>
            <a:off x="3619500" y="3067050"/>
            <a:ext cx="2076450" cy="5905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Min / Max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97730D2-4778-4673-85A6-B6F962FD5D3F}"/>
              </a:ext>
            </a:extLst>
          </p:cNvPr>
          <p:cNvSpPr>
            <a:spLocks noGrp="1"/>
          </p:cNvSpPr>
          <p:nvPr/>
        </p:nvSpPr>
        <p:spPr>
          <a:xfrm>
            <a:off x="5924550" y="2800350"/>
            <a:ext cx="323850" cy="476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1">
                <a:solidFill>
                  <a:srgbClr val="72D4C1"/>
                </a:solidFill>
              </a:defRPr>
            </a:defPPr>
            <a:lvl1pPr>
              <a:defRPr sz="2400" b="1">
                <a:solidFill>
                  <a:srgbClr val="72D4C1"/>
                </a:solidFill>
              </a:defRPr>
            </a:lvl1pPr>
            <a:lvl2pPr>
              <a:defRPr sz="2400" b="1">
                <a:solidFill>
                  <a:srgbClr val="72D4C1"/>
                </a:solidFill>
              </a:defRPr>
            </a:lvl2pPr>
            <a:lvl3pPr>
              <a:defRPr sz="2400" b="1">
                <a:solidFill>
                  <a:srgbClr val="72D4C1"/>
                </a:solidFill>
              </a:defRPr>
            </a:lvl3pPr>
            <a:lvl4pPr>
              <a:defRPr sz="2400" b="1">
                <a:solidFill>
                  <a:srgbClr val="72D4C1"/>
                </a:solidFill>
              </a:defRPr>
            </a:lvl4pPr>
            <a:lvl5pPr>
              <a:defRPr sz="2400" b="1">
                <a:solidFill>
                  <a:srgbClr val="72D4C1"/>
                </a:solidFill>
              </a:defRPr>
            </a:lvl5pPr>
            <a:lvl6pPr>
              <a:defRPr sz="2400" b="1">
                <a:solidFill>
                  <a:srgbClr val="72D4C1"/>
                </a:solidFill>
              </a:defRPr>
            </a:lvl6pPr>
            <a:lvl7pPr>
              <a:defRPr sz="2400" b="1">
                <a:solidFill>
                  <a:srgbClr val="72D4C1"/>
                </a:solidFill>
              </a:defRPr>
            </a:lvl7pPr>
            <a:lvl8pPr>
              <a:defRPr sz="2400" b="1">
                <a:solidFill>
                  <a:srgbClr val="72D4C1"/>
                </a:solidFill>
              </a:defRPr>
            </a:lvl8pPr>
            <a:lvl9pPr>
              <a:defRPr sz="2400" b="1">
                <a:solidFill>
                  <a:srgbClr val="72D4C1"/>
                </a:solidFill>
              </a:defRPr>
            </a:lvl9pPr>
          </a:lstStyle>
          <a:p>
            <a:pPr>
              <a:defRPr sz="2400" b="1">
                <a:solidFill>
                  <a:srgbClr val="72D4C1"/>
                </a:solidFill>
              </a:defRPr>
            </a:pPr>
            <a:r>
              <a:rPr sz="2400" b="1">
                <a:solidFill>
                  <a:srgbClr val="72D4C1"/>
                </a:solidFill>
                <a:latin typeface="Aptos" panose="020B0004020202020204" pitchFamily="34" charset="0"/>
              </a:rPr>
              <a:t>→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C3448BF-9AA4-40E5-8937-D96E33DFE739}"/>
              </a:ext>
            </a:extLst>
          </p:cNvPr>
          <p:cNvSpPr>
            <a:spLocks noGrp="1"/>
          </p:cNvSpPr>
          <p:nvPr/>
        </p:nvSpPr>
        <p:spPr>
          <a:xfrm>
            <a:off x="6248400" y="2447925"/>
            <a:ext cx="2457450" cy="1257300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EF4AF58-AA98-484B-9164-97EC83DB40AA}"/>
              </a:ext>
            </a:extLst>
          </p:cNvPr>
          <p:cNvSpPr>
            <a:spLocks noGrp="1"/>
          </p:cNvSpPr>
          <p:nvPr/>
        </p:nvSpPr>
        <p:spPr>
          <a:xfrm>
            <a:off x="6438900" y="2581275"/>
            <a:ext cx="207645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Saturate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20F5D9-F655-479C-A8FA-184C0F945745}"/>
              </a:ext>
            </a:extLst>
          </p:cNvPr>
          <p:cNvSpPr>
            <a:spLocks noGrp="1"/>
          </p:cNvSpPr>
          <p:nvPr/>
        </p:nvSpPr>
        <p:spPr>
          <a:xfrm>
            <a:off x="6438900" y="3067050"/>
            <a:ext cx="2076450" cy="5905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Clamp 0–1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68F2FB9-7042-4CF3-9C8E-D90911EF0C96}"/>
              </a:ext>
            </a:extLst>
          </p:cNvPr>
          <p:cNvSpPr>
            <a:spLocks noGrp="1"/>
          </p:cNvSpPr>
          <p:nvPr/>
        </p:nvSpPr>
        <p:spPr>
          <a:xfrm>
            <a:off x="8743950" y="2800350"/>
            <a:ext cx="323850" cy="476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1">
                <a:solidFill>
                  <a:srgbClr val="72D4C1"/>
                </a:solidFill>
              </a:defRPr>
            </a:defPPr>
            <a:lvl1pPr>
              <a:defRPr sz="2400" b="1">
                <a:solidFill>
                  <a:srgbClr val="72D4C1"/>
                </a:solidFill>
              </a:defRPr>
            </a:lvl1pPr>
            <a:lvl2pPr>
              <a:defRPr sz="2400" b="1">
                <a:solidFill>
                  <a:srgbClr val="72D4C1"/>
                </a:solidFill>
              </a:defRPr>
            </a:lvl2pPr>
            <a:lvl3pPr>
              <a:defRPr sz="2400" b="1">
                <a:solidFill>
                  <a:srgbClr val="72D4C1"/>
                </a:solidFill>
              </a:defRPr>
            </a:lvl3pPr>
            <a:lvl4pPr>
              <a:defRPr sz="2400" b="1">
                <a:solidFill>
                  <a:srgbClr val="72D4C1"/>
                </a:solidFill>
              </a:defRPr>
            </a:lvl4pPr>
            <a:lvl5pPr>
              <a:defRPr sz="2400" b="1">
                <a:solidFill>
                  <a:srgbClr val="72D4C1"/>
                </a:solidFill>
              </a:defRPr>
            </a:lvl5pPr>
            <a:lvl6pPr>
              <a:defRPr sz="2400" b="1">
                <a:solidFill>
                  <a:srgbClr val="72D4C1"/>
                </a:solidFill>
              </a:defRPr>
            </a:lvl6pPr>
            <a:lvl7pPr>
              <a:defRPr sz="2400" b="1">
                <a:solidFill>
                  <a:srgbClr val="72D4C1"/>
                </a:solidFill>
              </a:defRPr>
            </a:lvl7pPr>
            <a:lvl8pPr>
              <a:defRPr sz="2400" b="1">
                <a:solidFill>
                  <a:srgbClr val="72D4C1"/>
                </a:solidFill>
              </a:defRPr>
            </a:lvl8pPr>
            <a:lvl9pPr>
              <a:defRPr sz="2400" b="1">
                <a:solidFill>
                  <a:srgbClr val="72D4C1"/>
                </a:solidFill>
              </a:defRPr>
            </a:lvl9pPr>
          </a:lstStyle>
          <a:p>
            <a:pPr>
              <a:defRPr sz="2400" b="1">
                <a:solidFill>
                  <a:srgbClr val="72D4C1"/>
                </a:solidFill>
              </a:defRPr>
            </a:pPr>
            <a:r>
              <a:rPr sz="2400" b="1">
                <a:solidFill>
                  <a:srgbClr val="72D4C1"/>
                </a:solidFill>
                <a:latin typeface="Aptos" panose="020B0004020202020204" pitchFamily="34" charset="0"/>
              </a:rPr>
              <a:t>→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8C1FA2-1FB1-4C2E-8274-10BF0EC162B0}"/>
              </a:ext>
            </a:extLst>
          </p:cNvPr>
          <p:cNvSpPr>
            <a:spLocks noGrp="1"/>
          </p:cNvSpPr>
          <p:nvPr/>
        </p:nvSpPr>
        <p:spPr>
          <a:xfrm>
            <a:off x="9067800" y="2447925"/>
            <a:ext cx="2457450" cy="1257300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76386A1-8894-4FF6-8153-1FD7CBA12AB7}"/>
              </a:ext>
            </a:extLst>
          </p:cNvPr>
          <p:cNvSpPr>
            <a:spLocks noGrp="1"/>
          </p:cNvSpPr>
          <p:nvPr/>
        </p:nvSpPr>
        <p:spPr>
          <a:xfrm>
            <a:off x="9258300" y="2581275"/>
            <a:ext cx="207645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Roughness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B42F14D-7CFA-4B7B-A1D5-57F2FECC463E}"/>
              </a:ext>
            </a:extLst>
          </p:cNvPr>
          <p:cNvSpPr>
            <a:spLocks noGrp="1"/>
          </p:cNvSpPr>
          <p:nvPr/>
        </p:nvSpPr>
        <p:spPr>
          <a:xfrm>
            <a:off x="9258300" y="3067050"/>
            <a:ext cx="2076450" cy="5905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Surface input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ADCE50D-4947-4B2E-8D2C-73743A890A1B}"/>
              </a:ext>
            </a:extLst>
          </p:cNvPr>
          <p:cNvSpPr>
            <a:spLocks noGrp="1"/>
          </p:cNvSpPr>
          <p:nvPr/>
        </p:nvSpPr>
        <p:spPr>
          <a:xfrm>
            <a:off x="609600" y="4162425"/>
            <a:ext cx="5334000" cy="1485900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C70E6CE-118C-485F-9735-1033DE91486E}"/>
              </a:ext>
            </a:extLst>
          </p:cNvPr>
          <p:cNvSpPr>
            <a:spLocks noGrp="1"/>
          </p:cNvSpPr>
          <p:nvPr/>
        </p:nvSpPr>
        <p:spPr>
          <a:xfrm>
            <a:off x="800100" y="4295775"/>
            <a:ext cx="49530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Find the active controls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4255B6B-EF37-43B8-92DC-24247DA218D8}"/>
              </a:ext>
            </a:extLst>
          </p:cNvPr>
          <p:cNvSpPr>
            <a:spLocks noGrp="1"/>
          </p:cNvSpPr>
          <p:nvPr/>
        </p:nvSpPr>
        <p:spPr>
          <a:xfrm>
            <a:off x="800100" y="4781550"/>
            <a:ext cx="4953000" cy="819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04 Roughness: MinRoughness / MaxRoughness</a:t>
            </a:r>
          </a:p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07 Packed ORM: the ORM endpoint pair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4F6B037-4ACE-4B57-A62D-38982FC13E97}"/>
              </a:ext>
            </a:extLst>
          </p:cNvPr>
          <p:cNvSpPr>
            <a:spLocks noGrp="1"/>
          </p:cNvSpPr>
          <p:nvPr/>
        </p:nvSpPr>
        <p:spPr>
          <a:xfrm>
            <a:off x="6172200" y="4162425"/>
            <a:ext cx="5410200" cy="1485900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D255F25-E5CC-4F8A-A3CB-3326782B32A3}"/>
              </a:ext>
            </a:extLst>
          </p:cNvPr>
          <p:cNvSpPr>
            <a:spLocks noGrp="1"/>
          </p:cNvSpPr>
          <p:nvPr/>
        </p:nvSpPr>
        <p:spPr>
          <a:xfrm>
            <a:off x="6362700" y="4295775"/>
            <a:ext cx="50292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Keep the interface readable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3F1505C-3A7E-47B0-8EDE-036E85749D3C}"/>
              </a:ext>
            </a:extLst>
          </p:cNvPr>
          <p:cNvSpPr>
            <a:spLocks noGrp="1"/>
          </p:cNvSpPr>
          <p:nvPr/>
        </p:nvSpPr>
        <p:spPr>
          <a:xfrm>
            <a:off x="6362700" y="4781550"/>
            <a:ext cx="5029200" cy="8191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Group by property; order related controls.</a:t>
            </a:r>
          </a:p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Give each a clear name and reset value.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F9D741F-05F7-47A6-A450-1F66527B0DE0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57275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1">
                <a:solidFill>
                  <a:srgbClr val="72D4C1"/>
                </a:solidFill>
              </a:defRPr>
            </a:defPPr>
            <a:lvl1pPr>
              <a:defRPr sz="1800" b="1">
                <a:solidFill>
                  <a:srgbClr val="72D4C1"/>
                </a:solidFill>
              </a:defRPr>
            </a:lvl1pPr>
            <a:lvl2pPr>
              <a:defRPr sz="1800" b="1">
                <a:solidFill>
                  <a:srgbClr val="72D4C1"/>
                </a:solidFill>
              </a:defRPr>
            </a:lvl2pPr>
            <a:lvl3pPr>
              <a:defRPr sz="1800" b="1">
                <a:solidFill>
                  <a:srgbClr val="72D4C1"/>
                </a:solidFill>
              </a:defRPr>
            </a:lvl3pPr>
            <a:lvl4pPr>
              <a:defRPr sz="1800" b="1">
                <a:solidFill>
                  <a:srgbClr val="72D4C1"/>
                </a:solidFill>
              </a:defRPr>
            </a:lvl4pPr>
            <a:lvl5pPr>
              <a:defRPr sz="1800" b="1">
                <a:solidFill>
                  <a:srgbClr val="72D4C1"/>
                </a:solidFill>
              </a:defRPr>
            </a:lvl5pPr>
            <a:lvl6pPr>
              <a:defRPr sz="1800" b="1">
                <a:solidFill>
                  <a:srgbClr val="72D4C1"/>
                </a:solidFill>
              </a:defRPr>
            </a:lvl6pPr>
            <a:lvl7pPr>
              <a:defRPr sz="1800" b="1">
                <a:solidFill>
                  <a:srgbClr val="72D4C1"/>
                </a:solidFill>
              </a:defRPr>
            </a:lvl7pPr>
            <a:lvl8pPr>
              <a:defRPr sz="1800" b="1">
                <a:solidFill>
                  <a:srgbClr val="72D4C1"/>
                </a:solidFill>
              </a:defRPr>
            </a:lvl8pPr>
            <a:lvl9pPr>
              <a:defRPr sz="1800" b="1">
                <a:solidFill>
                  <a:srgbClr val="72D4C1"/>
                </a:solidFill>
              </a:defRPr>
            </a:lvl9pPr>
          </a:lstStyle>
          <a:p>
            <a:pPr>
              <a:defRPr sz="1800" b="1">
                <a:solidFill>
                  <a:srgbClr val="72D4C1"/>
                </a:solidFill>
              </a:defRPr>
            </a:pPr>
            <a:r>
              <a:rPr sz="1800" b="1">
                <a:solidFill>
                  <a:srgbClr val="72D4C1"/>
                </a:solidFill>
                <a:latin typeface="Aptos" panose="020B0004020202020204" pitchFamily="34" charset="0"/>
              </a:rPr>
              <a:t>Which branch is active before you change an endpoint?</a:t>
            </a:r>
          </a:p>
        </p:txBody>
      </p:sp>
    </p:spTree>
    <p:extLst>
      <p:ext uri="{BB962C8B-B14F-4D97-AF65-F5344CB8AC3E}">
        <p14:creationId xmlns:p14="http://schemas.microsoft.com/office/powerpoint/2010/main" val="4211143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59BE91-CA77-43FF-9DBB-C2D664BFB96A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TEXTURE INPUTS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4179B62-2CDE-4A49-A747-3029CD673C7B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Texture data roles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EA3A06F-A2DE-4CAE-9855-483483708AC4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6B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2E5C461-CC97-4945-A46A-46C650F762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942975" y="2095500"/>
            <a:ext cx="2571750" cy="25717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C91A8328-1C67-494E-AD4C-4338371F0929}"/>
              </a:ext>
            </a:extLst>
          </p:cNvPr>
          <p:cNvSpPr>
            <a:spLocks noGrp="1"/>
          </p:cNvSpPr>
          <p:nvPr/>
        </p:nvSpPr>
        <p:spPr>
          <a:xfrm>
            <a:off x="609600" y="4810125"/>
            <a:ext cx="3429000" cy="571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1">
                <a:solidFill>
                  <a:srgbClr val="72D4C1"/>
                </a:solidFill>
              </a:defRPr>
            </a:defPPr>
            <a:lvl1pPr>
              <a:defRPr sz="1950" b="1">
                <a:solidFill>
                  <a:srgbClr val="72D4C1"/>
                </a:solidFill>
              </a:defRPr>
            </a:lvl1pPr>
            <a:lvl2pPr>
              <a:defRPr sz="1950" b="1">
                <a:solidFill>
                  <a:srgbClr val="72D4C1"/>
                </a:solidFill>
              </a:defRPr>
            </a:lvl2pPr>
            <a:lvl3pPr>
              <a:defRPr sz="1950" b="1">
                <a:solidFill>
                  <a:srgbClr val="72D4C1"/>
                </a:solidFill>
              </a:defRPr>
            </a:lvl3pPr>
            <a:lvl4pPr>
              <a:defRPr sz="1950" b="1">
                <a:solidFill>
                  <a:srgbClr val="72D4C1"/>
                </a:solidFill>
              </a:defRPr>
            </a:lvl4pPr>
            <a:lvl5pPr>
              <a:defRPr sz="1950" b="1">
                <a:solidFill>
                  <a:srgbClr val="72D4C1"/>
                </a:solidFill>
              </a:defRPr>
            </a:lvl5pPr>
            <a:lvl6pPr>
              <a:defRPr sz="1950" b="1">
                <a:solidFill>
                  <a:srgbClr val="72D4C1"/>
                </a:solidFill>
              </a:defRPr>
            </a:lvl6pPr>
            <a:lvl7pPr>
              <a:defRPr sz="1950" b="1">
                <a:solidFill>
                  <a:srgbClr val="72D4C1"/>
                </a:solidFill>
              </a:defRPr>
            </a:lvl7pPr>
            <a:lvl8pPr>
              <a:defRPr sz="1950" b="1">
                <a:solidFill>
                  <a:srgbClr val="72D4C1"/>
                </a:solidFill>
              </a:defRPr>
            </a:lvl8pPr>
            <a:lvl9pPr>
              <a:defRPr sz="1950" b="1">
                <a:solidFill>
                  <a:srgbClr val="72D4C1"/>
                </a:solidFill>
              </a:defRPr>
            </a:lvl9pPr>
          </a:lstStyle>
          <a:p>
            <a:pPr>
              <a:defRPr sz="1950" b="1">
                <a:solidFill>
                  <a:srgbClr val="72D4C1"/>
                </a:solidFill>
              </a:defRPr>
            </a:pPr>
            <a:r>
              <a:rPr sz="1950" b="1">
                <a:solidFill>
                  <a:srgbClr val="72D4C1"/>
                </a:solidFill>
                <a:latin typeface="Aptos" panose="020B0004020202020204" pitchFamily="34" charset="0"/>
              </a:rPr>
              <a:t>Base Color · sRGB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B8D1F8F-A4E9-45C1-B71E-AC7329510C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657725" y="2095500"/>
            <a:ext cx="2571750" cy="257175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A843B7FC-13E6-4DAF-BAE6-67F32AD60C28}"/>
              </a:ext>
            </a:extLst>
          </p:cNvPr>
          <p:cNvSpPr>
            <a:spLocks noGrp="1"/>
          </p:cNvSpPr>
          <p:nvPr/>
        </p:nvSpPr>
        <p:spPr>
          <a:xfrm>
            <a:off x="4324350" y="4810125"/>
            <a:ext cx="3429000" cy="571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1">
                <a:solidFill>
                  <a:srgbClr val="72D4C1"/>
                </a:solidFill>
              </a:defRPr>
            </a:defPPr>
            <a:lvl1pPr>
              <a:defRPr sz="1950" b="1">
                <a:solidFill>
                  <a:srgbClr val="72D4C1"/>
                </a:solidFill>
              </a:defRPr>
            </a:lvl1pPr>
            <a:lvl2pPr>
              <a:defRPr sz="1950" b="1">
                <a:solidFill>
                  <a:srgbClr val="72D4C1"/>
                </a:solidFill>
              </a:defRPr>
            </a:lvl2pPr>
            <a:lvl3pPr>
              <a:defRPr sz="1950" b="1">
                <a:solidFill>
                  <a:srgbClr val="72D4C1"/>
                </a:solidFill>
              </a:defRPr>
            </a:lvl3pPr>
            <a:lvl4pPr>
              <a:defRPr sz="1950" b="1">
                <a:solidFill>
                  <a:srgbClr val="72D4C1"/>
                </a:solidFill>
              </a:defRPr>
            </a:lvl4pPr>
            <a:lvl5pPr>
              <a:defRPr sz="1950" b="1">
                <a:solidFill>
                  <a:srgbClr val="72D4C1"/>
                </a:solidFill>
              </a:defRPr>
            </a:lvl5pPr>
            <a:lvl6pPr>
              <a:defRPr sz="1950" b="1">
                <a:solidFill>
                  <a:srgbClr val="72D4C1"/>
                </a:solidFill>
              </a:defRPr>
            </a:lvl6pPr>
            <a:lvl7pPr>
              <a:defRPr sz="1950" b="1">
                <a:solidFill>
                  <a:srgbClr val="72D4C1"/>
                </a:solidFill>
              </a:defRPr>
            </a:lvl7pPr>
            <a:lvl8pPr>
              <a:defRPr sz="1950" b="1">
                <a:solidFill>
                  <a:srgbClr val="72D4C1"/>
                </a:solidFill>
              </a:defRPr>
            </a:lvl8pPr>
            <a:lvl9pPr>
              <a:defRPr sz="1950" b="1">
                <a:solidFill>
                  <a:srgbClr val="72D4C1"/>
                </a:solidFill>
              </a:defRPr>
            </a:lvl9pPr>
          </a:lstStyle>
          <a:p>
            <a:pPr>
              <a:defRPr sz="1950" b="1">
                <a:solidFill>
                  <a:srgbClr val="72D4C1"/>
                </a:solidFill>
              </a:defRPr>
            </a:pPr>
            <a:r>
              <a:rPr sz="1950" b="1">
                <a:solidFill>
                  <a:srgbClr val="72D4C1"/>
                </a:solidFill>
                <a:latin typeface="Aptos" panose="020B0004020202020204" pitchFamily="34" charset="0"/>
              </a:rPr>
              <a:t>Roughness · linear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D7A0B6E-38E8-4A01-9C9D-EB4E6D7DDE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8372475" y="2095500"/>
            <a:ext cx="2571750" cy="257175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3D40AED-2669-437F-9D76-D6EB2DE13B9D}"/>
              </a:ext>
            </a:extLst>
          </p:cNvPr>
          <p:cNvSpPr>
            <a:spLocks noGrp="1"/>
          </p:cNvSpPr>
          <p:nvPr/>
        </p:nvSpPr>
        <p:spPr>
          <a:xfrm>
            <a:off x="8039100" y="4810125"/>
            <a:ext cx="3429000" cy="571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1">
                <a:solidFill>
                  <a:srgbClr val="72D4C1"/>
                </a:solidFill>
              </a:defRPr>
            </a:defPPr>
            <a:lvl1pPr>
              <a:defRPr sz="1950" b="1">
                <a:solidFill>
                  <a:srgbClr val="72D4C1"/>
                </a:solidFill>
              </a:defRPr>
            </a:lvl1pPr>
            <a:lvl2pPr>
              <a:defRPr sz="1950" b="1">
                <a:solidFill>
                  <a:srgbClr val="72D4C1"/>
                </a:solidFill>
              </a:defRPr>
            </a:lvl2pPr>
            <a:lvl3pPr>
              <a:defRPr sz="1950" b="1">
                <a:solidFill>
                  <a:srgbClr val="72D4C1"/>
                </a:solidFill>
              </a:defRPr>
            </a:lvl3pPr>
            <a:lvl4pPr>
              <a:defRPr sz="1950" b="1">
                <a:solidFill>
                  <a:srgbClr val="72D4C1"/>
                </a:solidFill>
              </a:defRPr>
            </a:lvl4pPr>
            <a:lvl5pPr>
              <a:defRPr sz="1950" b="1">
                <a:solidFill>
                  <a:srgbClr val="72D4C1"/>
                </a:solidFill>
              </a:defRPr>
            </a:lvl5pPr>
            <a:lvl6pPr>
              <a:defRPr sz="1950" b="1">
                <a:solidFill>
                  <a:srgbClr val="72D4C1"/>
                </a:solidFill>
              </a:defRPr>
            </a:lvl6pPr>
            <a:lvl7pPr>
              <a:defRPr sz="1950" b="1">
                <a:solidFill>
                  <a:srgbClr val="72D4C1"/>
                </a:solidFill>
              </a:defRPr>
            </a:lvl7pPr>
            <a:lvl8pPr>
              <a:defRPr sz="1950" b="1">
                <a:solidFill>
                  <a:srgbClr val="72D4C1"/>
                </a:solidFill>
              </a:defRPr>
            </a:lvl8pPr>
            <a:lvl9pPr>
              <a:defRPr sz="1950" b="1">
                <a:solidFill>
                  <a:srgbClr val="72D4C1"/>
                </a:solidFill>
              </a:defRPr>
            </a:lvl9pPr>
          </a:lstStyle>
          <a:p>
            <a:pPr>
              <a:defRPr sz="1950" b="1">
                <a:solidFill>
                  <a:srgbClr val="72D4C1"/>
                </a:solidFill>
              </a:defRPr>
            </a:pPr>
            <a:r>
              <a:rPr sz="1950" b="1">
                <a:solidFill>
                  <a:srgbClr val="72D4C1"/>
                </a:solidFill>
                <a:latin typeface="Aptos" panose="020B0004020202020204" pitchFamily="34" charset="0"/>
              </a:rPr>
              <a:t>Normal · direction data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6D00F58-2BEF-45C0-8A57-B58EABA11ABB}"/>
              </a:ext>
            </a:extLst>
          </p:cNvPr>
          <p:cNvSpPr>
            <a:spLocks noGrp="1"/>
          </p:cNvSpPr>
          <p:nvPr/>
        </p:nvSpPr>
        <p:spPr>
          <a:xfrm>
            <a:off x="609600" y="5524500"/>
            <a:ext cx="10972800" cy="476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Same brick set. Check import settings AND the material sampler.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1BF3954-7607-4514-A442-71E428A9CF82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What goes wrong when a roughness map is interpreted as color?</a:t>
            </a:r>
          </a:p>
        </p:txBody>
      </p:sp>
    </p:spTree>
    <p:extLst>
      <p:ext uri="{BB962C8B-B14F-4D97-AF65-F5344CB8AC3E}">
        <p14:creationId xmlns:p14="http://schemas.microsoft.com/office/powerpoint/2010/main" val="10829672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5C639A3-07B1-4693-A2E9-9F402B38D448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TEXTURE INPUTS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72BFEE-C858-49F2-A134-479520DAD8A8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Separate maps and packed maps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DB8C65E-0913-427F-8156-18A20672FCC1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6C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A0BBDA7-0547-4942-9071-509E4C84C9B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12932299"/>
              </p:ext>
            </p:extLst>
          </p:nvPr>
        </p:nvGraphicFramePr>
        <p:xfrm>
          <a:off x="609600" y="2000250"/>
          <a:ext cx="10972800" cy="2952750"/>
        </p:xfrm>
        <a:graphic>
          <a:graphicData uri="http://schemas.openxmlformats.org/drawingml/2006/table">
            <a:tbl>
              <a:tblPr/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33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1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818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UsePackedORM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Signal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Active controls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Off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RoughnessTexture R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MinRoughness / MaxRoughness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On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ORMTexture G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ORM_MinRoughness / ORM_MaxRoughness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On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ORM R / ORM B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AO / metallic data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30F433A9-C519-4D37-9D2B-D338378321AB}"/>
              </a:ext>
            </a:extLst>
          </p:cNvPr>
          <p:cNvSpPr>
            <a:spLocks noGrp="1"/>
          </p:cNvSpPr>
          <p:nvPr/>
        </p:nvSpPr>
        <p:spPr>
          <a:xfrm>
            <a:off x="609600" y="5524500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C4D3E3"/>
                </a:solidFill>
              </a:defRPr>
            </a:defPPr>
            <a:lvl1pPr>
              <a:defRPr sz="1800" b="0">
                <a:solidFill>
                  <a:srgbClr val="C4D3E3"/>
                </a:solidFill>
              </a:defRPr>
            </a:lvl1pPr>
            <a:lvl2pPr>
              <a:defRPr sz="1800" b="0">
                <a:solidFill>
                  <a:srgbClr val="C4D3E3"/>
                </a:solidFill>
              </a:defRPr>
            </a:lvl2pPr>
            <a:lvl3pPr>
              <a:defRPr sz="1800" b="0">
                <a:solidFill>
                  <a:srgbClr val="C4D3E3"/>
                </a:solidFill>
              </a:defRPr>
            </a:lvl3pPr>
            <a:lvl4pPr>
              <a:defRPr sz="1800" b="0">
                <a:solidFill>
                  <a:srgbClr val="C4D3E3"/>
                </a:solidFill>
              </a:defRPr>
            </a:lvl4pPr>
            <a:lvl5pPr>
              <a:defRPr sz="1800" b="0">
                <a:solidFill>
                  <a:srgbClr val="C4D3E3"/>
                </a:solidFill>
              </a:defRPr>
            </a:lvl5pPr>
            <a:lvl6pPr>
              <a:defRPr sz="1800" b="0">
                <a:solidFill>
                  <a:srgbClr val="C4D3E3"/>
                </a:solidFill>
              </a:defRPr>
            </a:lvl6pPr>
            <a:lvl7pPr>
              <a:defRPr sz="1800" b="0">
                <a:solidFill>
                  <a:srgbClr val="C4D3E3"/>
                </a:solidFill>
              </a:defRPr>
            </a:lvl7pPr>
            <a:lvl8pPr>
              <a:defRPr sz="1800" b="0">
                <a:solidFill>
                  <a:srgbClr val="C4D3E3"/>
                </a:solidFill>
              </a:defRPr>
            </a:lvl8pPr>
            <a:lvl9pPr>
              <a:defRPr sz="1800" b="0">
                <a:solidFill>
                  <a:srgbClr val="C4D3E3"/>
                </a:solidFill>
              </a:defRPr>
            </a:lvl9pPr>
          </a:lstStyle>
          <a:p>
            <a:pPr>
              <a:defRPr sz="1800" b="0">
                <a:solidFill>
                  <a:srgbClr val="C4D3E3"/>
                </a:solidFill>
              </a:defRPr>
            </a:pPr>
            <a:r>
              <a:rPr sz="1800" b="0">
                <a:solidFill>
                  <a:srgbClr val="C4D3E3"/>
                </a:solidFill>
                <a:latin typeface="Aptos" panose="020B0004020202020204" pitchFamily="34" charset="0"/>
              </a:rPr>
              <a:t>ORM here: R = AO, G = roughness, B = metallic. Station 07 uses MRAH.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EBF8D5-9CA9-4B37-B41F-8250DD9EB11A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Why can MinRoughness change numerically but leave the surface unchanged?</a:t>
            </a:r>
          </a:p>
        </p:txBody>
      </p:sp>
    </p:spTree>
    <p:extLst>
      <p:ext uri="{BB962C8B-B14F-4D97-AF65-F5344CB8AC3E}">
        <p14:creationId xmlns:p14="http://schemas.microsoft.com/office/powerpoint/2010/main" val="16672479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6D6B916-9B0A-4C8E-A5C7-52E86C7FB7F0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LAB ROUTE 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E73DF60-09CF-43AF-8BDF-61B86ABA8163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Controlled roughness comparison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4C35D92-B8B5-48EC-932C-D3B237DC8363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6D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4F9FD11-C936-4EAA-AA79-58DDABA104D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71789294"/>
              </p:ext>
            </p:extLst>
          </p:nvPr>
        </p:nvGraphicFramePr>
        <p:xfrm>
          <a:off x="609600" y="2000250"/>
          <a:ext cx="10972800" cy="2952750"/>
        </p:xfrm>
        <a:graphic>
          <a:graphicData uri="http://schemas.openxmlformats.org/drawingml/2006/table">
            <a:tbl>
              <a:tblPr/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33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1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818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State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MinRoughness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MaxRoughness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Original supplied instance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0.12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0.12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A: controlled baseline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0.20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0.20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B: changed response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0.80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0.80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7ED133DF-FA1A-4B22-A7E4-584612EE89E8}"/>
              </a:ext>
            </a:extLst>
          </p:cNvPr>
          <p:cNvSpPr>
            <a:spLocks noGrp="1"/>
          </p:cNvSpPr>
          <p:nvPr/>
        </p:nvSpPr>
        <p:spPr>
          <a:xfrm>
            <a:off x="609600" y="5524500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C4D3E3"/>
                </a:solidFill>
              </a:defRPr>
            </a:defPPr>
            <a:lvl1pPr>
              <a:defRPr sz="1800" b="0">
                <a:solidFill>
                  <a:srgbClr val="C4D3E3"/>
                </a:solidFill>
              </a:defRPr>
            </a:lvl1pPr>
            <a:lvl2pPr>
              <a:defRPr sz="1800" b="0">
                <a:solidFill>
                  <a:srgbClr val="C4D3E3"/>
                </a:solidFill>
              </a:defRPr>
            </a:lvl2pPr>
            <a:lvl3pPr>
              <a:defRPr sz="1800" b="0">
                <a:solidFill>
                  <a:srgbClr val="C4D3E3"/>
                </a:solidFill>
              </a:defRPr>
            </a:lvl3pPr>
            <a:lvl4pPr>
              <a:defRPr sz="1800" b="0">
                <a:solidFill>
                  <a:srgbClr val="C4D3E3"/>
                </a:solidFill>
              </a:defRPr>
            </a:lvl4pPr>
            <a:lvl5pPr>
              <a:defRPr sz="1800" b="0">
                <a:solidFill>
                  <a:srgbClr val="C4D3E3"/>
                </a:solidFill>
              </a:defRPr>
            </a:lvl5pPr>
            <a:lvl6pPr>
              <a:defRPr sz="1800" b="0">
                <a:solidFill>
                  <a:srgbClr val="C4D3E3"/>
                </a:solidFill>
              </a:defRPr>
            </a:lvl6pPr>
            <a:lvl7pPr>
              <a:defRPr sz="1800" b="0">
                <a:solidFill>
                  <a:srgbClr val="C4D3E3"/>
                </a:solidFill>
              </a:defRPr>
            </a:lvl7pPr>
            <a:lvl8pPr>
              <a:defRPr sz="1800" b="0">
                <a:solidFill>
                  <a:srgbClr val="C4D3E3"/>
                </a:solidFill>
              </a:defRPr>
            </a:lvl8pPr>
            <a:lvl9pPr>
              <a:defRPr sz="1800" b="0">
                <a:solidFill>
                  <a:srgbClr val="C4D3E3"/>
                </a:solidFill>
              </a:defRPr>
            </a:lvl9pPr>
          </a:lstStyle>
          <a:p>
            <a:pPr>
              <a:defRPr sz="1800" b="0">
                <a:solidFill>
                  <a:srgbClr val="C4D3E3"/>
                </a:solidFill>
              </a:defRPr>
            </a:pPr>
            <a:r>
              <a:rPr sz="1800" b="0">
                <a:solidFill>
                  <a:srgbClr val="C4D3E3"/>
                </a:solidFill>
                <a:latin typeface="Aptos" panose="020B0004020202020204" pitchFamily="34" charset="0"/>
              </a:rPr>
              <a:t>UsePackedORM off · same mesh, tint, normal, lighting, exposure and camera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D05F15-83C1-4455-95E9-8979A539B26C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If both endpoints equal 0.2, can the texture vary the output?</a:t>
            </a:r>
          </a:p>
        </p:txBody>
      </p:sp>
    </p:spTree>
    <p:extLst>
      <p:ext uri="{BB962C8B-B14F-4D97-AF65-F5344CB8AC3E}">
        <p14:creationId xmlns:p14="http://schemas.microsoft.com/office/powerpoint/2010/main" val="18760262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DFB89F-B979-457F-9DBD-ED1FA901966F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UV CONTROLS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71CE8D-A2B2-414C-9BD2-37F5179DAB17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UV tiling and offset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6413F7F-8FF4-4F88-99C1-26EB6A90EE9C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6E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C5D3E5-F149-4C66-A929-8F3FAE536B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2093119"/>
            <a:ext cx="6477000" cy="364331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AF9DDF4-994A-4CEB-A61A-9E33295A8ACC}"/>
              </a:ext>
            </a:extLst>
          </p:cNvPr>
          <p:cNvSpPr>
            <a:spLocks noGrp="1"/>
          </p:cNvSpPr>
          <p:nvPr/>
        </p:nvSpPr>
        <p:spPr>
          <a:xfrm>
            <a:off x="7524750" y="1952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UV transform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6D7AB5A-A477-4B49-961D-33434EBCD3DF}"/>
              </a:ext>
            </a:extLst>
          </p:cNvPr>
          <p:cNvSpPr>
            <a:spLocks noGrp="1"/>
          </p:cNvSpPr>
          <p:nvPr/>
        </p:nvSpPr>
        <p:spPr>
          <a:xfrm>
            <a:off x="7524750" y="2362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uv × scale + offset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BD6125D-A30C-414C-8599-7500448C1C9D}"/>
              </a:ext>
            </a:extLst>
          </p:cNvPr>
          <p:cNvSpPr>
            <a:spLocks noGrp="1"/>
          </p:cNvSpPr>
          <p:nvPr/>
        </p:nvSpPr>
        <p:spPr>
          <a:xfrm>
            <a:off x="7524750" y="32861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Numeric vector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3F75B32-8EFB-4DFA-BDFF-7C14D646C323}"/>
              </a:ext>
            </a:extLst>
          </p:cNvPr>
          <p:cNvSpPr>
            <a:spLocks noGrp="1"/>
          </p:cNvSpPr>
          <p:nvPr/>
        </p:nvSpPr>
        <p:spPr>
          <a:xfrm>
            <a:off x="7524750" y="36957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UVScaleOffset: RG = U/V tiling, BA = U/V offset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37B5A1-0C8E-42F7-9658-6A531C90733A}"/>
              </a:ext>
            </a:extLst>
          </p:cNvPr>
          <p:cNvSpPr>
            <a:spLocks noGrp="1"/>
          </p:cNvSpPr>
          <p:nvPr/>
        </p:nvSpPr>
        <p:spPr>
          <a:xfrm>
            <a:off x="7524750" y="4619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Aligned texture features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0AFDC1-3102-4ACE-ACB5-A5FB8E29A7E9}"/>
              </a:ext>
            </a:extLst>
          </p:cNvPr>
          <p:cNvSpPr>
            <a:spLocks noGrp="1"/>
          </p:cNvSpPr>
          <p:nvPr/>
        </p:nvSpPr>
        <p:spPr>
          <a:xfrm>
            <a:off x="7524750" y="5029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Use matching UVs for color, roughness and normal features that should line up.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8340697-326A-462B-88EA-2CDBBFABD501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Does doubling UV tiling make each brick appear larger or smaller?</a:t>
            </a:r>
          </a:p>
        </p:txBody>
      </p:sp>
    </p:spTree>
    <p:extLst>
      <p:ext uri="{BB962C8B-B14F-4D97-AF65-F5344CB8AC3E}">
        <p14:creationId xmlns:p14="http://schemas.microsoft.com/office/powerpoint/2010/main" val="699479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92DBF7A-AF76-4E29-B0B5-6DB89F5663E1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MASKS AND BLENDING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76F5E9-F133-4BC1-BB2D-1B26D02FA400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Masks and material blending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380215D-0D7A-4AB0-B651-DD744ED709C5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07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D3187CE-72A0-4A2B-BA53-74BD4D47654B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572750" cy="619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E0F3F0"/>
                </a:solidFill>
              </a:defRPr>
            </a:defPPr>
            <a:lvl1pPr>
              <a:defRPr sz="1875">
                <a:solidFill>
                  <a:srgbClr val="E0F3F0"/>
                </a:solidFill>
              </a:defRPr>
            </a:lvl1pPr>
            <a:lvl2pPr>
              <a:defRPr sz="1875">
                <a:solidFill>
                  <a:srgbClr val="E0F3F0"/>
                </a:solidFill>
              </a:defRPr>
            </a:lvl2pPr>
            <a:lvl3pPr>
              <a:defRPr sz="1875">
                <a:solidFill>
                  <a:srgbClr val="E0F3F0"/>
                </a:solidFill>
              </a:defRPr>
            </a:lvl3pPr>
            <a:lvl4pPr>
              <a:defRPr sz="1875">
                <a:solidFill>
                  <a:srgbClr val="E0F3F0"/>
                </a:solidFill>
              </a:defRPr>
            </a:lvl4pPr>
            <a:lvl5pPr>
              <a:defRPr sz="1875">
                <a:solidFill>
                  <a:srgbClr val="E0F3F0"/>
                </a:solidFill>
              </a:defRPr>
            </a:lvl5pPr>
            <a:lvl6pPr>
              <a:defRPr sz="1875">
                <a:solidFill>
                  <a:srgbClr val="E0F3F0"/>
                </a:solidFill>
              </a:defRPr>
            </a:lvl6pPr>
            <a:lvl7pPr>
              <a:defRPr sz="1875">
                <a:solidFill>
                  <a:srgbClr val="E0F3F0"/>
                </a:solidFill>
              </a:defRPr>
            </a:lvl7pPr>
            <a:lvl8pPr>
              <a:defRPr sz="1875">
                <a:solidFill>
                  <a:srgbClr val="E0F3F0"/>
                </a:solidFill>
              </a:defRPr>
            </a:lvl8pPr>
            <a:lvl9pPr>
              <a:defRPr sz="1875">
                <a:solidFill>
                  <a:srgbClr val="E0F3F0"/>
                </a:solidFill>
              </a:defRPr>
            </a:lvl9pPr>
          </a:lstStyle>
          <a:p>
            <a:pPr>
              <a:defRPr sz="1875">
                <a:solidFill>
                  <a:srgbClr val="E0F3F0"/>
                </a:solidFill>
              </a:defRPr>
            </a:pPr>
            <a:r>
              <a:rPr sz="1875">
                <a:solidFill>
                  <a:srgbClr val="E0F3F0"/>
                </a:solidFill>
                <a:latin typeface="Aptos" panose="020B0004020202020204" pitchFamily="34" charset="0"/>
              </a:rPr>
              <a:t>Height reshapes the blend mask. The mesh silhouette stays fixed.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3BB3770-5EEC-F297-8125-3435BBAD300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857375"/>
            <a:ext cx="10972800" cy="394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255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9214AA7-2C23-4917-844B-C6DFAB99BDA0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PAINTED BLENDING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A0109AE-1080-4751-8826-AFF14D4B118B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Vertex colors and painted weights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FDE16-D8D1-41EE-AC03-5872BB3606C8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7A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FBB580B6-35BB-4C34-97E8-630B123BBD9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50772283"/>
              </p:ext>
            </p:extLst>
          </p:nvPr>
        </p:nvGraphicFramePr>
        <p:xfrm>
          <a:off x="609600" y="2000250"/>
          <a:ext cx="10972800" cy="2952750"/>
        </p:xfrm>
        <a:graphic>
          <a:graphicData uri="http://schemas.openxmlformats.org/drawingml/2006/table">
            <a:tbl>
              <a:tblPr/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33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1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818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Station 08 example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Stored data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Interpretation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Weight diagnostic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Vertex R and G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Displays saved component paint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Regular blend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R = stone; G = sand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Two painted contributions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Height blend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R = blend control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Weight plus height shapes coverage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F39FD701-A860-46D1-8A36-EE873454EBDD}"/>
              </a:ext>
            </a:extLst>
          </p:cNvPr>
          <p:cNvSpPr>
            <a:spLocks noGrp="1"/>
          </p:cNvSpPr>
          <p:nvPr/>
        </p:nvSpPr>
        <p:spPr>
          <a:xfrm>
            <a:off x="609600" y="5524500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C4D3E3"/>
                </a:solidFill>
              </a:defRPr>
            </a:defPPr>
            <a:lvl1pPr>
              <a:defRPr sz="1800" b="0">
                <a:solidFill>
                  <a:srgbClr val="C4D3E3"/>
                </a:solidFill>
              </a:defRPr>
            </a:lvl1pPr>
            <a:lvl2pPr>
              <a:defRPr sz="1800" b="0">
                <a:solidFill>
                  <a:srgbClr val="C4D3E3"/>
                </a:solidFill>
              </a:defRPr>
            </a:lvl2pPr>
            <a:lvl3pPr>
              <a:defRPr sz="1800" b="0">
                <a:solidFill>
                  <a:srgbClr val="C4D3E3"/>
                </a:solidFill>
              </a:defRPr>
            </a:lvl3pPr>
            <a:lvl4pPr>
              <a:defRPr sz="1800" b="0">
                <a:solidFill>
                  <a:srgbClr val="C4D3E3"/>
                </a:solidFill>
              </a:defRPr>
            </a:lvl4pPr>
            <a:lvl5pPr>
              <a:defRPr sz="1800" b="0">
                <a:solidFill>
                  <a:srgbClr val="C4D3E3"/>
                </a:solidFill>
              </a:defRPr>
            </a:lvl5pPr>
            <a:lvl6pPr>
              <a:defRPr sz="1800" b="0">
                <a:solidFill>
                  <a:srgbClr val="C4D3E3"/>
                </a:solidFill>
              </a:defRPr>
            </a:lvl6pPr>
            <a:lvl7pPr>
              <a:defRPr sz="1800" b="0">
                <a:solidFill>
                  <a:srgbClr val="C4D3E3"/>
                </a:solidFill>
              </a:defRPr>
            </a:lvl7pPr>
            <a:lvl8pPr>
              <a:defRPr sz="1800" b="0">
                <a:solidFill>
                  <a:srgbClr val="C4D3E3"/>
                </a:solidFill>
              </a:defRPr>
            </a:lvl8pPr>
            <a:lvl9pPr>
              <a:defRPr sz="1800" b="0">
                <a:solidFill>
                  <a:srgbClr val="C4D3E3"/>
                </a:solidFill>
              </a:defRPr>
            </a:lvl9pPr>
          </a:lstStyle>
          <a:p>
            <a:pPr>
              <a:defRPr sz="1800" b="0">
                <a:solidFill>
                  <a:srgbClr val="C4D3E3"/>
                </a:solidFill>
              </a:defRPr>
            </a:pPr>
            <a:r>
              <a:rPr sz="1800" b="0">
                <a:solidFill>
                  <a:srgbClr val="C4D3E3"/>
                </a:solidFill>
                <a:latin typeface="Aptos" panose="020B0004020202020204" pitchFamily="34" charset="0"/>
              </a:rPr>
              <a:t>Vertex density limits paint detail; values interpolate between vertices.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FAE5DB9-D578-41A6-A087-8CD16CA61764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Before painting red, which material connection must you inspect?</a:t>
            </a:r>
          </a:p>
        </p:txBody>
      </p:sp>
    </p:spTree>
    <p:extLst>
      <p:ext uri="{BB962C8B-B14F-4D97-AF65-F5344CB8AC3E}">
        <p14:creationId xmlns:p14="http://schemas.microsoft.com/office/powerpoint/2010/main" val="15499147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0FA5255-9851-4294-9761-F0CAF77A4711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LAB ROUTE B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BC82EFD-49C1-43FC-ACFD-0B65C812E0FF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Height-based blending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081DB3D-27C2-415C-A04E-527CEC4AD27F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7B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317A09-A6EE-4566-B162-2192F96D65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2093119"/>
            <a:ext cx="6477000" cy="364331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1023361-CDF2-4771-BE4F-BCF97CFC4BAB}"/>
              </a:ext>
            </a:extLst>
          </p:cNvPr>
          <p:cNvSpPr>
            <a:spLocks noGrp="1"/>
          </p:cNvSpPr>
          <p:nvPr/>
        </p:nvSpPr>
        <p:spPr>
          <a:xfrm>
            <a:off x="7524750" y="1952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Hold fixed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10D8E9C-930C-4903-8709-EADB39963286}"/>
              </a:ext>
            </a:extLst>
          </p:cNvPr>
          <p:cNvSpPr>
            <a:spLocks noGrp="1"/>
          </p:cNvSpPr>
          <p:nvPr/>
        </p:nvSpPr>
        <p:spPr>
          <a:xfrm>
            <a:off x="7524750" y="2362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Saved vertex paint, textures and tiling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6240DE9-48F4-4134-AA27-F97C4C1E97B4}"/>
              </a:ext>
            </a:extLst>
          </p:cNvPr>
          <p:cNvSpPr>
            <a:spLocks noGrp="1"/>
          </p:cNvSpPr>
          <p:nvPr/>
        </p:nvSpPr>
        <p:spPr>
          <a:xfrm>
            <a:off x="7524750" y="32861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Change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951519E-B17B-45B5-9E23-4C9F6929E9FA}"/>
              </a:ext>
            </a:extLst>
          </p:cNvPr>
          <p:cNvSpPr>
            <a:spLocks noGrp="1"/>
          </p:cNvSpPr>
          <p:nvPr/>
        </p:nvSpPr>
        <p:spPr>
          <a:xfrm>
            <a:off x="7524750" y="36957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MI_08_HeightBlend → Blend Contrast: 1 versus 4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89B3D76-2893-4DCB-9C0C-8FB09901D9DA}"/>
              </a:ext>
            </a:extLst>
          </p:cNvPr>
          <p:cNvSpPr>
            <a:spLocks noGrp="1"/>
          </p:cNvSpPr>
          <p:nvPr/>
        </p:nvSpPr>
        <p:spPr>
          <a:xfrm>
            <a:off x="7524750" y="4619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Observe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981D10-D8B6-4AD6-8527-0F4822E037E2}"/>
              </a:ext>
            </a:extLst>
          </p:cNvPr>
          <p:cNvSpPr>
            <a:spLocks noGrp="1"/>
          </p:cNvSpPr>
          <p:nvPr/>
        </p:nvSpPr>
        <p:spPr>
          <a:xfrm>
            <a:off x="7524750" y="5029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Boundary shape and sharpness; unchanged outer geometry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D8626AD-1790-4A23-B918-40B720D6AE9A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What evidence would distinguish height blending from displacement?</a:t>
            </a:r>
          </a:p>
        </p:txBody>
      </p:sp>
    </p:spTree>
    <p:extLst>
      <p:ext uri="{BB962C8B-B14F-4D97-AF65-F5344CB8AC3E}">
        <p14:creationId xmlns:p14="http://schemas.microsoft.com/office/powerpoint/2010/main" val="652768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EEB7D9F-F51E-49BD-B33C-90364E513CAA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PARAMETER SCOPE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15D9870-93D4-48F9-908B-2F2FF94FE330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Parameter scope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316589-338D-4165-967B-3A4D399AC1E7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08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EC29AD-F0F2-4DE5-88AB-8429313E7635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572750" cy="619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E0F3F0"/>
                </a:solidFill>
              </a:defRPr>
            </a:defPPr>
            <a:lvl1pPr>
              <a:defRPr sz="1875">
                <a:solidFill>
                  <a:srgbClr val="E0F3F0"/>
                </a:solidFill>
              </a:defRPr>
            </a:lvl1pPr>
            <a:lvl2pPr>
              <a:defRPr sz="1875">
                <a:solidFill>
                  <a:srgbClr val="E0F3F0"/>
                </a:solidFill>
              </a:defRPr>
            </a:lvl2pPr>
            <a:lvl3pPr>
              <a:defRPr sz="1875">
                <a:solidFill>
                  <a:srgbClr val="E0F3F0"/>
                </a:solidFill>
              </a:defRPr>
            </a:lvl3pPr>
            <a:lvl4pPr>
              <a:defRPr sz="1875">
                <a:solidFill>
                  <a:srgbClr val="E0F3F0"/>
                </a:solidFill>
              </a:defRPr>
            </a:lvl4pPr>
            <a:lvl5pPr>
              <a:defRPr sz="1875">
                <a:solidFill>
                  <a:srgbClr val="E0F3F0"/>
                </a:solidFill>
              </a:defRPr>
            </a:lvl5pPr>
            <a:lvl6pPr>
              <a:defRPr sz="1875">
                <a:solidFill>
                  <a:srgbClr val="E0F3F0"/>
                </a:solidFill>
              </a:defRPr>
            </a:lvl6pPr>
            <a:lvl7pPr>
              <a:defRPr sz="1875">
                <a:solidFill>
                  <a:srgbClr val="E0F3F0"/>
                </a:solidFill>
              </a:defRPr>
            </a:lvl7pPr>
            <a:lvl8pPr>
              <a:defRPr sz="1875">
                <a:solidFill>
                  <a:srgbClr val="E0F3F0"/>
                </a:solidFill>
              </a:defRPr>
            </a:lvl8pPr>
            <a:lvl9pPr>
              <a:defRPr sz="1875">
                <a:solidFill>
                  <a:srgbClr val="E0F3F0"/>
                </a:solidFill>
              </a:defRPr>
            </a:lvl9pPr>
          </a:lstStyle>
          <a:p>
            <a:pPr>
              <a:defRPr sz="1875">
                <a:solidFill>
                  <a:srgbClr val="E0F3F0"/>
                </a:solidFill>
              </a:defRPr>
            </a:pPr>
            <a:r>
              <a:rPr sz="1875">
                <a:solidFill>
                  <a:srgbClr val="E0F3F0"/>
                </a:solidFill>
                <a:latin typeface="Aptos" panose="020B0004020202020204" pitchFamily="34" charset="0"/>
              </a:rPr>
              <a:t>Choose the scope first: reusable variant, shared value or per-component data.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AC090E5-A79F-7708-B1A8-41AD482DAB6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857375"/>
            <a:ext cx="10972800" cy="394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52004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77B6B5F-976D-4A23-86DD-52619B96D52A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LAB ROUTE C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F4900A7-61B7-4BE4-80CD-80A7CE320F5B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Shared and per-component controls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5D31C7F-ACF4-427A-867E-BBF1CE705AD2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8A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05D6613-E7CA-4B82-810B-B90F8500BE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2093119"/>
            <a:ext cx="6477000" cy="364331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EAB7EB4-FE72-4602-9CCD-8701362D638F}"/>
              </a:ext>
            </a:extLst>
          </p:cNvPr>
          <p:cNvSpPr>
            <a:spLocks noGrp="1"/>
          </p:cNvSpPr>
          <p:nvPr/>
        </p:nvSpPr>
        <p:spPr>
          <a:xfrm>
            <a:off x="7524750" y="1952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Test 1 · collection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08A4CD9-8130-43BA-A70E-9C9C29B64304}"/>
              </a:ext>
            </a:extLst>
          </p:cNvPr>
          <p:cNvSpPr>
            <a:spLocks noGrp="1"/>
          </p:cNvSpPr>
          <p:nvPr/>
        </p:nvSpPr>
        <p:spPr>
          <a:xfrm>
            <a:off x="7524750" y="2362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SharedRoughness: 0.2 → 0.8; observe all three spheres.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434B5EB-0B4B-415D-9DEF-86C5C14E1FA0}"/>
              </a:ext>
            </a:extLst>
          </p:cNvPr>
          <p:cNvSpPr>
            <a:spLocks noGrp="1"/>
          </p:cNvSpPr>
          <p:nvPr/>
        </p:nvSpPr>
        <p:spPr>
          <a:xfrm>
            <a:off x="7524750" y="32861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Reset before Test 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471D6C-F6E6-4832-83DE-9552CA06E60B}"/>
              </a:ext>
            </a:extLst>
          </p:cNvPr>
          <p:cNvSpPr>
            <a:spLocks noGrp="1"/>
          </p:cNvSpPr>
          <p:nvPr/>
        </p:nvSpPr>
        <p:spPr>
          <a:xfrm>
            <a:off x="7524750" y="36957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Restore the recorded collection value (staged: 0.28).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2ED9E6C-5F39-4C3C-981F-352AE2C104EC}"/>
              </a:ext>
            </a:extLst>
          </p:cNvPr>
          <p:cNvSpPr>
            <a:spLocks noGrp="1"/>
          </p:cNvSpPr>
          <p:nvPr/>
        </p:nvSpPr>
        <p:spPr>
          <a:xfrm>
            <a:off x="7524750" y="4619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Test 2 · component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C3F83F6-A57B-45E8-8B48-A470CACFC0C2}"/>
              </a:ext>
            </a:extLst>
          </p:cNvPr>
          <p:cNvSpPr>
            <a:spLocks noGrp="1"/>
          </p:cNvSpPr>
          <p:nvPr/>
        </p:nvSpPr>
        <p:spPr>
          <a:xfrm>
            <a:off x="7524750" y="5029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Change one mesh component’s RGB data at indices 0–2.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C898E52-AF8D-412D-B86C-CB673DCCA718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Would duplicating an instance isolate a collection value?</a:t>
            </a:r>
          </a:p>
        </p:txBody>
      </p:sp>
    </p:spTree>
    <p:extLst>
      <p:ext uri="{BB962C8B-B14F-4D97-AF65-F5344CB8AC3E}">
        <p14:creationId xmlns:p14="http://schemas.microsoft.com/office/powerpoint/2010/main" val="14162084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8875A73-6F69-4D98-943C-6CFA0FB93CBE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PARAMETER BEHAVIOR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DDA6E03-93A6-4F56-87FA-E319268490C1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Runtime values and static switches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95F7D1-2705-4262-88F5-98E3C3C809F4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8B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7CCB690-0B41-40E4-957E-478B812D4D2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06750030"/>
              </p:ext>
            </p:extLst>
          </p:nvPr>
        </p:nvGraphicFramePr>
        <p:xfrm>
          <a:off x="609600" y="2000250"/>
          <a:ext cx="10972800" cy="2952750"/>
        </p:xfrm>
        <a:graphic>
          <a:graphicData uri="http://schemas.openxmlformats.org/drawingml/2006/table">
            <a:tbl>
              <a:tblPr/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33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1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05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Need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Mechanism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Important condition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Reusable surface variant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Material instance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Objects using it share its overrides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Change a value during play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Dynamic material instance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Create, assign, then update that same MID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Set runtime data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MPC / primitive data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Choose shared or component scope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Choose a graph branch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Static switch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Compile-time variant; not runtime interpolation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83BE124F-B328-455F-915B-D19830009155}"/>
              </a:ext>
            </a:extLst>
          </p:cNvPr>
          <p:cNvSpPr>
            <a:spLocks noGrp="1"/>
          </p:cNvSpPr>
          <p:nvPr/>
        </p:nvSpPr>
        <p:spPr>
          <a:xfrm>
            <a:off x="609600" y="5524500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C4D3E3"/>
                </a:solidFill>
              </a:defRPr>
            </a:defPPr>
            <a:lvl1pPr>
              <a:defRPr sz="1800" b="0">
                <a:solidFill>
                  <a:srgbClr val="C4D3E3"/>
                </a:solidFill>
              </a:defRPr>
            </a:lvl1pPr>
            <a:lvl2pPr>
              <a:defRPr sz="1800" b="0">
                <a:solidFill>
                  <a:srgbClr val="C4D3E3"/>
                </a:solidFill>
              </a:defRPr>
            </a:lvl2pPr>
            <a:lvl3pPr>
              <a:defRPr sz="1800" b="0">
                <a:solidFill>
                  <a:srgbClr val="C4D3E3"/>
                </a:solidFill>
              </a:defRPr>
            </a:lvl3pPr>
            <a:lvl4pPr>
              <a:defRPr sz="1800" b="0">
                <a:solidFill>
                  <a:srgbClr val="C4D3E3"/>
                </a:solidFill>
              </a:defRPr>
            </a:lvl4pPr>
            <a:lvl5pPr>
              <a:defRPr sz="1800" b="0">
                <a:solidFill>
                  <a:srgbClr val="C4D3E3"/>
                </a:solidFill>
              </a:defRPr>
            </a:lvl5pPr>
            <a:lvl6pPr>
              <a:defRPr sz="1800" b="0">
                <a:solidFill>
                  <a:srgbClr val="C4D3E3"/>
                </a:solidFill>
              </a:defRPr>
            </a:lvl6pPr>
            <a:lvl7pPr>
              <a:defRPr sz="1800" b="0">
                <a:solidFill>
                  <a:srgbClr val="C4D3E3"/>
                </a:solidFill>
              </a:defRPr>
            </a:lvl7pPr>
            <a:lvl8pPr>
              <a:defRPr sz="1800" b="0">
                <a:solidFill>
                  <a:srgbClr val="C4D3E3"/>
                </a:solidFill>
              </a:defRPr>
            </a:lvl8pPr>
            <a:lvl9pPr>
              <a:defRPr sz="1800" b="0">
                <a:solidFill>
                  <a:srgbClr val="C4D3E3"/>
                </a:solidFill>
              </a:defRPr>
            </a:lvl9pPr>
          </a:lstStyle>
          <a:p>
            <a:pPr>
              <a:defRPr sz="1800" b="0">
                <a:solidFill>
                  <a:srgbClr val="C4D3E3"/>
                </a:solidFill>
              </a:defRPr>
            </a:pPr>
            <a:r>
              <a:rPr sz="1800" b="0">
                <a:solidFill>
                  <a:srgbClr val="C4D3E3"/>
                </a:solidFill>
                <a:latin typeface="Aptos" panose="020B0004020202020204" pitchFamily="34" charset="0"/>
              </a:rPr>
              <a:t>UsePackedORM / UseAdvancedUV: static. Sequencer can animate collection values.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9B0E725-9F04-4E6B-8F66-9FCBD6C0E719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Why is setting a scalar on an unused dynamic instance invisible?</a:t>
            </a:r>
          </a:p>
        </p:txBody>
      </p:sp>
    </p:spTree>
    <p:extLst>
      <p:ext uri="{BB962C8B-B14F-4D97-AF65-F5344CB8AC3E}">
        <p14:creationId xmlns:p14="http://schemas.microsoft.com/office/powerpoint/2010/main" val="21470559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A5F3044-9E53-46F5-90A4-FCA7EDAFA3BB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REFERENCE STATIONS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2C236F-F6F3-4BE6-A348-ECE3A9AE18E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Directional coverage and decals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BFF885E-E0D2-4E80-AF1F-BBBE955A7C23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09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C96B54-85AE-4373-B0A8-8E0E6FFFD2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000" b="8000"/>
          <a:stretch/>
        </p:blipFill>
        <p:spPr>
          <a:xfrm>
            <a:off x="609600" y="2095500"/>
            <a:ext cx="5286375" cy="22004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1E96B7B-E59E-4709-9429-C092D621A4A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8000" b="8000"/>
          <a:stretch/>
        </p:blipFill>
        <p:spPr>
          <a:xfrm>
            <a:off x="6276975" y="2095500"/>
            <a:ext cx="5286375" cy="2200466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F1FE45C6-5D38-457B-8A3F-39C659C889FF}"/>
              </a:ext>
            </a:extLst>
          </p:cNvPr>
          <p:cNvSpPr>
            <a:spLocks noGrp="1"/>
          </p:cNvSpPr>
          <p:nvPr/>
        </p:nvSpPr>
        <p:spPr>
          <a:xfrm>
            <a:off x="609600" y="4619625"/>
            <a:ext cx="5286375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09 / Directional coverage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CCA8524-BC57-48DB-B03A-19A0BFA5CFA4}"/>
              </a:ext>
            </a:extLst>
          </p:cNvPr>
          <p:cNvSpPr>
            <a:spLocks noGrp="1"/>
          </p:cNvSpPr>
          <p:nvPr/>
        </p:nvSpPr>
        <p:spPr>
          <a:xfrm>
            <a:off x="609600" y="5029200"/>
            <a:ext cx="5286375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Compare normal and direction</a:t>
            </a:r>
          </a:p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in the same coordinate space.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EF18A9-D221-49F6-878C-257F720C9527}"/>
              </a:ext>
            </a:extLst>
          </p:cNvPr>
          <p:cNvSpPr>
            <a:spLocks noGrp="1"/>
          </p:cNvSpPr>
          <p:nvPr/>
        </p:nvSpPr>
        <p:spPr>
          <a:xfrm>
            <a:off x="6276975" y="4619625"/>
            <a:ext cx="5286375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10 / Decal projection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CA42645-B8B2-4DED-AEB0-F838D16AA36E}"/>
              </a:ext>
            </a:extLst>
          </p:cNvPr>
          <p:cNvSpPr>
            <a:spLocks noGrp="1"/>
          </p:cNvSpPr>
          <p:nvPr/>
        </p:nvSpPr>
        <p:spPr>
          <a:xfrm>
            <a:off x="6276975" y="5029200"/>
            <a:ext cx="5286375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Check projector bounds and</a:t>
            </a:r>
          </a:p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receiver response.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6A9C7DD-579A-4F92-8CAC-A792E1589DDE}"/>
              </a:ext>
            </a:extLst>
          </p:cNvPr>
          <p:cNvSpPr>
            <a:spLocks noGrp="1"/>
          </p:cNvSpPr>
          <p:nvPr/>
        </p:nvSpPr>
        <p:spPr>
          <a:xfrm>
            <a:off x="609600" y="6000750"/>
            <a:ext cx="109728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Predict → change one control → compare → reset</a:t>
            </a:r>
          </a:p>
        </p:txBody>
      </p:sp>
    </p:spTree>
    <p:extLst>
      <p:ext uri="{BB962C8B-B14F-4D97-AF65-F5344CB8AC3E}">
        <p14:creationId xmlns:p14="http://schemas.microsoft.com/office/powerpoint/2010/main" val="5650259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3B80340-1863-4C60-9E9F-7963C7EB505E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DIRECTIONAL SNOW AND MOSS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677B4F-CED2-4926-B195-6D3D3AC72293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Directional coverage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62E764-1F90-49DE-9B93-BD8574E09B09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9A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8498BB-9E2D-479F-9CBC-0FD1CA113F59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572750" cy="619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E0F3F0"/>
                </a:solidFill>
              </a:defRPr>
            </a:defPPr>
            <a:lvl1pPr>
              <a:defRPr sz="1875">
                <a:solidFill>
                  <a:srgbClr val="E0F3F0"/>
                </a:solidFill>
              </a:defRPr>
            </a:lvl1pPr>
            <a:lvl2pPr>
              <a:defRPr sz="1875">
                <a:solidFill>
                  <a:srgbClr val="E0F3F0"/>
                </a:solidFill>
              </a:defRPr>
            </a:lvl2pPr>
            <a:lvl3pPr>
              <a:defRPr sz="1875">
                <a:solidFill>
                  <a:srgbClr val="E0F3F0"/>
                </a:solidFill>
              </a:defRPr>
            </a:lvl3pPr>
            <a:lvl4pPr>
              <a:defRPr sz="1875">
                <a:solidFill>
                  <a:srgbClr val="E0F3F0"/>
                </a:solidFill>
              </a:defRPr>
            </a:lvl4pPr>
            <a:lvl5pPr>
              <a:defRPr sz="1875">
                <a:solidFill>
                  <a:srgbClr val="E0F3F0"/>
                </a:solidFill>
              </a:defRPr>
            </a:lvl5pPr>
            <a:lvl6pPr>
              <a:defRPr sz="1875">
                <a:solidFill>
                  <a:srgbClr val="E0F3F0"/>
                </a:solidFill>
              </a:defRPr>
            </a:lvl6pPr>
            <a:lvl7pPr>
              <a:defRPr sz="1875">
                <a:solidFill>
                  <a:srgbClr val="E0F3F0"/>
                </a:solidFill>
              </a:defRPr>
            </a:lvl7pPr>
            <a:lvl8pPr>
              <a:defRPr sz="1875">
                <a:solidFill>
                  <a:srgbClr val="E0F3F0"/>
                </a:solidFill>
              </a:defRPr>
            </a:lvl8pPr>
            <a:lvl9pPr>
              <a:defRPr sz="1875">
                <a:solidFill>
                  <a:srgbClr val="E0F3F0"/>
                </a:solidFill>
              </a:defRPr>
            </a:lvl9pPr>
          </a:lstStyle>
          <a:p>
            <a:pPr>
              <a:defRPr sz="1875">
                <a:solidFill>
                  <a:srgbClr val="E0F3F0"/>
                </a:solidFill>
              </a:defRPr>
            </a:pPr>
            <a:r>
              <a:rPr sz="1875">
                <a:solidFill>
                  <a:srgbClr val="E0F3F0"/>
                </a:solidFill>
                <a:latin typeface="Aptos" panose="020B0004020202020204" pitchFamily="34" charset="0"/>
              </a:rPr>
              <a:t>Normalize D. Raising 0–1 coverage to a larger power narrows the mask.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0716930-ED9E-51E1-8615-1BC41AF6D117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857375"/>
            <a:ext cx="10972800" cy="394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08639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47E846-D81D-4E59-9649-C11E0F6B6DEF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COORDINATES AND MOTION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1F5A30-FECC-4429-B7E5-7184FBA353DD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UV space and world projection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E8A895E-0EC6-4965-BE06-61044FD1E4AC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9B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D66412-8C00-401D-A8DF-48357B2632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000" t="18000" r="8000" b="24000"/>
          <a:stretch/>
        </p:blipFill>
        <p:spPr>
          <a:xfrm>
            <a:off x="609600" y="2667000"/>
            <a:ext cx="6477000" cy="251564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1CDCA4E-5E40-4705-BFD5-AE9751D0D29A}"/>
              </a:ext>
            </a:extLst>
          </p:cNvPr>
          <p:cNvSpPr>
            <a:spLocks noGrp="1"/>
          </p:cNvSpPr>
          <p:nvPr/>
        </p:nvSpPr>
        <p:spPr>
          <a:xfrm>
            <a:off x="7524750" y="1952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UV coordinates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70644F1-85E6-405F-9A36-671F9D49F4C5}"/>
              </a:ext>
            </a:extLst>
          </p:cNvPr>
          <p:cNvSpPr>
            <a:spLocks noGrp="1"/>
          </p:cNvSpPr>
          <p:nvPr/>
        </p:nvSpPr>
        <p:spPr>
          <a:xfrm>
            <a:off x="7524750" y="2362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The pattern follows the mesh’s UV mapping.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317DBC6-9DE3-4173-9CA7-E7FA170D7BBD}"/>
              </a:ext>
            </a:extLst>
          </p:cNvPr>
          <p:cNvSpPr>
            <a:spLocks noGrp="1"/>
          </p:cNvSpPr>
          <p:nvPr/>
        </p:nvSpPr>
        <p:spPr>
          <a:xfrm>
            <a:off x="7524750" y="32861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World projection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FFA936F-B7D5-483F-928E-E8E92A9924AD}"/>
              </a:ext>
            </a:extLst>
          </p:cNvPr>
          <p:cNvSpPr>
            <a:spLocks noGrp="1"/>
          </p:cNvSpPr>
          <p:nvPr/>
        </p:nvSpPr>
        <p:spPr>
          <a:xfrm>
            <a:off x="7524750" y="36957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The sampling field stays in world space.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62550BD-D34B-439C-AA47-8CDA0E36DBCF}"/>
              </a:ext>
            </a:extLst>
          </p:cNvPr>
          <p:cNvSpPr>
            <a:spLocks noGrp="1"/>
          </p:cNvSpPr>
          <p:nvPr/>
        </p:nvSpPr>
        <p:spPr>
          <a:xfrm>
            <a:off x="7524750" y="4619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Movement test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A2C7CA6-0493-4FFA-A1FC-7BEBE3FCF655}"/>
              </a:ext>
            </a:extLst>
          </p:cNvPr>
          <p:cNvSpPr>
            <a:spLocks noGrp="1"/>
          </p:cNvSpPr>
          <p:nvPr/>
        </p:nvSpPr>
        <p:spPr>
          <a:xfrm>
            <a:off x="7524750" y="5029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Translate the object, then inspect whether the pattern follows.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6CBEF6-97D1-45C6-8B8D-A60EB4A54A46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Should this surface pattern move with the object or remain in the world?</a:t>
            </a:r>
          </a:p>
        </p:txBody>
      </p:sp>
    </p:spTree>
    <p:extLst>
      <p:ext uri="{BB962C8B-B14F-4D97-AF65-F5344CB8AC3E}">
        <p14:creationId xmlns:p14="http://schemas.microsoft.com/office/powerpoint/2010/main" val="13174444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F0CBC2E-02CD-4709-AA61-6B65F6A28EAC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LAB ROUTE 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629C611-C8AB-4A87-A9C5-5E7239CE86F4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Decal projection and receivers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52B123E-87FA-48DC-9AA4-17AFB0292653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9C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9E07FB7-C651-4981-A635-F4B22E4E35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2093119"/>
            <a:ext cx="6477000" cy="364331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1F974432-8119-45F2-BB1A-90FC7D942290}"/>
              </a:ext>
            </a:extLst>
          </p:cNvPr>
          <p:cNvSpPr>
            <a:spLocks noGrp="1"/>
          </p:cNvSpPr>
          <p:nvPr/>
        </p:nvSpPr>
        <p:spPr>
          <a:xfrm>
            <a:off x="7524750" y="1952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Projector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F34A58-EEFE-4A06-8CE8-CF0A466F3194}"/>
              </a:ext>
            </a:extLst>
          </p:cNvPr>
          <p:cNvSpPr>
            <a:spLocks noGrp="1"/>
          </p:cNvSpPr>
          <p:nvPr/>
        </p:nvSpPr>
        <p:spPr>
          <a:xfrm>
            <a:off x="7524750" y="2362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Material assignment, direction and volume bounds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A0E0B03-DD13-4C60-8D87-428B3DF8258B}"/>
              </a:ext>
            </a:extLst>
          </p:cNvPr>
          <p:cNvSpPr>
            <a:spLocks noGrp="1"/>
          </p:cNvSpPr>
          <p:nvPr/>
        </p:nvSpPr>
        <p:spPr>
          <a:xfrm>
            <a:off x="7524750" y="32861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Receiver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8553265-2A40-46E7-BDE1-48112BA37A08}"/>
              </a:ext>
            </a:extLst>
          </p:cNvPr>
          <p:cNvSpPr>
            <a:spLocks noGrp="1"/>
          </p:cNvSpPr>
          <p:nvPr/>
        </p:nvSpPr>
        <p:spPr>
          <a:xfrm>
            <a:off x="7524750" y="36957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Receives Decals + the material’s Decal Response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C040910-2FAB-4F67-A122-3DB3224CA8B5}"/>
              </a:ext>
            </a:extLst>
          </p:cNvPr>
          <p:cNvSpPr>
            <a:spLocks noGrp="1"/>
          </p:cNvSpPr>
          <p:nvPr/>
        </p:nvSpPr>
        <p:spPr>
          <a:xfrm>
            <a:off x="7524750" y="4619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Controlled test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C7E93A9-01FC-40CE-92A0-E1E3CFE7D882}"/>
              </a:ext>
            </a:extLst>
          </p:cNvPr>
          <p:cNvSpPr>
            <a:spLocks noGrp="1"/>
          </p:cNvSpPr>
          <p:nvPr/>
        </p:nvSpPr>
        <p:spPr>
          <a:xfrm>
            <a:off x="7524750" y="5029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MI_10_RoughnessDecal: Roughness 0.03 versus 0.8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ED9479-E878-44AD-B8A0-1D1BC00AC310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Why might a roughness-only decal show no obvious color patch?</a:t>
            </a:r>
          </a:p>
        </p:txBody>
      </p:sp>
    </p:spTree>
    <p:extLst>
      <p:ext uri="{BB962C8B-B14F-4D97-AF65-F5344CB8AC3E}">
        <p14:creationId xmlns:p14="http://schemas.microsoft.com/office/powerpoint/2010/main" val="11435263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722E4A4-6D1E-4882-8751-A393D206383C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REUSABLE LAYERS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490F3B0-E7B5-49E7-B815-E821D182D2E9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Material layers and blends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8E3194-DD01-42B2-8EA9-4A9082D78883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9D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6C559C-E7BB-423A-A4AB-AFA2776961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2093119"/>
            <a:ext cx="6477000" cy="3643313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E69390C-7A98-404E-B3AF-C8407735EB6C}"/>
              </a:ext>
            </a:extLst>
          </p:cNvPr>
          <p:cNvSpPr>
            <a:spLocks noGrp="1"/>
          </p:cNvSpPr>
          <p:nvPr/>
        </p:nvSpPr>
        <p:spPr>
          <a:xfrm>
            <a:off x="7524750" y="1952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Surface layer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60D9BC-FEA6-41CB-B6B4-AE88D1CF861B}"/>
              </a:ext>
            </a:extLst>
          </p:cNvPr>
          <p:cNvSpPr>
            <a:spLocks noGrp="1"/>
          </p:cNvSpPr>
          <p:nvPr/>
        </p:nvSpPr>
        <p:spPr>
          <a:xfrm>
            <a:off x="7524750" y="2362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Defines the surface attributes.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34DE53E-B423-4429-9478-FF51D8927797}"/>
              </a:ext>
            </a:extLst>
          </p:cNvPr>
          <p:cNvSpPr>
            <a:spLocks noGrp="1"/>
          </p:cNvSpPr>
          <p:nvPr/>
        </p:nvSpPr>
        <p:spPr>
          <a:xfrm>
            <a:off x="7524750" y="32861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Layer blend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B9FF3F0-86D8-4BC8-BC27-37389F65792E}"/>
              </a:ext>
            </a:extLst>
          </p:cNvPr>
          <p:cNvSpPr>
            <a:spLocks noGrp="1"/>
          </p:cNvSpPr>
          <p:nvPr/>
        </p:nvSpPr>
        <p:spPr>
          <a:xfrm>
            <a:off x="7524750" y="36957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Defines how the next surface contributes.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FB0944-4AEB-4248-9D32-2482BA9EF651}"/>
              </a:ext>
            </a:extLst>
          </p:cNvPr>
          <p:cNvSpPr>
            <a:spLocks noGrp="1"/>
          </p:cNvSpPr>
          <p:nvPr/>
        </p:nvSpPr>
        <p:spPr>
          <a:xfrm>
            <a:off x="7524750" y="4619625"/>
            <a:ext cx="4048125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Instance controls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3AF864C-6165-4473-8D31-7981B4BE3F67}"/>
              </a:ext>
            </a:extLst>
          </p:cNvPr>
          <p:cNvSpPr>
            <a:spLocks noGrp="1"/>
          </p:cNvSpPr>
          <p:nvPr/>
        </p:nvSpPr>
        <p:spPr>
          <a:xfrm>
            <a:off x="7524750" y="5029200"/>
            <a:ext cx="4048125" cy="8763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MI_12_Layers_0/1/2 → Layer Parameters → Transition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7230AE6-6AE7-4DF1-B231-B04DE35AB52F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If a parameter name repeats, what else identifies the correct control?</a:t>
            </a:r>
          </a:p>
        </p:txBody>
      </p:sp>
    </p:spTree>
    <p:extLst>
      <p:ext uri="{BB962C8B-B14F-4D97-AF65-F5344CB8AC3E}">
        <p14:creationId xmlns:p14="http://schemas.microsoft.com/office/powerpoint/2010/main" val="3157466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2755411-450F-4130-9309-BEDF82B26E36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NORMALS AND AMBIENT OCCLUSION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AE98545-0461-4396-870E-B377939E903D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Neutral normal and AO inputs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03F3EC6-8E7A-4488-8ED2-018112A21918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9E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115E901-BA0B-46AF-9EE5-8E1428BBFD1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37374821"/>
              </p:ext>
            </p:extLst>
          </p:nvPr>
        </p:nvGraphicFramePr>
        <p:xfrm>
          <a:off x="609600" y="2000250"/>
          <a:ext cx="10972800" cy="2952750"/>
        </p:xfrm>
        <a:graphic>
          <a:graphicData uri="http://schemas.openxmlformats.org/drawingml/2006/table">
            <a:tbl>
              <a:tblPr/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33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10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3818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Control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Neutral state here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Interpretation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NormalStrength = 0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Flat tangent-space normal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Removes mapped shading detail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AOStrength = 0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AO output becomes 1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Removes material AO contribution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818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UsePackedORM = on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ORM_AOStrength is active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Separate AOStrength is inactive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DD385287-3922-4EDA-BBEE-25E504B1B42E}"/>
              </a:ext>
            </a:extLst>
          </p:cNvPr>
          <p:cNvSpPr>
            <a:spLocks noGrp="1"/>
          </p:cNvSpPr>
          <p:nvPr/>
        </p:nvSpPr>
        <p:spPr>
          <a:xfrm>
            <a:off x="609600" y="5524500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C4D3E3"/>
                </a:solidFill>
              </a:defRPr>
            </a:defPPr>
            <a:lvl1pPr>
              <a:defRPr sz="1800" b="0">
                <a:solidFill>
                  <a:srgbClr val="C4D3E3"/>
                </a:solidFill>
              </a:defRPr>
            </a:lvl1pPr>
            <a:lvl2pPr>
              <a:defRPr sz="1800" b="0">
                <a:solidFill>
                  <a:srgbClr val="C4D3E3"/>
                </a:solidFill>
              </a:defRPr>
            </a:lvl2pPr>
            <a:lvl3pPr>
              <a:defRPr sz="1800" b="0">
                <a:solidFill>
                  <a:srgbClr val="C4D3E3"/>
                </a:solidFill>
              </a:defRPr>
            </a:lvl3pPr>
            <a:lvl4pPr>
              <a:defRPr sz="1800" b="0">
                <a:solidFill>
                  <a:srgbClr val="C4D3E3"/>
                </a:solidFill>
              </a:defRPr>
            </a:lvl4pPr>
            <a:lvl5pPr>
              <a:defRPr sz="1800" b="0">
                <a:solidFill>
                  <a:srgbClr val="C4D3E3"/>
                </a:solidFill>
              </a:defRPr>
            </a:lvl5pPr>
            <a:lvl6pPr>
              <a:defRPr sz="1800" b="0">
                <a:solidFill>
                  <a:srgbClr val="C4D3E3"/>
                </a:solidFill>
              </a:defRPr>
            </a:lvl6pPr>
            <a:lvl7pPr>
              <a:defRPr sz="1800" b="0">
                <a:solidFill>
                  <a:srgbClr val="C4D3E3"/>
                </a:solidFill>
              </a:defRPr>
            </a:lvl7pPr>
            <a:lvl8pPr>
              <a:defRPr sz="1800" b="0">
                <a:solidFill>
                  <a:srgbClr val="C4D3E3"/>
                </a:solidFill>
              </a:defRPr>
            </a:lvl8pPr>
            <a:lvl9pPr>
              <a:defRPr sz="1800" b="0">
                <a:solidFill>
                  <a:srgbClr val="C4D3E3"/>
                </a:solidFill>
              </a:defRPr>
            </a:lvl9pPr>
          </a:lstStyle>
          <a:p>
            <a:pPr>
              <a:defRPr sz="1800" b="0">
                <a:solidFill>
                  <a:srgbClr val="C4D3E3"/>
                </a:solidFill>
              </a:defRPr>
            </a:pPr>
            <a:r>
              <a:rPr sz="1800" b="0">
                <a:solidFill>
                  <a:srgbClr val="C4D3E3"/>
                </a:solidFill>
                <a:latin typeface="Aptos" panose="020B0004020202020204" pitchFamily="34" charset="0"/>
              </a:rPr>
              <a:t>AO = lerp(1, sampled AO, strength). Neutral is white, not black.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88E885-C6AE-4C36-ABE1-8E0C204E321E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Why does multiplying an AO texture by zero give the wrong disable state?</a:t>
            </a:r>
          </a:p>
        </p:txBody>
      </p:sp>
    </p:spTree>
    <p:extLst>
      <p:ext uri="{BB962C8B-B14F-4D97-AF65-F5344CB8AC3E}">
        <p14:creationId xmlns:p14="http://schemas.microsoft.com/office/powerpoint/2010/main" val="16164680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486681A-4FDE-4E67-BBE8-B7B9D70314ED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sz="1350" b="1">
                <a:solidFill>
                  <a:srgbClr val="FFCA78"/>
                </a:solidFill>
                <a:latin typeface="Aptos" panose="020B0004020202020204" pitchFamily="34" charset="0"/>
              </a:rPr>
              <a:t>LAB HANDOFF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9E3C87-A5A7-4A7D-B735-DDD3FCE8F81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LAB: finish your original shader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C4C80D-9C4D-4167-9F78-43303713CF13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977A88-3312-4BE7-A621-0085873E27F9}"/>
              </a:ext>
            </a:extLst>
          </p:cNvPr>
          <p:cNvSpPr>
            <a:spLocks noGrp="1"/>
          </p:cNvSpPr>
          <p:nvPr/>
        </p:nvSpPr>
        <p:spPr>
          <a:xfrm>
            <a:off x="628650" y="20002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sz="2250" b="1">
                <a:solidFill>
                  <a:srgbClr val="72D4C1"/>
                </a:solidFill>
                <a:latin typeface="Aptos" panose="020B0004020202020204" pitchFamily="34" charset="0"/>
              </a:rPr>
              <a:t>01  Choose one finish or fix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6BB3C6-D23A-46B1-8C64-65CB21745906}"/>
              </a:ext>
            </a:extLst>
          </p:cNvPr>
          <p:cNvSpPr>
            <a:spLocks noGrp="1"/>
          </p:cNvSpPr>
          <p:nvPr/>
        </p:nvSpPr>
        <p:spPr>
          <a:xfrm>
            <a:off x="628650" y="24574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Choose one unfinished feature or problem in your existing shader.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7F6D300-B2A8-46E6-8B79-A80183B9E54B}"/>
              </a:ext>
            </a:extLst>
          </p:cNvPr>
          <p:cNvSpPr>
            <a:spLocks noGrp="1"/>
          </p:cNvSpPr>
          <p:nvPr/>
        </p:nvSpPr>
        <p:spPr>
          <a:xfrm>
            <a:off x="628650" y="33337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sz="2250" b="1">
                <a:solidFill>
                  <a:srgbClr val="72D4C1"/>
                </a:solidFill>
                <a:latin typeface="Aptos" panose="020B0004020202020204" pitchFamily="34" charset="0"/>
              </a:rPr>
              <a:t>02  Build and compare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F549415-62FC-4F35-A5EF-38A8A6EB4536}"/>
              </a:ext>
            </a:extLst>
          </p:cNvPr>
          <p:cNvSpPr>
            <a:spLocks noGrp="1"/>
          </p:cNvSpPr>
          <p:nvPr/>
        </p:nvSpPr>
        <p:spPr>
          <a:xfrm>
            <a:off x="628650" y="37909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Make a focused improvement; use a reference route if it helps.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1BA1AE-065C-4789-879B-F7DBE96B0881}"/>
              </a:ext>
            </a:extLst>
          </p:cNvPr>
          <p:cNvSpPr>
            <a:spLocks noGrp="1"/>
          </p:cNvSpPr>
          <p:nvPr/>
        </p:nvSpPr>
        <p:spPr>
          <a:xfrm>
            <a:off x="628650" y="4667250"/>
            <a:ext cx="10858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1">
                <a:solidFill>
                  <a:srgbClr val="72D4C1"/>
                </a:solidFill>
              </a:defRPr>
            </a:defPPr>
            <a:lvl1pPr>
              <a:defRPr sz="2250" b="1">
                <a:solidFill>
                  <a:srgbClr val="72D4C1"/>
                </a:solidFill>
              </a:defRPr>
            </a:lvl1pPr>
            <a:lvl2pPr>
              <a:defRPr sz="2250" b="1">
                <a:solidFill>
                  <a:srgbClr val="72D4C1"/>
                </a:solidFill>
              </a:defRPr>
            </a:lvl2pPr>
            <a:lvl3pPr>
              <a:defRPr sz="2250" b="1">
                <a:solidFill>
                  <a:srgbClr val="72D4C1"/>
                </a:solidFill>
              </a:defRPr>
            </a:lvl3pPr>
            <a:lvl4pPr>
              <a:defRPr sz="2250" b="1">
                <a:solidFill>
                  <a:srgbClr val="72D4C1"/>
                </a:solidFill>
              </a:defRPr>
            </a:lvl4pPr>
            <a:lvl5pPr>
              <a:defRPr sz="2250" b="1">
                <a:solidFill>
                  <a:srgbClr val="72D4C1"/>
                </a:solidFill>
              </a:defRPr>
            </a:lvl5pPr>
            <a:lvl6pPr>
              <a:defRPr sz="2250" b="1">
                <a:solidFill>
                  <a:srgbClr val="72D4C1"/>
                </a:solidFill>
              </a:defRPr>
            </a:lvl6pPr>
            <a:lvl7pPr>
              <a:defRPr sz="2250" b="1">
                <a:solidFill>
                  <a:srgbClr val="72D4C1"/>
                </a:solidFill>
              </a:defRPr>
            </a:lvl7pPr>
            <a:lvl8pPr>
              <a:defRPr sz="2250" b="1">
                <a:solidFill>
                  <a:srgbClr val="72D4C1"/>
                </a:solidFill>
              </a:defRPr>
            </a:lvl8pPr>
            <a:lvl9pPr>
              <a:defRPr sz="2250" b="1">
                <a:solidFill>
                  <a:srgbClr val="72D4C1"/>
                </a:solidFill>
              </a:defRPr>
            </a:lvl9pPr>
          </a:lstStyle>
          <a:p>
            <a:pPr>
              <a:defRPr sz="2250" b="1">
                <a:solidFill>
                  <a:srgbClr val="72D4C1"/>
                </a:solidFill>
              </a:defRPr>
            </a:pPr>
            <a:r>
              <a:rPr sz="2250" b="1">
                <a:solidFill>
                  <a:srgbClr val="72D4C1"/>
                </a:solidFill>
                <a:latin typeface="Aptos" panose="020B0004020202020204" pitchFamily="34" charset="0"/>
              </a:rPr>
              <a:t>03  Save and explain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224719-3B70-4AF7-986E-36DBDBE1B0B2}"/>
              </a:ext>
            </a:extLst>
          </p:cNvPr>
          <p:cNvSpPr>
            <a:spLocks noGrp="1"/>
          </p:cNvSpPr>
          <p:nvPr/>
        </p:nvSpPr>
        <p:spPr>
          <a:xfrm>
            <a:off x="628650" y="5124450"/>
            <a:ext cx="10572750" cy="809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Capture the result and explain your graph. Keep your finished work.</a:t>
            </a:r>
          </a:p>
        </p:txBody>
      </p:sp>
    </p:spTree>
    <p:extLst>
      <p:ext uri="{BB962C8B-B14F-4D97-AF65-F5344CB8AC3E}">
        <p14:creationId xmlns:p14="http://schemas.microsoft.com/office/powerpoint/2010/main" val="17570035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DD705FD-586B-4F60-9C64-EB93D0570249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sz="1350" b="1">
                <a:solidFill>
                  <a:srgbClr val="FFCA78"/>
                </a:solidFill>
                <a:latin typeface="Aptos" panose="020B0004020202020204" pitchFamily="34" charset="0"/>
              </a:rPr>
              <a:t>LAB HANDOFF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6CD9419-8EC8-40A6-A8BE-697AF2444831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Optional: document a debugging test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487F25D-DE1D-4F82-A922-80F96854A26C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10A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11C49A8-B9B3-497E-9A71-30207042DA4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30272047"/>
              </p:ext>
            </p:extLst>
          </p:nvPr>
        </p:nvGraphicFramePr>
        <p:xfrm>
          <a:off x="609600" y="2000250"/>
          <a:ext cx="10972800" cy="3381375"/>
        </p:xfrm>
        <a:graphic>
          <a:graphicData uri="http://schemas.openxmlformats.org/drawingml/2006/table">
            <a:tbl>
              <a:tblPr/>
              <a:tblGrid>
                <a:gridCol w="314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9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6356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Record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Example for Route A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Asset + route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Assigned duplicate of MI_W09_05_PolishedMetal; packed mode off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Fixed conditions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Same mesh, tint, normal, light, exposure and camera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Changed variable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Both roughness endpoints: .2/.2 → .8/.8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Evidence + explanation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Your A/B views and observed reflection difference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356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Reset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Original .12/.12 or original assignment; verify it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DCDBD1EF-EF0B-49E5-9189-DE3EF5D3F51A}"/>
              </a:ext>
            </a:extLst>
          </p:cNvPr>
          <p:cNvSpPr>
            <a:spLocks noGrp="1"/>
          </p:cNvSpPr>
          <p:nvPr/>
        </p:nvSpPr>
        <p:spPr>
          <a:xfrm>
            <a:off x="609600" y="5524500"/>
            <a:ext cx="10972800" cy="5238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C4D3E3"/>
                </a:solidFill>
              </a:defRPr>
            </a:defPPr>
            <a:lvl1pPr>
              <a:defRPr sz="1800" b="0">
                <a:solidFill>
                  <a:srgbClr val="C4D3E3"/>
                </a:solidFill>
              </a:defRPr>
            </a:lvl1pPr>
            <a:lvl2pPr>
              <a:defRPr sz="1800" b="0">
                <a:solidFill>
                  <a:srgbClr val="C4D3E3"/>
                </a:solidFill>
              </a:defRPr>
            </a:lvl2pPr>
            <a:lvl3pPr>
              <a:defRPr sz="1800" b="0">
                <a:solidFill>
                  <a:srgbClr val="C4D3E3"/>
                </a:solidFill>
              </a:defRPr>
            </a:lvl3pPr>
            <a:lvl4pPr>
              <a:defRPr sz="1800" b="0">
                <a:solidFill>
                  <a:srgbClr val="C4D3E3"/>
                </a:solidFill>
              </a:defRPr>
            </a:lvl4pPr>
            <a:lvl5pPr>
              <a:defRPr sz="1800" b="0">
                <a:solidFill>
                  <a:srgbClr val="C4D3E3"/>
                </a:solidFill>
              </a:defRPr>
            </a:lvl5pPr>
            <a:lvl6pPr>
              <a:defRPr sz="1800" b="0">
                <a:solidFill>
                  <a:srgbClr val="C4D3E3"/>
                </a:solidFill>
              </a:defRPr>
            </a:lvl6pPr>
            <a:lvl7pPr>
              <a:defRPr sz="1800" b="0">
                <a:solidFill>
                  <a:srgbClr val="C4D3E3"/>
                </a:solidFill>
              </a:defRPr>
            </a:lvl7pPr>
            <a:lvl8pPr>
              <a:defRPr sz="1800" b="0">
                <a:solidFill>
                  <a:srgbClr val="C4D3E3"/>
                </a:solidFill>
              </a:defRPr>
            </a:lvl8pPr>
            <a:lvl9pPr>
              <a:defRPr sz="1800" b="0">
                <a:solidFill>
                  <a:srgbClr val="C4D3E3"/>
                </a:solidFill>
              </a:defRPr>
            </a:lvl9pPr>
          </a:lstStyle>
          <a:p>
            <a:pPr>
              <a:defRPr sz="1800" b="0">
                <a:solidFill>
                  <a:srgbClr val="C4D3E3"/>
                </a:solidFill>
              </a:defRPr>
            </a:pPr>
            <a:r>
              <a:rPr sz="1800" b="0">
                <a:solidFill>
                  <a:srgbClr val="C4D3E3"/>
                </a:solidFill>
                <a:latin typeface="Aptos" panose="020B0004020202020204" pitchFamily="34" charset="0"/>
              </a:rPr>
              <a:t>Prediction is not evidence. Record what you actually tested.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FFE871-D0B0-49CC-A184-4D7D7FEFCA17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What would another student still need to repeat your comparison?</a:t>
            </a:r>
          </a:p>
        </p:txBody>
      </p:sp>
    </p:spTree>
    <p:extLst>
      <p:ext uri="{BB962C8B-B14F-4D97-AF65-F5344CB8AC3E}">
        <p14:creationId xmlns:p14="http://schemas.microsoft.com/office/powerpoint/2010/main" val="6236525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D43F973-D22A-4FC5-9A73-0B51D7952AD1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sz="1350" b="1">
                <a:solidFill>
                  <a:srgbClr val="FFCA78"/>
                </a:solidFill>
                <a:latin typeface="Aptos" panose="020B0004020202020204" pitchFamily="34" charset="0"/>
              </a:rPr>
              <a:t>LAB • 6:25–6:50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EE4F1E1-A22D-43FC-A5D2-CB7809BEE270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Your shader: result and explanation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552915-15E3-4A60-B1A3-9DEE5E0CB9B0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11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BF29CAA-E931-4602-8F78-49F90AF17A2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07537265"/>
              </p:ext>
            </p:extLst>
          </p:nvPr>
        </p:nvGraphicFramePr>
        <p:xfrm>
          <a:off x="609600" y="1952625"/>
          <a:ext cx="10972800" cy="3714750"/>
        </p:xfrm>
        <a:graphic>
          <a:graphicData uri="http://schemas.openxmlformats.org/drawingml/2006/table">
            <a:tbl>
              <a:tblPr/>
              <a:tblGrid>
                <a:gridCol w="31432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9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Finish your shader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BFE7E1"/>
                          </a:solidFill>
                          <a:latin typeface="Aptos" panose="020B0004020202020204" pitchFamily="34" charset="0"/>
                        </a:rPr>
                        <a:t>Use the existing assignment brief</a:t>
                      </a:r>
                    </a:p>
                  </a:txBody>
                  <a:tcPr>
                    <a:solidFill>
                      <a:srgbClr val="1747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Choose a finish or fix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One missing feature, unclear control or visual issue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Test the result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Check the intended view and one useful edge case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Make the graph readable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Group logic and label artist-facing controls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Capture and explain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Show your result and how the shader produces it</a:t>
                      </a:r>
                    </a:p>
                  </a:txBody>
                  <a:tcPr>
                    <a:solidFill>
                      <a:srgbClr val="1E465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9125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Save your work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FFFFFF"/>
                          </a:solidFill>
                          <a:latin typeface="Aptos" panose="020B0004020202020204" pitchFamily="34" charset="0"/>
                        </a:rPr>
                        <a:t>Keep useful edits; reset temporary reference tests</a:t>
                      </a:r>
                    </a:p>
                  </a:txBody>
                  <a:tcPr>
                    <a:solidFill>
                      <a:srgbClr val="17394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88F8088D-EFC8-4719-B972-8D92B9322982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1">
                <a:solidFill>
                  <a:srgbClr val="72D4C1"/>
                </a:solidFill>
              </a:defRPr>
            </a:defPPr>
            <a:lvl1pPr>
              <a:defRPr sz="1950" b="1">
                <a:solidFill>
                  <a:srgbClr val="72D4C1"/>
                </a:solidFill>
              </a:defRPr>
            </a:lvl1pPr>
            <a:lvl2pPr>
              <a:defRPr sz="1950" b="1">
                <a:solidFill>
                  <a:srgbClr val="72D4C1"/>
                </a:solidFill>
              </a:defRPr>
            </a:lvl2pPr>
            <a:lvl3pPr>
              <a:defRPr sz="1950" b="1">
                <a:solidFill>
                  <a:srgbClr val="72D4C1"/>
                </a:solidFill>
              </a:defRPr>
            </a:lvl3pPr>
            <a:lvl4pPr>
              <a:defRPr sz="1950" b="1">
                <a:solidFill>
                  <a:srgbClr val="72D4C1"/>
                </a:solidFill>
              </a:defRPr>
            </a:lvl4pPr>
            <a:lvl5pPr>
              <a:defRPr sz="1950" b="1">
                <a:solidFill>
                  <a:srgbClr val="72D4C1"/>
                </a:solidFill>
              </a:defRPr>
            </a:lvl5pPr>
            <a:lvl6pPr>
              <a:defRPr sz="1950" b="1">
                <a:solidFill>
                  <a:srgbClr val="72D4C1"/>
                </a:solidFill>
              </a:defRPr>
            </a:lvl6pPr>
            <a:lvl7pPr>
              <a:defRPr sz="1950" b="1">
                <a:solidFill>
                  <a:srgbClr val="72D4C1"/>
                </a:solidFill>
              </a:defRPr>
            </a:lvl7pPr>
            <a:lvl8pPr>
              <a:defRPr sz="1950" b="1">
                <a:solidFill>
                  <a:srgbClr val="72D4C1"/>
                </a:solidFill>
              </a:defRPr>
            </a:lvl8pPr>
            <a:lvl9pPr>
              <a:defRPr sz="1950" b="1">
                <a:solidFill>
                  <a:srgbClr val="72D4C1"/>
                </a:solidFill>
              </a:defRPr>
            </a:lvl9pPr>
          </a:lstStyle>
          <a:p>
            <a:pPr>
              <a:defRPr sz="1950" b="1">
                <a:solidFill>
                  <a:srgbClr val="72D4C1"/>
                </a:solidFill>
              </a:defRPr>
            </a:pPr>
            <a:r>
              <a:rPr sz="1950" b="1">
                <a:solidFill>
                  <a:srgbClr val="72D4C1"/>
                </a:solidFill>
                <a:latin typeface="Aptos" panose="020B0004020202020204" pitchFamily="34" charset="0"/>
              </a:rPr>
              <a:t>Use your actual parameter name, values, and observed result.</a:t>
            </a:r>
          </a:p>
        </p:txBody>
      </p:sp>
    </p:spTree>
    <p:extLst>
      <p:ext uri="{BB962C8B-B14F-4D97-AF65-F5344CB8AC3E}">
        <p14:creationId xmlns:p14="http://schemas.microsoft.com/office/powerpoint/2010/main" val="27610590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A02EC05-4801-4AAF-BBEC-1B5AFDC28020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sz="1350" b="1">
                <a:solidFill>
                  <a:srgbClr val="FFCA78"/>
                </a:solidFill>
                <a:latin typeface="Aptos" panose="020B0004020202020204" pitchFamily="34" charset="0"/>
              </a:rPr>
              <a:t>FINAL ASSIGNMENT · ROUGH OUTLINE · 6:50–6:55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A17BC6-AF1B-4450-96C3-C159F6582009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Final project: exploratory technical art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68DEE7-B5F9-499F-BD4F-A20BD72B86D5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8B0EEB4-65D3-4B5B-9260-2D3CE0F77827}"/>
              </a:ext>
            </a:extLst>
          </p:cNvPr>
          <p:cNvSpPr>
            <a:spLocks noGrp="1"/>
          </p:cNvSpPr>
          <p:nvPr/>
        </p:nvSpPr>
        <p:spPr>
          <a:xfrm>
            <a:off x="609600" y="2000250"/>
            <a:ext cx="5334000" cy="1762125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E515E30-CC2C-4879-8C0F-488F414E9D99}"/>
              </a:ext>
            </a:extLst>
          </p:cNvPr>
          <p:cNvSpPr>
            <a:spLocks noGrp="1"/>
          </p:cNvSpPr>
          <p:nvPr/>
        </p:nvSpPr>
        <p:spPr>
          <a:xfrm>
            <a:off x="800100" y="2133600"/>
            <a:ext cx="49530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Explore and build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ADE494-9A4F-4D0F-BF05-A39DBA952C8D}"/>
              </a:ext>
            </a:extLst>
          </p:cNvPr>
          <p:cNvSpPr>
            <a:spLocks noGrp="1"/>
          </p:cNvSpPr>
          <p:nvPr/>
        </p:nvSpPr>
        <p:spPr>
          <a:xfrm>
            <a:off x="800100" y="2619375"/>
            <a:ext cx="4953000" cy="1095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Choose a technical-art question.</a:t>
            </a:r>
          </a:p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Make a tool, shader, procedural (PCG) system, effect or other exploration. A tool is optional.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84A16E-6D70-45DF-8856-3ECFF2B090CF}"/>
              </a:ext>
            </a:extLst>
          </p:cNvPr>
          <p:cNvSpPr>
            <a:spLocks noGrp="1"/>
          </p:cNvSpPr>
          <p:nvPr/>
        </p:nvSpPr>
        <p:spPr>
          <a:xfrm>
            <a:off x="6172200" y="2000250"/>
            <a:ext cx="5410200" cy="1762125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CA32CD-9436-4B19-B803-982B9C029E46}"/>
              </a:ext>
            </a:extLst>
          </p:cNvPr>
          <p:cNvSpPr>
            <a:spLocks noGrp="1"/>
          </p:cNvSpPr>
          <p:nvPr/>
        </p:nvSpPr>
        <p:spPr>
          <a:xfrm>
            <a:off x="6362700" y="2133600"/>
            <a:ext cx="50292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Work solo or in a group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5E491DB-E43F-4874-AE5E-F20CE7FB6520}"/>
              </a:ext>
            </a:extLst>
          </p:cNvPr>
          <p:cNvSpPr>
            <a:spLocks noGrp="1"/>
          </p:cNvSpPr>
          <p:nvPr/>
        </p:nvSpPr>
        <p:spPr>
          <a:xfrm>
            <a:off x="6362700" y="2619375"/>
            <a:ext cx="5029200" cy="1095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Scope a small, functional result, as with the midterm.</a:t>
            </a:r>
          </a:p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For teams, define each person’s contribution.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AD2D87-0262-4765-884F-FDBB05C88C5D}"/>
              </a:ext>
            </a:extLst>
          </p:cNvPr>
          <p:cNvSpPr>
            <a:spLocks noGrp="1"/>
          </p:cNvSpPr>
          <p:nvPr/>
        </p:nvSpPr>
        <p:spPr>
          <a:xfrm>
            <a:off x="609600" y="3971925"/>
            <a:ext cx="5334000" cy="1762125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376B46A-171D-408E-A526-D7B0427F2A6E}"/>
              </a:ext>
            </a:extLst>
          </p:cNvPr>
          <p:cNvSpPr>
            <a:spLocks noGrp="1"/>
          </p:cNvSpPr>
          <p:nvPr/>
        </p:nvSpPr>
        <p:spPr>
          <a:xfrm>
            <a:off x="800100" y="4105275"/>
            <a:ext cx="49530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Final presentation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EE16E1-80F3-4CD1-8A45-60F684004622}"/>
              </a:ext>
            </a:extLst>
          </p:cNvPr>
          <p:cNvSpPr>
            <a:spLocks noGrp="1"/>
          </p:cNvSpPr>
          <p:nvPr/>
        </p:nvSpPr>
        <p:spPr>
          <a:xfrm>
            <a:off x="800100" y="4591050"/>
            <a:ext cx="4953000" cy="1095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Teach the class and demonstrate your work.</a:t>
            </a:r>
          </a:p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Explain the concept, experiments, results and limitations.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811EDD1-3A7D-4F7B-BA3E-8A43DA32931D}"/>
              </a:ext>
            </a:extLst>
          </p:cNvPr>
          <p:cNvSpPr>
            <a:spLocks noGrp="1"/>
          </p:cNvSpPr>
          <p:nvPr/>
        </p:nvSpPr>
        <p:spPr>
          <a:xfrm>
            <a:off x="6172200" y="3971925"/>
            <a:ext cx="5410200" cy="1762125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4725704-C52D-4426-B6F1-0081D738E45D}"/>
              </a:ext>
            </a:extLst>
          </p:cNvPr>
          <p:cNvSpPr>
            <a:spLocks noGrp="1"/>
          </p:cNvSpPr>
          <p:nvPr/>
        </p:nvSpPr>
        <p:spPr>
          <a:xfrm>
            <a:off x="6362700" y="4105275"/>
            <a:ext cx="50292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Develop a portfolio piece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C39AE20-4A79-48DC-B506-E434FE856D08}"/>
              </a:ext>
            </a:extLst>
          </p:cNvPr>
          <p:cNvSpPr>
            <a:spLocks noGrp="1"/>
          </p:cNvSpPr>
          <p:nvPr/>
        </p:nvSpPr>
        <p:spPr>
          <a:xfrm>
            <a:off x="6362700" y="4591050"/>
            <a:ext cx="5029200" cy="1095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Plan a clear breakdown with visuals, your process and evidence.</a:t>
            </a:r>
          </a:p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Show what you contributed and learned.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6B3CF1C-D4F4-4C9C-BF0B-6F98468F9450}"/>
              </a:ext>
            </a:extLst>
          </p:cNvPr>
          <p:cNvSpPr>
            <a:spLocks noGrp="1"/>
          </p:cNvSpPr>
          <p:nvPr/>
        </p:nvSpPr>
        <p:spPr>
          <a:xfrm>
            <a:off x="609600" y="6057900"/>
            <a:ext cx="10715625" cy="400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72D4C1"/>
                </a:solidFill>
              </a:defRPr>
            </a:defPPr>
            <a:lvl1pPr>
              <a:defRPr sz="1875" b="1">
                <a:solidFill>
                  <a:srgbClr val="72D4C1"/>
                </a:solidFill>
              </a:defRPr>
            </a:lvl1pPr>
            <a:lvl2pPr>
              <a:defRPr sz="1875" b="1">
                <a:solidFill>
                  <a:srgbClr val="72D4C1"/>
                </a:solidFill>
              </a:defRPr>
            </a:lvl2pPr>
            <a:lvl3pPr>
              <a:defRPr sz="1875" b="1">
                <a:solidFill>
                  <a:srgbClr val="72D4C1"/>
                </a:solidFill>
              </a:defRPr>
            </a:lvl3pPr>
            <a:lvl4pPr>
              <a:defRPr sz="1875" b="1">
                <a:solidFill>
                  <a:srgbClr val="72D4C1"/>
                </a:solidFill>
              </a:defRPr>
            </a:lvl4pPr>
            <a:lvl5pPr>
              <a:defRPr sz="1875" b="1">
                <a:solidFill>
                  <a:srgbClr val="72D4C1"/>
                </a:solidFill>
              </a:defRPr>
            </a:lvl5pPr>
            <a:lvl6pPr>
              <a:defRPr sz="1875" b="1">
                <a:solidFill>
                  <a:srgbClr val="72D4C1"/>
                </a:solidFill>
              </a:defRPr>
            </a:lvl6pPr>
            <a:lvl7pPr>
              <a:defRPr sz="1875" b="1">
                <a:solidFill>
                  <a:srgbClr val="72D4C1"/>
                </a:solidFill>
              </a:defRPr>
            </a:lvl7pPr>
            <a:lvl8pPr>
              <a:defRPr sz="1875" b="1">
                <a:solidFill>
                  <a:srgbClr val="72D4C1"/>
                </a:solidFill>
              </a:defRPr>
            </a:lvl8pPr>
            <a:lvl9pPr>
              <a:defRPr sz="1875" b="1">
                <a:solidFill>
                  <a:srgbClr val="72D4C1"/>
                </a:solidFill>
              </a:defRPr>
            </a:lvl9pPr>
          </a:lstStyle>
          <a:p>
            <a:pPr>
              <a:defRPr sz="1875" b="1">
                <a:solidFill>
                  <a:srgbClr val="72D4C1"/>
                </a:solidFill>
              </a:defRPr>
            </a:pPr>
            <a:r>
              <a:rPr sz="1875" b="1">
                <a:solidFill>
                  <a:srgbClr val="72D4C1"/>
                </a:solidFill>
                <a:latin typeface="Aptos" panose="020B0004020202020204" pitchFamily="34" charset="0"/>
              </a:rPr>
              <a:t>Start with: question → minimum useful result → test → teaching goal</a:t>
            </a:r>
          </a:p>
        </p:txBody>
      </p:sp>
    </p:spTree>
    <p:extLst>
      <p:ext uri="{BB962C8B-B14F-4D97-AF65-F5344CB8AC3E}">
        <p14:creationId xmlns:p14="http://schemas.microsoft.com/office/powerpoint/2010/main" val="72924381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7F96F5-E811-4AFA-86DC-A5CF9A3AA966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FFCA78"/>
                </a:solidFill>
              </a:defRPr>
            </a:defPPr>
            <a:lvl1pPr>
              <a:defRPr sz="1350" b="1">
                <a:solidFill>
                  <a:srgbClr val="FFCA78"/>
                </a:solidFill>
              </a:defRPr>
            </a:lvl1pPr>
            <a:lvl2pPr>
              <a:defRPr sz="1350" b="1">
                <a:solidFill>
                  <a:srgbClr val="FFCA78"/>
                </a:solidFill>
              </a:defRPr>
            </a:lvl2pPr>
            <a:lvl3pPr>
              <a:defRPr sz="1350" b="1">
                <a:solidFill>
                  <a:srgbClr val="FFCA78"/>
                </a:solidFill>
              </a:defRPr>
            </a:lvl3pPr>
            <a:lvl4pPr>
              <a:defRPr sz="1350" b="1">
                <a:solidFill>
                  <a:srgbClr val="FFCA78"/>
                </a:solidFill>
              </a:defRPr>
            </a:lvl4pPr>
            <a:lvl5pPr>
              <a:defRPr sz="1350" b="1">
                <a:solidFill>
                  <a:srgbClr val="FFCA78"/>
                </a:solidFill>
              </a:defRPr>
            </a:lvl5pPr>
            <a:lvl6pPr>
              <a:defRPr sz="1350" b="1">
                <a:solidFill>
                  <a:srgbClr val="FFCA78"/>
                </a:solidFill>
              </a:defRPr>
            </a:lvl6pPr>
            <a:lvl7pPr>
              <a:defRPr sz="1350" b="1">
                <a:solidFill>
                  <a:srgbClr val="FFCA78"/>
                </a:solidFill>
              </a:defRPr>
            </a:lvl7pPr>
            <a:lvl8pPr>
              <a:defRPr sz="1350" b="1">
                <a:solidFill>
                  <a:srgbClr val="FFCA78"/>
                </a:solidFill>
              </a:defRPr>
            </a:lvl8pPr>
            <a:lvl9pPr>
              <a:defRPr sz="1350" b="1">
                <a:solidFill>
                  <a:srgbClr val="FFCA78"/>
                </a:solidFill>
              </a:defRPr>
            </a:lvl9pPr>
          </a:lstStyle>
          <a:p>
            <a:pPr>
              <a:defRPr sz="1350" b="1">
                <a:solidFill>
                  <a:srgbClr val="FFCA78"/>
                </a:solidFill>
              </a:defRPr>
            </a:pPr>
            <a:r>
              <a:rPr sz="1350" b="1">
                <a:solidFill>
                  <a:srgbClr val="FFCA78"/>
                </a:solidFill>
                <a:latin typeface="Aptos" panose="020B0004020202020204" pitchFamily="34" charset="0"/>
              </a:rPr>
              <a:t>PROJECT DISCUSSION · 6:55–7:00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D93F522-91F0-4272-9AB9-51DE52E836DC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Your project starting point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29520E7-538D-40E9-AC59-D1B066D117C6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13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6F16D8-0E82-4265-B9CB-45748943FD77}"/>
              </a:ext>
            </a:extLst>
          </p:cNvPr>
          <p:cNvSpPr>
            <a:spLocks noGrp="1"/>
          </p:cNvSpPr>
          <p:nvPr/>
        </p:nvSpPr>
        <p:spPr>
          <a:xfrm>
            <a:off x="609600" y="2000250"/>
            <a:ext cx="10972800" cy="1066800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68B5A4-E368-4E57-B738-0350C2415A41}"/>
              </a:ext>
            </a:extLst>
          </p:cNvPr>
          <p:cNvSpPr>
            <a:spLocks noGrp="1"/>
          </p:cNvSpPr>
          <p:nvPr/>
        </p:nvSpPr>
        <p:spPr>
          <a:xfrm>
            <a:off x="800100" y="2133600"/>
            <a:ext cx="10591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Question + smallest useful result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59B16AC-4949-40A4-A5E0-F2CB0BD2C24F}"/>
              </a:ext>
            </a:extLst>
          </p:cNvPr>
          <p:cNvSpPr>
            <a:spLocks noGrp="1"/>
          </p:cNvSpPr>
          <p:nvPr/>
        </p:nvSpPr>
        <p:spPr>
          <a:xfrm>
            <a:off x="800100" y="2619375"/>
            <a:ext cx="10591800" cy="400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What will you investigate, and what can you build first?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351C9F-A38A-487C-9A26-7F818849ED23}"/>
              </a:ext>
            </a:extLst>
          </p:cNvPr>
          <p:cNvSpPr>
            <a:spLocks noGrp="1"/>
          </p:cNvSpPr>
          <p:nvPr/>
        </p:nvSpPr>
        <p:spPr>
          <a:xfrm>
            <a:off x="609600" y="3286125"/>
            <a:ext cx="10972800" cy="1066800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8A09129-4EBF-44F0-8D9E-C921D93B2474}"/>
              </a:ext>
            </a:extLst>
          </p:cNvPr>
          <p:cNvSpPr>
            <a:spLocks noGrp="1"/>
          </p:cNvSpPr>
          <p:nvPr/>
        </p:nvSpPr>
        <p:spPr>
          <a:xfrm>
            <a:off x="800100" y="3419475"/>
            <a:ext cx="10591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Evidence + teaching goal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3F37B37-6914-45C5-830C-9BD63EEF8C62}"/>
              </a:ext>
            </a:extLst>
          </p:cNvPr>
          <p:cNvSpPr>
            <a:spLocks noGrp="1"/>
          </p:cNvSpPr>
          <p:nvPr/>
        </p:nvSpPr>
        <p:spPr>
          <a:xfrm>
            <a:off x="800100" y="3905250"/>
            <a:ext cx="10591800" cy="400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How will you test it? What should classmates understand after your demo?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BC6A90E-FEEA-4261-A529-389E09E71A68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1066800"/>
          </a:xfrm>
          <a:prstGeom prst="rect">
            <a:avLst/>
          </a:prstGeom>
          <a:solidFill>
            <a:srgbClr val="192D40"/>
          </a:solidFill>
          <a:ln w="9525">
            <a:solidFill>
              <a:srgbClr val="38566D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C699D5B-C200-4421-B52A-CF60E6C4A5CB}"/>
              </a:ext>
            </a:extLst>
          </p:cNvPr>
          <p:cNvSpPr>
            <a:spLocks noGrp="1"/>
          </p:cNvSpPr>
          <p:nvPr/>
        </p:nvSpPr>
        <p:spPr>
          <a:xfrm>
            <a:off x="800100" y="4705350"/>
            <a:ext cx="10591800" cy="419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Roles + portfolio evidence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FD5351B-83B6-4BBB-B13E-B87ED4783629}"/>
              </a:ext>
            </a:extLst>
          </p:cNvPr>
          <p:cNvSpPr>
            <a:spLocks noGrp="1"/>
          </p:cNvSpPr>
          <p:nvPr/>
        </p:nvSpPr>
        <p:spPr>
          <a:xfrm>
            <a:off x="800100" y="5191125"/>
            <a:ext cx="10591800" cy="400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Solo or group? Identify contributions and the visuals you need to capture.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291C682-34B6-4F3D-A647-982038161250}"/>
              </a:ext>
            </a:extLst>
          </p:cNvPr>
          <p:cNvSpPr>
            <a:spLocks noGrp="1"/>
          </p:cNvSpPr>
          <p:nvPr/>
        </p:nvSpPr>
        <p:spPr>
          <a:xfrm>
            <a:off x="609600" y="6096000"/>
            <a:ext cx="10668000" cy="400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72D4C1"/>
                </a:solidFill>
              </a:defRPr>
            </a:defPPr>
            <a:lvl1pPr>
              <a:defRPr sz="1875" b="1">
                <a:solidFill>
                  <a:srgbClr val="72D4C1"/>
                </a:solidFill>
              </a:defRPr>
            </a:lvl1pPr>
            <a:lvl2pPr>
              <a:defRPr sz="1875" b="1">
                <a:solidFill>
                  <a:srgbClr val="72D4C1"/>
                </a:solidFill>
              </a:defRPr>
            </a:lvl2pPr>
            <a:lvl3pPr>
              <a:defRPr sz="1875" b="1">
                <a:solidFill>
                  <a:srgbClr val="72D4C1"/>
                </a:solidFill>
              </a:defRPr>
            </a:lvl3pPr>
            <a:lvl4pPr>
              <a:defRPr sz="1875" b="1">
                <a:solidFill>
                  <a:srgbClr val="72D4C1"/>
                </a:solidFill>
              </a:defRPr>
            </a:lvl4pPr>
            <a:lvl5pPr>
              <a:defRPr sz="1875" b="1">
                <a:solidFill>
                  <a:srgbClr val="72D4C1"/>
                </a:solidFill>
              </a:defRPr>
            </a:lvl5pPr>
            <a:lvl6pPr>
              <a:defRPr sz="1875" b="1">
                <a:solidFill>
                  <a:srgbClr val="72D4C1"/>
                </a:solidFill>
              </a:defRPr>
            </a:lvl6pPr>
            <a:lvl7pPr>
              <a:defRPr sz="1875" b="1">
                <a:solidFill>
                  <a:srgbClr val="72D4C1"/>
                </a:solidFill>
              </a:defRPr>
            </a:lvl7pPr>
            <a:lvl8pPr>
              <a:defRPr sz="1875" b="1">
                <a:solidFill>
                  <a:srgbClr val="72D4C1"/>
                </a:solidFill>
              </a:defRPr>
            </a:lvl8pPr>
            <a:lvl9pPr>
              <a:defRPr sz="1875" b="1">
                <a:solidFill>
                  <a:srgbClr val="72D4C1"/>
                </a:solidFill>
              </a:defRPr>
            </a:lvl9pPr>
          </a:lstStyle>
          <a:p>
            <a:pPr>
              <a:defRPr sz="1875" b="1">
                <a:solidFill>
                  <a:srgbClr val="72D4C1"/>
                </a:solidFill>
              </a:defRPr>
            </a:pPr>
            <a:r>
              <a:rPr sz="1875" b="1">
                <a:solidFill>
                  <a:srgbClr val="72D4C1"/>
                </a:solidFill>
                <a:latin typeface="Aptos" panose="020B0004020202020204" pitchFamily="34" charset="0"/>
              </a:rPr>
              <a:t>What part of your idea needs help with scope or technical direction?</a:t>
            </a:r>
          </a:p>
        </p:txBody>
      </p:sp>
    </p:spTree>
    <p:extLst>
      <p:ext uri="{BB962C8B-B14F-4D97-AF65-F5344CB8AC3E}">
        <p14:creationId xmlns:p14="http://schemas.microsoft.com/office/powerpoint/2010/main" val="20514469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00754EA-73E7-4E3E-A564-3BABD775D44E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REFERENCE • EXPLORE AFTER THE LIVE WALKTHROUGH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82B4A2-EC55-438C-8222-75D988003AED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Texture-channel reference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A340817-5350-4AFC-B971-13830D5AF168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555255-F212-4FCF-A0D8-A78A8CDDA1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2015133"/>
            <a:ext cx="6381750" cy="358973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E3C97EE-3D18-4469-8AEA-4BD20CD439C6}"/>
              </a:ext>
            </a:extLst>
          </p:cNvPr>
          <p:cNvSpPr>
            <a:spLocks noGrp="1"/>
          </p:cNvSpPr>
          <p:nvPr/>
        </p:nvSpPr>
        <p:spPr>
          <a:xfrm>
            <a:off x="7429500" y="2000250"/>
            <a:ext cx="40957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Color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FC9A0D8-FDA8-419D-95F2-B56200F6DE71}"/>
              </a:ext>
            </a:extLst>
          </p:cNvPr>
          <p:cNvSpPr>
            <a:spLocks noGrp="1"/>
          </p:cNvSpPr>
          <p:nvPr/>
        </p:nvSpPr>
        <p:spPr>
          <a:xfrm>
            <a:off x="7429500" y="2409825"/>
            <a:ext cx="4095750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Base Color: supplied sRGB texture</a:t>
            </a:r>
          </a:p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with Color sampling.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D6D0C01-6F13-4049-A859-185AE9E05841}"/>
              </a:ext>
            </a:extLst>
          </p:cNvPr>
          <p:cNvSpPr>
            <a:spLocks noGrp="1"/>
          </p:cNvSpPr>
          <p:nvPr/>
        </p:nvSpPr>
        <p:spPr>
          <a:xfrm>
            <a:off x="7429500" y="3333750"/>
            <a:ext cx="40957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Numerical data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C4018F-720B-4F3F-AB49-4EA603CA9CED}"/>
              </a:ext>
            </a:extLst>
          </p:cNvPr>
          <p:cNvSpPr>
            <a:spLocks noGrp="1"/>
          </p:cNvSpPr>
          <p:nvPr/>
        </p:nvSpPr>
        <p:spPr>
          <a:xfrm>
            <a:off x="7429500" y="3743325"/>
            <a:ext cx="4095750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Roughness, AO and masks: linear.</a:t>
            </a:r>
          </a:p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Check channel and sampler.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B054C6-9970-4AE0-9824-B044DA7BA8CF}"/>
              </a:ext>
            </a:extLst>
          </p:cNvPr>
          <p:cNvSpPr>
            <a:spLocks noGrp="1"/>
          </p:cNvSpPr>
          <p:nvPr/>
        </p:nvSpPr>
        <p:spPr>
          <a:xfrm>
            <a:off x="7429500" y="4667250"/>
            <a:ext cx="409575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Normal data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C56C61-4FBB-4A2B-8855-FCA5921B8862}"/>
              </a:ext>
            </a:extLst>
          </p:cNvPr>
          <p:cNvSpPr>
            <a:spLocks noGrp="1"/>
          </p:cNvSpPr>
          <p:nvPr/>
        </p:nvSpPr>
        <p:spPr>
          <a:xfrm>
            <a:off x="7429500" y="5076825"/>
            <a:ext cx="4095750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Use the matching convention</a:t>
            </a:r>
          </a:p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and Normal compression.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A2627E-C05A-443F-A5ED-159A455ED283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1">
                <a:solidFill>
                  <a:srgbClr val="72D4C1"/>
                </a:solidFill>
              </a:defRPr>
            </a:defPPr>
            <a:lvl1pPr>
              <a:defRPr sz="1950" b="1">
                <a:solidFill>
                  <a:srgbClr val="72D4C1"/>
                </a:solidFill>
              </a:defRPr>
            </a:lvl1pPr>
            <a:lvl2pPr>
              <a:defRPr sz="1950" b="1">
                <a:solidFill>
                  <a:srgbClr val="72D4C1"/>
                </a:solidFill>
              </a:defRPr>
            </a:lvl2pPr>
            <a:lvl3pPr>
              <a:defRPr sz="1950" b="1">
                <a:solidFill>
                  <a:srgbClr val="72D4C1"/>
                </a:solidFill>
              </a:defRPr>
            </a:lvl3pPr>
            <a:lvl4pPr>
              <a:defRPr sz="1950" b="1">
                <a:solidFill>
                  <a:srgbClr val="72D4C1"/>
                </a:solidFill>
              </a:defRPr>
            </a:lvl4pPr>
            <a:lvl5pPr>
              <a:defRPr sz="1950" b="1">
                <a:solidFill>
                  <a:srgbClr val="72D4C1"/>
                </a:solidFill>
              </a:defRPr>
            </a:lvl5pPr>
            <a:lvl6pPr>
              <a:defRPr sz="1950" b="1">
                <a:solidFill>
                  <a:srgbClr val="72D4C1"/>
                </a:solidFill>
              </a:defRPr>
            </a:lvl6pPr>
            <a:lvl7pPr>
              <a:defRPr sz="1950" b="1">
                <a:solidFill>
                  <a:srgbClr val="72D4C1"/>
                </a:solidFill>
              </a:defRPr>
            </a:lvl7pPr>
            <a:lvl8pPr>
              <a:defRPr sz="1950" b="1">
                <a:solidFill>
                  <a:srgbClr val="72D4C1"/>
                </a:solidFill>
              </a:defRPr>
            </a:lvl8pPr>
            <a:lvl9pPr>
              <a:defRPr sz="1950" b="1">
                <a:solidFill>
                  <a:srgbClr val="72D4C1"/>
                </a:solidFill>
              </a:defRPr>
            </a:lvl9pPr>
          </a:lstStyle>
          <a:p>
            <a:pPr>
              <a:defRPr sz="1950" b="1">
                <a:solidFill>
                  <a:srgbClr val="72D4C1"/>
                </a:solidFill>
              </a:defRPr>
            </a:pPr>
            <a:r>
              <a:rPr sz="1950" b="1">
                <a:solidFill>
                  <a:srgbClr val="72D4C1"/>
                </a:solidFill>
                <a:latin typeface="Aptos" panose="020B0004020202020204" pitchFamily="34" charset="0"/>
              </a:rPr>
              <a:t>This master: ORM = R: AO   G: roughness   B: metallic</a:t>
            </a:r>
          </a:p>
        </p:txBody>
      </p:sp>
    </p:spTree>
    <p:extLst>
      <p:ext uri="{BB962C8B-B14F-4D97-AF65-F5344CB8AC3E}">
        <p14:creationId xmlns:p14="http://schemas.microsoft.com/office/powerpoint/2010/main" val="113239990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96689B3-B985-492D-B384-6A3A822D7419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REFERENCE • EXPLORE AFTER THE LIVE WALKTHROUGH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834AEB2-A82B-4CDD-ADBC-420BEB9F2513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Normal, POM and vertex movement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6912412-AB7E-4850-B2B1-8EAF17FF35E2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15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EA13B6-FBA4-49B1-A545-9636CA2A60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429000" y="1952625"/>
            <a:ext cx="5334000" cy="333375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15380CE-D066-4F64-822D-9069CD83DE3D}"/>
              </a:ext>
            </a:extLst>
          </p:cNvPr>
          <p:cNvSpPr>
            <a:spLocks noGrp="1"/>
          </p:cNvSpPr>
          <p:nvPr/>
        </p:nvSpPr>
        <p:spPr>
          <a:xfrm>
            <a:off x="609600" y="5476875"/>
            <a:ext cx="1097280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400" b="1">
                <a:solidFill>
                  <a:srgbClr val="72D4C1"/>
                </a:solidFill>
              </a:defRPr>
            </a:defPPr>
            <a:lvl1pPr>
              <a:defRPr sz="2400" b="1">
                <a:solidFill>
                  <a:srgbClr val="72D4C1"/>
                </a:solidFill>
              </a:defRPr>
            </a:lvl1pPr>
            <a:lvl2pPr>
              <a:defRPr sz="2400" b="1">
                <a:solidFill>
                  <a:srgbClr val="72D4C1"/>
                </a:solidFill>
              </a:defRPr>
            </a:lvl2pPr>
            <a:lvl3pPr>
              <a:defRPr sz="2400" b="1">
                <a:solidFill>
                  <a:srgbClr val="72D4C1"/>
                </a:solidFill>
              </a:defRPr>
            </a:lvl3pPr>
            <a:lvl4pPr>
              <a:defRPr sz="2400" b="1">
                <a:solidFill>
                  <a:srgbClr val="72D4C1"/>
                </a:solidFill>
              </a:defRPr>
            </a:lvl4pPr>
            <a:lvl5pPr>
              <a:defRPr sz="2400" b="1">
                <a:solidFill>
                  <a:srgbClr val="72D4C1"/>
                </a:solidFill>
              </a:defRPr>
            </a:lvl5pPr>
            <a:lvl6pPr>
              <a:defRPr sz="2400" b="1">
                <a:solidFill>
                  <a:srgbClr val="72D4C1"/>
                </a:solidFill>
              </a:defRPr>
            </a:lvl6pPr>
            <a:lvl7pPr>
              <a:defRPr sz="2400" b="1">
                <a:solidFill>
                  <a:srgbClr val="72D4C1"/>
                </a:solidFill>
              </a:defRPr>
            </a:lvl7pPr>
            <a:lvl8pPr>
              <a:defRPr sz="2400" b="1">
                <a:solidFill>
                  <a:srgbClr val="72D4C1"/>
                </a:solidFill>
              </a:defRPr>
            </a:lvl8pPr>
            <a:lvl9pPr>
              <a:defRPr sz="2400" b="1">
                <a:solidFill>
                  <a:srgbClr val="72D4C1"/>
                </a:solidFill>
              </a:defRPr>
            </a:lvl9pPr>
          </a:lstStyle>
          <a:p>
            <a:pPr>
              <a:defRPr sz="2400" b="1">
                <a:solidFill>
                  <a:srgbClr val="72D4C1"/>
                </a:solidFill>
              </a:defRPr>
            </a:pPr>
            <a:r>
              <a:rPr sz="2400" b="1">
                <a:solidFill>
                  <a:srgbClr val="72D4C1"/>
                </a:solidFill>
                <a:latin typeface="Aptos" panose="020B0004020202020204" pitchFamily="34" charset="0"/>
              </a:rPr>
              <a:t>Same geometry • different shading normals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AEA07E0-0E67-4516-AB6A-109A9F807E5A}"/>
              </a:ext>
            </a:extLst>
          </p:cNvPr>
          <p:cNvSpPr>
            <a:spLocks noGrp="1"/>
          </p:cNvSpPr>
          <p:nvPr/>
        </p:nvSpPr>
        <p:spPr>
          <a:xfrm>
            <a:off x="609600" y="6057900"/>
            <a:ext cx="10972800" cy="4000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0">
                <a:solidFill>
                  <a:srgbClr val="FFFFFF"/>
                </a:solidFill>
              </a:defRPr>
            </a:defPPr>
            <a:lvl1pPr>
              <a:defRPr sz="1800" b="0">
                <a:solidFill>
                  <a:srgbClr val="FFFFFF"/>
                </a:solidFill>
              </a:defRPr>
            </a:lvl1pPr>
            <a:lvl2pPr>
              <a:defRPr sz="1800" b="0">
                <a:solidFill>
                  <a:srgbClr val="FFFFFF"/>
                </a:solidFill>
              </a:defRPr>
            </a:lvl2pPr>
            <a:lvl3pPr>
              <a:defRPr sz="1800" b="0">
                <a:solidFill>
                  <a:srgbClr val="FFFFFF"/>
                </a:solidFill>
              </a:defRPr>
            </a:lvl3pPr>
            <a:lvl4pPr>
              <a:defRPr sz="1800" b="0">
                <a:solidFill>
                  <a:srgbClr val="FFFFFF"/>
                </a:solidFill>
              </a:defRPr>
            </a:lvl4pPr>
            <a:lvl5pPr>
              <a:defRPr sz="1800" b="0">
                <a:solidFill>
                  <a:srgbClr val="FFFFFF"/>
                </a:solidFill>
              </a:defRPr>
            </a:lvl5pPr>
            <a:lvl6pPr>
              <a:defRPr sz="1800" b="0">
                <a:solidFill>
                  <a:srgbClr val="FFFFFF"/>
                </a:solidFill>
              </a:defRPr>
            </a:lvl6pPr>
            <a:lvl7pPr>
              <a:defRPr sz="1800" b="0">
                <a:solidFill>
                  <a:srgbClr val="FFFFFF"/>
                </a:solidFill>
              </a:defRPr>
            </a:lvl7pPr>
            <a:lvl8pPr>
              <a:defRPr sz="1800" b="0">
                <a:solidFill>
                  <a:srgbClr val="FFFFFF"/>
                </a:solidFill>
              </a:defRPr>
            </a:lvl8pPr>
            <a:lvl9pPr>
              <a:defRPr sz="1800" b="0">
                <a:solidFill>
                  <a:srgbClr val="FFFFFF"/>
                </a:solidFill>
              </a:defRPr>
            </a:lvl9pPr>
          </a:lstStyle>
          <a:p>
            <a:pPr>
              <a:defRPr sz="1800" b="0">
                <a:solidFill>
                  <a:srgbClr val="FFFFFF"/>
                </a:solidFill>
              </a:defRPr>
            </a:pPr>
            <a:r>
              <a:rPr sz="1800" b="0">
                <a:solidFill>
                  <a:srgbClr val="FFFFFF"/>
                </a:solidFill>
                <a:latin typeface="Aptos" panose="020B0004020202020204" pitchFamily="34" charset="0"/>
              </a:rPr>
              <a:t>Normal map: lighting detail     POM: apparent depth     WPO: vertex movement</a:t>
            </a:r>
          </a:p>
        </p:txBody>
      </p:sp>
    </p:spTree>
    <p:extLst>
      <p:ext uri="{BB962C8B-B14F-4D97-AF65-F5344CB8AC3E}">
        <p14:creationId xmlns:p14="http://schemas.microsoft.com/office/powerpoint/2010/main" val="19200452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AFA14F6-7BF7-4CF5-852D-1194F1B9F268}"/>
              </a:ext>
            </a:extLst>
          </p:cNvPr>
          <p:cNvSpPr>
            <a:spLocks noGrp="1"/>
          </p:cNvSpPr>
          <p:nvPr/>
        </p:nvSpPr>
        <p:spPr>
          <a:xfrm>
            <a:off x="609600" y="381000"/>
            <a:ext cx="1097280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REFERENCE • EXPLORE AFTER THE LIVE WALKTHROUGH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8EEECF8-224E-493E-9585-E4CC47EDD438}"/>
              </a:ext>
            </a:extLst>
          </p:cNvPr>
          <p:cNvSpPr>
            <a:spLocks noGrp="1"/>
          </p:cNvSpPr>
          <p:nvPr/>
        </p:nvSpPr>
        <p:spPr>
          <a:xfrm>
            <a:off x="609600" y="95250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Parameter troubleshooting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7C5FC2-D26F-4082-BEA4-DEF61257DBE5}"/>
              </a:ext>
            </a:extLst>
          </p:cNvPr>
          <p:cNvSpPr>
            <a:spLocks noGrp="1"/>
          </p:cNvSpPr>
          <p:nvPr/>
        </p:nvSpPr>
        <p:spPr>
          <a:xfrm>
            <a:off x="11144250" y="6343650"/>
            <a:ext cx="4762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16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F888E41-6C0A-4625-8FF7-D747D71B487E}"/>
              </a:ext>
            </a:extLst>
          </p:cNvPr>
          <p:cNvSpPr>
            <a:spLocks noGrp="1"/>
          </p:cNvSpPr>
          <p:nvPr/>
        </p:nvSpPr>
        <p:spPr>
          <a:xfrm>
            <a:off x="609600" y="2047875"/>
            <a:ext cx="109728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1 / Assignment and override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A7C7AA3-92CD-45C7-BEE7-B903DA190C22}"/>
              </a:ext>
            </a:extLst>
          </p:cNvPr>
          <p:cNvSpPr>
            <a:spLocks noGrp="1"/>
          </p:cNvSpPr>
          <p:nvPr/>
        </p:nvSpPr>
        <p:spPr>
          <a:xfrm>
            <a:off x="609600" y="2457450"/>
            <a:ext cx="10972800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Is the duplicate assigned? Is its parameter checkbox enabled?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F8FF46-5B58-4F12-AA78-BD0D382EEC12}"/>
              </a:ext>
            </a:extLst>
          </p:cNvPr>
          <p:cNvSpPr>
            <a:spLocks noGrp="1"/>
          </p:cNvSpPr>
          <p:nvPr/>
        </p:nvSpPr>
        <p:spPr>
          <a:xfrm>
            <a:off x="609600" y="3286125"/>
            <a:ext cx="109728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2 / Active branch and scope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BDF208-7DA2-48D2-8267-5E2EC2CF1721}"/>
              </a:ext>
            </a:extLst>
          </p:cNvPr>
          <p:cNvSpPr>
            <a:spLocks noGrp="1"/>
          </p:cNvSpPr>
          <p:nvPr/>
        </p:nvSpPr>
        <p:spPr>
          <a:xfrm>
            <a:off x="609600" y="3695700"/>
            <a:ext cx="10972800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Packed mode uses ORM controls. Collection values affect every reader.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FE2C33-B79B-47AF-9170-1DD18D029411}"/>
              </a:ext>
            </a:extLst>
          </p:cNvPr>
          <p:cNvSpPr>
            <a:spLocks noGrp="1"/>
          </p:cNvSpPr>
          <p:nvPr/>
        </p:nvSpPr>
        <p:spPr>
          <a:xfrm>
            <a:off x="609600" y="4524375"/>
            <a:ext cx="109728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00" b="1">
                <a:solidFill>
                  <a:srgbClr val="72D4C1"/>
                </a:solidFill>
              </a:defRPr>
            </a:defPPr>
            <a:lvl1pPr>
              <a:defRPr sz="2100" b="1">
                <a:solidFill>
                  <a:srgbClr val="72D4C1"/>
                </a:solidFill>
              </a:defRPr>
            </a:lvl1pPr>
            <a:lvl2pPr>
              <a:defRPr sz="2100" b="1">
                <a:solidFill>
                  <a:srgbClr val="72D4C1"/>
                </a:solidFill>
              </a:defRPr>
            </a:lvl2pPr>
            <a:lvl3pPr>
              <a:defRPr sz="2100" b="1">
                <a:solidFill>
                  <a:srgbClr val="72D4C1"/>
                </a:solidFill>
              </a:defRPr>
            </a:lvl3pPr>
            <a:lvl4pPr>
              <a:defRPr sz="2100" b="1">
                <a:solidFill>
                  <a:srgbClr val="72D4C1"/>
                </a:solidFill>
              </a:defRPr>
            </a:lvl4pPr>
            <a:lvl5pPr>
              <a:defRPr sz="2100" b="1">
                <a:solidFill>
                  <a:srgbClr val="72D4C1"/>
                </a:solidFill>
              </a:defRPr>
            </a:lvl5pPr>
            <a:lvl6pPr>
              <a:defRPr sz="2100" b="1">
                <a:solidFill>
                  <a:srgbClr val="72D4C1"/>
                </a:solidFill>
              </a:defRPr>
            </a:lvl6pPr>
            <a:lvl7pPr>
              <a:defRPr sz="2100" b="1">
                <a:solidFill>
                  <a:srgbClr val="72D4C1"/>
                </a:solidFill>
              </a:defRPr>
            </a:lvl7pPr>
            <a:lvl8pPr>
              <a:defRPr sz="2100" b="1">
                <a:solidFill>
                  <a:srgbClr val="72D4C1"/>
                </a:solidFill>
              </a:defRPr>
            </a:lvl8pPr>
            <a:lvl9pPr>
              <a:defRPr sz="2100" b="1">
                <a:solidFill>
                  <a:srgbClr val="72D4C1"/>
                </a:solidFill>
              </a:defRPr>
            </a:lvl9pPr>
          </a:lstStyle>
          <a:p>
            <a:pPr>
              <a:defRPr sz="2100" b="1">
                <a:solidFill>
                  <a:srgbClr val="72D4C1"/>
                </a:solidFill>
              </a:defRPr>
            </a:pPr>
            <a:r>
              <a:rPr sz="2100" b="1">
                <a:solidFill>
                  <a:srgbClr val="72D4C1"/>
                </a:solidFill>
                <a:latin typeface="Aptos" panose="020B0004020202020204" pitchFamily="34" charset="0"/>
              </a:rPr>
              <a:t>3 / Data and comparison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827BBA2-DD49-4302-96F5-A3DA8FD5FA2C}"/>
              </a:ext>
            </a:extLst>
          </p:cNvPr>
          <p:cNvSpPr>
            <a:spLocks noGrp="1"/>
          </p:cNvSpPr>
          <p:nvPr/>
        </p:nvSpPr>
        <p:spPr>
          <a:xfrm>
            <a:off x="609600" y="4933950"/>
            <a:ext cx="10972800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0">
                <a:solidFill>
                  <a:srgbClr val="FFFFFF"/>
                </a:solidFill>
              </a:defRPr>
            </a:defPPr>
            <a:lvl1pPr>
              <a:defRPr sz="1875" b="0">
                <a:solidFill>
                  <a:srgbClr val="FFFFFF"/>
                </a:solidFill>
              </a:defRPr>
            </a:lvl1pPr>
            <a:lvl2pPr>
              <a:defRPr sz="1875" b="0">
                <a:solidFill>
                  <a:srgbClr val="FFFFFF"/>
                </a:solidFill>
              </a:defRPr>
            </a:lvl2pPr>
            <a:lvl3pPr>
              <a:defRPr sz="1875" b="0">
                <a:solidFill>
                  <a:srgbClr val="FFFFFF"/>
                </a:solidFill>
              </a:defRPr>
            </a:lvl3pPr>
            <a:lvl4pPr>
              <a:defRPr sz="1875" b="0">
                <a:solidFill>
                  <a:srgbClr val="FFFFFF"/>
                </a:solidFill>
              </a:defRPr>
            </a:lvl4pPr>
            <a:lvl5pPr>
              <a:defRPr sz="1875" b="0">
                <a:solidFill>
                  <a:srgbClr val="FFFFFF"/>
                </a:solidFill>
              </a:defRPr>
            </a:lvl5pPr>
            <a:lvl6pPr>
              <a:defRPr sz="1875" b="0">
                <a:solidFill>
                  <a:srgbClr val="FFFFFF"/>
                </a:solidFill>
              </a:defRPr>
            </a:lvl6pPr>
            <a:lvl7pPr>
              <a:defRPr sz="1875" b="0">
                <a:solidFill>
                  <a:srgbClr val="FFFFFF"/>
                </a:solidFill>
              </a:defRPr>
            </a:lvl7pPr>
            <a:lvl8pPr>
              <a:defRPr sz="1875" b="0">
                <a:solidFill>
                  <a:srgbClr val="FFFFFF"/>
                </a:solidFill>
              </a:defRPr>
            </a:lvl8pPr>
            <a:lvl9pPr>
              <a:defRPr sz="1875" b="0">
                <a:solidFill>
                  <a:srgbClr val="FFFFFF"/>
                </a:solidFill>
              </a:defRPr>
            </a:lvl9pPr>
          </a:lstStyle>
          <a:p>
            <a:pPr>
              <a:defRPr sz="1875" b="0">
                <a:solidFill>
                  <a:srgbClr val="FFFFFF"/>
                </a:solidFill>
              </a:defRPr>
            </a:pPr>
            <a:r>
              <a:rPr sz="1875" b="0">
                <a:solidFill>
                  <a:srgbClr val="FFFFFF"/>
                </a:solidFill>
                <a:latin typeface="Aptos" panose="020B0004020202020204" pitchFamily="34" charset="0"/>
              </a:rPr>
              <a:t>Check channels, color space, sampler, camera, light and exposure.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50231D-FFA7-4166-B721-DB37574676E8}"/>
              </a:ext>
            </a:extLst>
          </p:cNvPr>
          <p:cNvSpPr>
            <a:spLocks noGrp="1"/>
          </p:cNvSpPr>
          <p:nvPr/>
        </p:nvSpPr>
        <p:spPr>
          <a:xfrm>
            <a:off x="609600" y="6000750"/>
            <a:ext cx="109728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00" b="1">
                <a:solidFill>
                  <a:srgbClr val="72D4C1"/>
                </a:solidFill>
              </a:defRPr>
            </a:defPPr>
            <a:lvl1pPr>
              <a:defRPr sz="1800" b="1">
                <a:solidFill>
                  <a:srgbClr val="72D4C1"/>
                </a:solidFill>
              </a:defRPr>
            </a:lvl1pPr>
            <a:lvl2pPr>
              <a:defRPr sz="1800" b="1">
                <a:solidFill>
                  <a:srgbClr val="72D4C1"/>
                </a:solidFill>
              </a:defRPr>
            </a:lvl2pPr>
            <a:lvl3pPr>
              <a:defRPr sz="1800" b="1">
                <a:solidFill>
                  <a:srgbClr val="72D4C1"/>
                </a:solidFill>
              </a:defRPr>
            </a:lvl3pPr>
            <a:lvl4pPr>
              <a:defRPr sz="1800" b="1">
                <a:solidFill>
                  <a:srgbClr val="72D4C1"/>
                </a:solidFill>
              </a:defRPr>
            </a:lvl4pPr>
            <a:lvl5pPr>
              <a:defRPr sz="1800" b="1">
                <a:solidFill>
                  <a:srgbClr val="72D4C1"/>
                </a:solidFill>
              </a:defRPr>
            </a:lvl5pPr>
            <a:lvl6pPr>
              <a:defRPr sz="1800" b="1">
                <a:solidFill>
                  <a:srgbClr val="72D4C1"/>
                </a:solidFill>
              </a:defRPr>
            </a:lvl6pPr>
            <a:lvl7pPr>
              <a:defRPr sz="1800" b="1">
                <a:solidFill>
                  <a:srgbClr val="72D4C1"/>
                </a:solidFill>
              </a:defRPr>
            </a:lvl7pPr>
            <a:lvl8pPr>
              <a:defRPr sz="1800" b="1">
                <a:solidFill>
                  <a:srgbClr val="72D4C1"/>
                </a:solidFill>
              </a:defRPr>
            </a:lvl8pPr>
            <a:lvl9pPr>
              <a:defRPr sz="1800" b="1">
                <a:solidFill>
                  <a:srgbClr val="72D4C1"/>
                </a:solidFill>
              </a:defRPr>
            </a:lvl9pPr>
          </a:lstStyle>
          <a:p>
            <a:pPr>
              <a:defRPr sz="1800" b="1">
                <a:solidFill>
                  <a:srgbClr val="72D4C1"/>
                </a:solidFill>
              </a:defRPr>
            </a:pPr>
            <a:r>
              <a:rPr sz="1800" b="1">
                <a:solidFill>
                  <a:srgbClr val="72D4C1"/>
                </a:solidFill>
                <a:latin typeface="Aptos" panose="020B0004020202020204" pitchFamily="34" charset="0"/>
              </a:rPr>
              <a:t>Explore further: Shader cheat sheet + Lab outline in the Week 9 packet</a:t>
            </a:r>
          </a:p>
        </p:txBody>
      </p:sp>
    </p:spTree>
    <p:extLst>
      <p:ext uri="{BB962C8B-B14F-4D97-AF65-F5344CB8AC3E}">
        <p14:creationId xmlns:p14="http://schemas.microsoft.com/office/powerpoint/2010/main" val="18688242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F4B5D7-A66D-4426-BA75-A6E6D416C67E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OPTIONAL STATION 07 EXTENSION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F354B9-7481-4128-A71B-CC7149BA6345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28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Parallax: height changes the texture lookup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5A3E80-62F9-4A14-A8BD-FFA105EA2783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15A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9AD9F6-056F-4724-B456-7CF9432D92D5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572750" cy="619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E0F3F0"/>
                </a:solidFill>
              </a:defRPr>
            </a:defPPr>
            <a:lvl1pPr>
              <a:defRPr sz="1875">
                <a:solidFill>
                  <a:srgbClr val="E0F3F0"/>
                </a:solidFill>
              </a:defRPr>
            </a:lvl1pPr>
            <a:lvl2pPr>
              <a:defRPr sz="1875">
                <a:solidFill>
                  <a:srgbClr val="E0F3F0"/>
                </a:solidFill>
              </a:defRPr>
            </a:lvl2pPr>
            <a:lvl3pPr>
              <a:defRPr sz="1875">
                <a:solidFill>
                  <a:srgbClr val="E0F3F0"/>
                </a:solidFill>
              </a:defRPr>
            </a:lvl3pPr>
            <a:lvl4pPr>
              <a:defRPr sz="1875">
                <a:solidFill>
                  <a:srgbClr val="E0F3F0"/>
                </a:solidFill>
              </a:defRPr>
            </a:lvl4pPr>
            <a:lvl5pPr>
              <a:defRPr sz="1875">
                <a:solidFill>
                  <a:srgbClr val="E0F3F0"/>
                </a:solidFill>
              </a:defRPr>
            </a:lvl5pPr>
            <a:lvl6pPr>
              <a:defRPr sz="1875">
                <a:solidFill>
                  <a:srgbClr val="E0F3F0"/>
                </a:solidFill>
              </a:defRPr>
            </a:lvl6pPr>
            <a:lvl7pPr>
              <a:defRPr sz="1875">
                <a:solidFill>
                  <a:srgbClr val="E0F3F0"/>
                </a:solidFill>
              </a:defRPr>
            </a:lvl7pPr>
            <a:lvl8pPr>
              <a:defRPr sz="1875">
                <a:solidFill>
                  <a:srgbClr val="E0F3F0"/>
                </a:solidFill>
              </a:defRPr>
            </a:lvl8pPr>
            <a:lvl9pPr>
              <a:defRPr sz="1875">
                <a:solidFill>
                  <a:srgbClr val="E0F3F0"/>
                </a:solidFill>
              </a:defRPr>
            </a:lvl9pPr>
          </a:lstStyle>
          <a:p>
            <a:pPr>
              <a:defRPr sz="1875">
                <a:solidFill>
                  <a:srgbClr val="E0F3F0"/>
                </a:solidFill>
              </a:defRPr>
            </a:pPr>
            <a:r>
              <a:rPr sz="1875">
                <a:solidFill>
                  <a:srgbClr val="E0F3F0"/>
                </a:solidFill>
                <a:latin typeface="Aptos" panose="020B0004020202020204" pitchFamily="34" charset="0"/>
              </a:rPr>
              <a:t>Station 07: height channel A. Feed Parallax UVs to related texture samples.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C10ABE6-91FA-DE03-D475-24E0AE0D728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857375"/>
            <a:ext cx="10972800" cy="394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3271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2D9F5C1-5AC1-42A5-AEC3-EB8E6F7CDFA9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62DFF5"/>
                </a:solidFill>
              </a:defRPr>
            </a:defPPr>
            <a:lvl1pPr>
              <a:defRPr sz="1350" b="1">
                <a:solidFill>
                  <a:srgbClr val="62DFF5"/>
                </a:solidFill>
              </a:defRPr>
            </a:lvl1pPr>
            <a:lvl2pPr>
              <a:defRPr sz="1350" b="1">
                <a:solidFill>
                  <a:srgbClr val="62DFF5"/>
                </a:solidFill>
              </a:defRPr>
            </a:lvl2pPr>
            <a:lvl3pPr>
              <a:defRPr sz="1350" b="1">
                <a:solidFill>
                  <a:srgbClr val="62DFF5"/>
                </a:solidFill>
              </a:defRPr>
            </a:lvl3pPr>
            <a:lvl4pPr>
              <a:defRPr sz="1350" b="1">
                <a:solidFill>
                  <a:srgbClr val="62DFF5"/>
                </a:solidFill>
              </a:defRPr>
            </a:lvl4pPr>
            <a:lvl5pPr>
              <a:defRPr sz="1350" b="1">
                <a:solidFill>
                  <a:srgbClr val="62DFF5"/>
                </a:solidFill>
              </a:defRPr>
            </a:lvl5pPr>
            <a:lvl6pPr>
              <a:defRPr sz="1350" b="1">
                <a:solidFill>
                  <a:srgbClr val="62DFF5"/>
                </a:solidFill>
              </a:defRPr>
            </a:lvl6pPr>
            <a:lvl7pPr>
              <a:defRPr sz="1350" b="1">
                <a:solidFill>
                  <a:srgbClr val="62DFF5"/>
                </a:solidFill>
              </a:defRPr>
            </a:lvl7pPr>
            <a:lvl8pPr>
              <a:defRPr sz="1350" b="1">
                <a:solidFill>
                  <a:srgbClr val="62DFF5"/>
                </a:solidFill>
              </a:defRPr>
            </a:lvl8pPr>
            <a:lvl9pPr>
              <a:defRPr sz="1350" b="1">
                <a:solidFill>
                  <a:srgbClr val="62DFF5"/>
                </a:solidFill>
              </a:defRPr>
            </a:lvl9pPr>
          </a:lstStyle>
          <a:p>
            <a:pPr>
              <a:defRPr sz="1350" b="1">
                <a:solidFill>
                  <a:srgbClr val="62DFF5"/>
                </a:solidFill>
              </a:defRPr>
            </a:pPr>
            <a:r>
              <a:rPr sz="1350" b="1">
                <a:solidFill>
                  <a:srgbClr val="62DFF5"/>
                </a:solidFill>
                <a:latin typeface="Aptos" panose="020B0004020202020204" pitchFamily="34" charset="0"/>
              </a:rPr>
              <a:t>OPTIONAL STATION 07 EXTENSION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3F75A97-C4E7-4038-AC4A-87AE19FA4F09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287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Parallax: test depth, then test quality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C87890-CB1E-44CC-A927-7B6611D9D37C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ONE CONTROL AT A TIME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16C161-2833-405D-8103-6376839299BB}"/>
              </a:ext>
            </a:extLst>
          </p:cNvPr>
          <p:cNvSpPr>
            <a:spLocks noGrp="1"/>
          </p:cNvSpPr>
          <p:nvPr/>
        </p:nvSpPr>
        <p:spPr>
          <a:xfrm>
            <a:off x="609600" y="2495550"/>
            <a:ext cx="10972800" cy="628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  <a:latin typeface="Aptos" panose="020B0004020202020204" pitchFamily="34" charset="0"/>
              </a:rPr>
              <a:t>Near Height: 0.00 → 0.04; keep the camera close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8753E7-E7A2-4F08-B1B1-9452EF8E23E8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QUALITY HAS A COST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EBCD8A-39F2-4029-A09E-0CF34EDBCA7E}"/>
              </a:ext>
            </a:extLst>
          </p:cNvPr>
          <p:cNvSpPr>
            <a:spLocks noGrp="1"/>
          </p:cNvSpPr>
          <p:nvPr/>
        </p:nvSpPr>
        <p:spPr>
          <a:xfrm>
            <a:off x="609600" y="3733800"/>
            <a:ext cx="10972800" cy="628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  <a:latin typeface="Aptos" panose="020B0004020202020204" pitchFamily="34" charset="0"/>
              </a:rPr>
              <a:t>More steps can reduce artifacts; inspect shallow angles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49D590D-586D-4A10-90B1-A173F962016D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3238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CHECK IN THE SCENE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F7AFD72-E22E-441E-BED1-ED268B05F95B}"/>
              </a:ext>
            </a:extLst>
          </p:cNvPr>
          <p:cNvSpPr>
            <a:spLocks noGrp="1"/>
          </p:cNvSpPr>
          <p:nvPr/>
        </p:nvSpPr>
        <p:spPr>
          <a:xfrm>
            <a:off x="609600" y="4972050"/>
            <a:ext cx="10972800" cy="6286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  <a:latin typeface="Aptos" panose="020B0004020202020204" pitchFamily="34" charset="0"/>
              </a:rPr>
              <a:t>Test distance, intersections, lighting and the silhouette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B14711A-D337-4B83-8276-1E3FBC6DD34F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Record the visible benefit, one failure case, and your reset values.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9BCC555-74E2-44BF-A344-50A3318BAD47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15B</a:t>
            </a:r>
          </a:p>
        </p:txBody>
      </p:sp>
    </p:spTree>
    <p:extLst>
      <p:ext uri="{BB962C8B-B14F-4D97-AF65-F5344CB8AC3E}">
        <p14:creationId xmlns:p14="http://schemas.microsoft.com/office/powerpoint/2010/main" val="12677063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2D235A4-D618-408A-88CA-C00D27E0DD94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LAB COMPANION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561DA18-C378-4B8D-8E62-229E132B8CD6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Lab review: finish your shader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F76341B-8DDF-470D-A1FD-2332272455D1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6:25–6:30 · PREPARE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DB712B7-D9C6-410D-93E0-F56DD380511C}"/>
              </a:ext>
            </a:extLst>
          </p:cNvPr>
          <p:cNvSpPr>
            <a:spLocks noGrp="1"/>
          </p:cNvSpPr>
          <p:nvPr/>
        </p:nvSpPr>
        <p:spPr>
          <a:xfrm>
            <a:off x="609600" y="25050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Open your shader. Choose one finish or fix.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944D98-9ED5-480A-AE5B-38D3C0E1C287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6:30–6:45 · TEST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873D43D-B0B4-4978-A244-3AF35254D3A4}"/>
              </a:ext>
            </a:extLst>
          </p:cNvPr>
          <p:cNvSpPr>
            <a:spLocks noGrp="1"/>
          </p:cNvSpPr>
          <p:nvPr/>
        </p:nvSpPr>
        <p:spPr>
          <a:xfrm>
            <a:off x="609600" y="374332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Build, test and capture your improvement.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591AB3-7C8D-4B98-B720-0E1807F2A5DD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6:45–6:50 · EXPLAIN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BF3D65-933C-405B-9A4C-EBA1809C58CE}"/>
              </a:ext>
            </a:extLst>
          </p:cNvPr>
          <p:cNvSpPr>
            <a:spLocks noGrp="1"/>
          </p:cNvSpPr>
          <p:nvPr/>
        </p:nvSpPr>
        <p:spPr>
          <a:xfrm>
            <a:off x="609600" y="4981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Explain your result; save your work and evidence.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3E756D-8243-4BCC-8E03-EC01CB5BF730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What is the smallest improvement that makes your shader ready?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E9F1D76-5AA4-487E-A47E-E7937797CEC3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L0</a:t>
            </a:r>
          </a:p>
        </p:txBody>
      </p:sp>
    </p:spTree>
    <p:extLst>
      <p:ext uri="{BB962C8B-B14F-4D97-AF65-F5344CB8AC3E}">
        <p14:creationId xmlns:p14="http://schemas.microsoft.com/office/powerpoint/2010/main" val="138051892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BE37564-F6D3-4F7A-8D5E-263A43B6A10E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LAB COMPANION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13B1AE-FFCB-4AB7-AD92-DD9FB7304D6B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A · Surface response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640C243-022B-4978-9481-E07E882188EB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SET UP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B49038-2886-4E3F-9CFD-690B2EF28484}"/>
              </a:ext>
            </a:extLst>
          </p:cNvPr>
          <p:cNvSpPr>
            <a:spLocks noGrp="1"/>
          </p:cNvSpPr>
          <p:nvPr/>
        </p:nvSpPr>
        <p:spPr>
          <a:xfrm>
            <a:off x="609600" y="25050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Assign a copy of MI_W09_05_PolishedMetal.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DC8247C-7218-47AF-886A-C7A66D5FC3B6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COMPARE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9F72E6D-5563-4207-B3F1-0D0AC45DCEE9}"/>
              </a:ext>
            </a:extLst>
          </p:cNvPr>
          <p:cNvSpPr>
            <a:spLocks noGrp="1"/>
          </p:cNvSpPr>
          <p:nvPr/>
        </p:nvSpPr>
        <p:spPr>
          <a:xfrm>
            <a:off x="609600" y="374332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MinRoughness = MaxRoughness: 0.2 → 0.8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13A5B8-CCB3-45B3-9EBD-E7282A8546B1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LOOK FOR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BDD63C0-BF85-4A01-914D-CD9E585C83B4}"/>
              </a:ext>
            </a:extLst>
          </p:cNvPr>
          <p:cNvSpPr>
            <a:spLocks noGrp="1"/>
          </p:cNvSpPr>
          <p:nvPr/>
        </p:nvSpPr>
        <p:spPr>
          <a:xfrm>
            <a:off x="609600" y="4981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Broader reflections; keep metallic, tint and normals fixed.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FF42DDA-0CA8-4BC6-AC6D-824D79FD83A4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Why set both endpoints to the same value?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8A68DD-783D-4688-87AB-4B9678C9C4EC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LA</a:t>
            </a:r>
          </a:p>
        </p:txBody>
      </p:sp>
    </p:spTree>
    <p:extLst>
      <p:ext uri="{BB962C8B-B14F-4D97-AF65-F5344CB8AC3E}">
        <p14:creationId xmlns:p14="http://schemas.microsoft.com/office/powerpoint/2010/main" val="16244611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DE5B6FD-ED2E-4BFC-AE1E-1A3DE3EFBDEA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LAB COMPANION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9B74924-FFE3-4659-9F98-19383AED71A2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B · Painted height transition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419E691-EB36-461F-8C82-260A6D8401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2163961"/>
            <a:ext cx="6191250" cy="348257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FFA885C2-8FAE-449B-A49F-81F2D52C1C9B}"/>
              </a:ext>
            </a:extLst>
          </p:cNvPr>
          <p:cNvSpPr>
            <a:spLocks noGrp="1"/>
          </p:cNvSpPr>
          <p:nvPr/>
        </p:nvSpPr>
        <p:spPr>
          <a:xfrm>
            <a:off x="7239000" y="209550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SET UP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DF39994-3523-467F-B730-F948D14FEC4B}"/>
              </a:ext>
            </a:extLst>
          </p:cNvPr>
          <p:cNvSpPr>
            <a:spLocks noGrp="1"/>
          </p:cNvSpPr>
          <p:nvPr/>
        </p:nvSpPr>
        <p:spPr>
          <a:xfrm>
            <a:off x="7239000" y="250507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Station 08 · copy MI_08_HeightBlend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73FEE7D-D2A7-4815-9316-C02F6D3F8E79}"/>
              </a:ext>
            </a:extLst>
          </p:cNvPr>
          <p:cNvSpPr>
            <a:spLocks noGrp="1"/>
          </p:cNvSpPr>
          <p:nvPr/>
        </p:nvSpPr>
        <p:spPr>
          <a:xfrm>
            <a:off x="7239000" y="333375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COMPARE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65533CA-57FE-4CC9-A65C-4428751A0B01}"/>
              </a:ext>
            </a:extLst>
          </p:cNvPr>
          <p:cNvSpPr>
            <a:spLocks noGrp="1"/>
          </p:cNvSpPr>
          <p:nvPr/>
        </p:nvSpPr>
        <p:spPr>
          <a:xfrm>
            <a:off x="7239000" y="374332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Blend Contrast: 1 → 4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4FAF00-5BC6-4C7F-B0E3-EE6B0D2176E8}"/>
              </a:ext>
            </a:extLst>
          </p:cNvPr>
          <p:cNvSpPr>
            <a:spLocks noGrp="1"/>
          </p:cNvSpPr>
          <p:nvPr/>
        </p:nvSpPr>
        <p:spPr>
          <a:xfrm>
            <a:off x="7239000" y="457200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LOOK FOR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3D1B48-BA9C-416E-8C93-4D9300C51474}"/>
              </a:ext>
            </a:extLst>
          </p:cNvPr>
          <p:cNvSpPr>
            <a:spLocks noGrp="1"/>
          </p:cNvSpPr>
          <p:nvPr/>
        </p:nvSpPr>
        <p:spPr>
          <a:xfrm>
            <a:off x="7239000" y="498157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Transition shape; unchanged silhouette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937F193-AB77-47B3-AAF7-47F878D133A2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Is this changing blend coverage or moving vertices?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2F4F92F-F5A3-48D4-88E5-C885ED468489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LB</a:t>
            </a:r>
          </a:p>
        </p:txBody>
      </p:sp>
    </p:spTree>
    <p:extLst>
      <p:ext uri="{BB962C8B-B14F-4D97-AF65-F5344CB8AC3E}">
        <p14:creationId xmlns:p14="http://schemas.microsoft.com/office/powerpoint/2010/main" val="5917227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DFFB64C-2081-4D69-8B19-9F6EA5725ACF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LAB COMPANION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EFB419-E54B-4074-AC24-87B105987134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C · Shared and per-object controls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31E1FF7-96F3-45BF-A7B3-35C01929BB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2163961"/>
            <a:ext cx="6191250" cy="348257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C6F1F1D-F863-4480-A0CE-57ED7047777C}"/>
              </a:ext>
            </a:extLst>
          </p:cNvPr>
          <p:cNvSpPr>
            <a:spLocks noGrp="1"/>
          </p:cNvSpPr>
          <p:nvPr/>
        </p:nvSpPr>
        <p:spPr>
          <a:xfrm>
            <a:off x="7239000" y="209550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TEST 1 · SHARED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B516496-1E5F-44EC-A969-76BB9E9BDB41}"/>
              </a:ext>
            </a:extLst>
          </p:cNvPr>
          <p:cNvSpPr>
            <a:spLocks noGrp="1"/>
          </p:cNvSpPr>
          <p:nvPr/>
        </p:nvSpPr>
        <p:spPr>
          <a:xfrm>
            <a:off x="7239000" y="250507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SharedRoughness: 0.2 → 0.8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43EE31F-7141-4653-B0F8-284C9D2338E0}"/>
              </a:ext>
            </a:extLst>
          </p:cNvPr>
          <p:cNvSpPr>
            <a:spLocks noGrp="1"/>
          </p:cNvSpPr>
          <p:nvPr/>
        </p:nvSpPr>
        <p:spPr>
          <a:xfrm>
            <a:off x="7239000" y="333375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RESET, THEN TEST 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691928E-CCB5-4AB5-8FA8-2CA59795C4A5}"/>
              </a:ext>
            </a:extLst>
          </p:cNvPr>
          <p:cNvSpPr>
            <a:spLocks noGrp="1"/>
          </p:cNvSpPr>
          <p:nvPr/>
        </p:nvSpPr>
        <p:spPr>
          <a:xfrm>
            <a:off x="7239000" y="374332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Change one component’s RGB data: entries 0–2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6588687-4C49-4A19-A7E2-C3D7BFD75512}"/>
              </a:ext>
            </a:extLst>
          </p:cNvPr>
          <p:cNvSpPr>
            <a:spLocks noGrp="1"/>
          </p:cNvSpPr>
          <p:nvPr/>
        </p:nvSpPr>
        <p:spPr>
          <a:xfrm>
            <a:off x="7239000" y="457200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LOOK FOR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D77E06E-D9B7-450E-BB83-1704E0821BBA}"/>
              </a:ext>
            </a:extLst>
          </p:cNvPr>
          <p:cNvSpPr>
            <a:spLocks noGrp="1"/>
          </p:cNvSpPr>
          <p:nvPr/>
        </p:nvSpPr>
        <p:spPr>
          <a:xfrm>
            <a:off x="7239000" y="498157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Three surfaces change; then only one changes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70EA8F0-B8E1-4359-A267-A7B47A0AEB5A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Which object owns each value?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C3A3-8C87-4506-8776-7EFF72140EF0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LC</a:t>
            </a:r>
          </a:p>
        </p:txBody>
      </p:sp>
    </p:spTree>
    <p:extLst>
      <p:ext uri="{BB962C8B-B14F-4D97-AF65-F5344CB8AC3E}">
        <p14:creationId xmlns:p14="http://schemas.microsoft.com/office/powerpoint/2010/main" val="7523561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04CFC18-916A-4EB7-904A-1007BF4A0AA0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LAB COMPANION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3AA8250-F8ED-4FEE-9DE7-04A1004A7E16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D · Decal surface response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52FE10-7D68-48DF-98CF-A10248C0FF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2163961"/>
            <a:ext cx="6191250" cy="3482578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D8F2254-77C5-4D03-BEBB-BE2C6C93CB73}"/>
              </a:ext>
            </a:extLst>
          </p:cNvPr>
          <p:cNvSpPr>
            <a:spLocks noGrp="1"/>
          </p:cNvSpPr>
          <p:nvPr/>
        </p:nvSpPr>
        <p:spPr>
          <a:xfrm>
            <a:off x="7239000" y="209550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SET UP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A5CBE0-602F-46FE-ABBA-2F914A2640E7}"/>
              </a:ext>
            </a:extLst>
          </p:cNvPr>
          <p:cNvSpPr>
            <a:spLocks noGrp="1"/>
          </p:cNvSpPr>
          <p:nvPr/>
        </p:nvSpPr>
        <p:spPr>
          <a:xfrm>
            <a:off x="7239000" y="250507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Assign a copy of MI_10_RoughnessDecal.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04D4199-D40F-4A1A-BBF5-E0579A2F0853}"/>
              </a:ext>
            </a:extLst>
          </p:cNvPr>
          <p:cNvSpPr>
            <a:spLocks noGrp="1"/>
          </p:cNvSpPr>
          <p:nvPr/>
        </p:nvSpPr>
        <p:spPr>
          <a:xfrm>
            <a:off x="7239000" y="333375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COMPARE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285B067-E365-44DA-9BF5-F85D71C93D66}"/>
              </a:ext>
            </a:extLst>
          </p:cNvPr>
          <p:cNvSpPr>
            <a:spLocks noGrp="1"/>
          </p:cNvSpPr>
          <p:nvPr/>
        </p:nvSpPr>
        <p:spPr>
          <a:xfrm>
            <a:off x="7239000" y="374332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Roughness: 0.03 → 0.8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AB365BB-A84C-4AF6-BCD8-AE37FF634794}"/>
              </a:ext>
            </a:extLst>
          </p:cNvPr>
          <p:cNvSpPr>
            <a:spLocks noGrp="1"/>
          </p:cNvSpPr>
          <p:nvPr/>
        </p:nvSpPr>
        <p:spPr>
          <a:xfrm>
            <a:off x="7239000" y="4572000"/>
            <a:ext cx="428625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LOOK FOR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0EB42C0-5802-4D5C-8534-85A7189A4D52}"/>
              </a:ext>
            </a:extLst>
          </p:cNvPr>
          <p:cNvSpPr>
            <a:spLocks noGrp="1"/>
          </p:cNvSpPr>
          <p:nvPr/>
        </p:nvSpPr>
        <p:spPr>
          <a:xfrm>
            <a:off x="7239000" y="4981575"/>
            <a:ext cx="428625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950" b="0">
                <a:solidFill>
                  <a:srgbClr val="FFFFFF"/>
                </a:solidFill>
              </a:defRPr>
            </a:defPPr>
            <a:lvl1pPr>
              <a:defRPr sz="1950" b="0">
                <a:solidFill>
                  <a:srgbClr val="FFFFFF"/>
                </a:solidFill>
              </a:defRPr>
            </a:lvl1pPr>
            <a:lvl2pPr>
              <a:defRPr sz="1950" b="0">
                <a:solidFill>
                  <a:srgbClr val="FFFFFF"/>
                </a:solidFill>
              </a:defRPr>
            </a:lvl2pPr>
            <a:lvl3pPr>
              <a:defRPr sz="1950" b="0">
                <a:solidFill>
                  <a:srgbClr val="FFFFFF"/>
                </a:solidFill>
              </a:defRPr>
            </a:lvl3pPr>
            <a:lvl4pPr>
              <a:defRPr sz="1950" b="0">
                <a:solidFill>
                  <a:srgbClr val="FFFFFF"/>
                </a:solidFill>
              </a:defRPr>
            </a:lvl4pPr>
            <a:lvl5pPr>
              <a:defRPr sz="1950" b="0">
                <a:solidFill>
                  <a:srgbClr val="FFFFFF"/>
                </a:solidFill>
              </a:defRPr>
            </a:lvl5pPr>
            <a:lvl6pPr>
              <a:defRPr sz="1950" b="0">
                <a:solidFill>
                  <a:srgbClr val="FFFFFF"/>
                </a:solidFill>
              </a:defRPr>
            </a:lvl6pPr>
            <a:lvl7pPr>
              <a:defRPr sz="1950" b="0">
                <a:solidFill>
                  <a:srgbClr val="FFFFFF"/>
                </a:solidFill>
              </a:defRPr>
            </a:lvl7pPr>
            <a:lvl8pPr>
              <a:defRPr sz="1950" b="0">
                <a:solidFill>
                  <a:srgbClr val="FFFFFF"/>
                </a:solidFill>
              </a:defRPr>
            </a:lvl8pPr>
            <a:lvl9pPr>
              <a:defRPr sz="1950" b="0">
                <a:solidFill>
                  <a:srgbClr val="FFFFFF"/>
                </a:solidFill>
              </a:defRPr>
            </a:lvl9pPr>
          </a:lstStyle>
          <a:p>
            <a:pPr>
              <a:defRPr sz="1950" b="0">
                <a:solidFill>
                  <a:srgbClr val="FFFFFF"/>
                </a:solidFill>
              </a:defRPr>
            </a:pPr>
            <a:r>
              <a:rPr sz="1950" b="0">
                <a:solidFill>
                  <a:srgbClr val="FFFFFF"/>
                </a:solidFill>
                <a:latin typeface="Aptos" panose="020B0004020202020204" pitchFamily="34" charset="0"/>
              </a:rPr>
              <a:t>Changed reflections inside the projection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EFCEDC4-1D7E-4C52-8933-F4DE379AC6AA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Can a decal change a surface without adding a color patch?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B525252-7411-4ECD-9805-6F2EE32C6DD7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LD</a:t>
            </a:r>
          </a:p>
        </p:txBody>
      </p:sp>
    </p:spTree>
    <p:extLst>
      <p:ext uri="{BB962C8B-B14F-4D97-AF65-F5344CB8AC3E}">
        <p14:creationId xmlns:p14="http://schemas.microsoft.com/office/powerpoint/2010/main" val="11762897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C42789F-75D1-4F6C-9385-0452FB73E642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LAB COMPANION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FB6153A-E141-4041-9A40-460B67606342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Optional · Parallax depth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0E10CF-60A7-4DAB-951D-2DA8D293637D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SET UP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449D90-2AE2-41D7-A6E9-B4CEEAF4676C}"/>
              </a:ext>
            </a:extLst>
          </p:cNvPr>
          <p:cNvSpPr>
            <a:spLocks noGrp="1"/>
          </p:cNvSpPr>
          <p:nvPr/>
        </p:nvSpPr>
        <p:spPr>
          <a:xfrm>
            <a:off x="609600" y="25050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Station 07 · duplicate and assign the POM instance.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48F44E-29C9-48D9-B575-5A4EB10D5817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COMPARE CLOSE TO THE SURFACE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1609127-1F00-4C87-B574-E68D0217E4E0}"/>
              </a:ext>
            </a:extLst>
          </p:cNvPr>
          <p:cNvSpPr>
            <a:spLocks noGrp="1"/>
          </p:cNvSpPr>
          <p:nvPr/>
        </p:nvSpPr>
        <p:spPr>
          <a:xfrm>
            <a:off x="609600" y="374332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POM | Near Height: 0.00 → 0.04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1B7304F-E51A-4DF9-AA4A-DE66EDB859D1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LOOK FOR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5F9B69-73F3-49B7-969B-DDF769881C6A}"/>
              </a:ext>
            </a:extLst>
          </p:cNvPr>
          <p:cNvSpPr>
            <a:spLocks noGrp="1"/>
          </p:cNvSpPr>
          <p:nvPr/>
        </p:nvSpPr>
        <p:spPr>
          <a:xfrm>
            <a:off x="609600" y="4981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View-dependent relief; unchanged mesh silhouette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B94D8F8-D478-4F22-9A7C-2BD8B0A485EA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What changes when you move sideways—and what does not?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75C9451-3C7C-41B1-8CF5-2141D611A74F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LE</a:t>
            </a:r>
          </a:p>
        </p:txBody>
      </p:sp>
    </p:spTree>
    <p:extLst>
      <p:ext uri="{BB962C8B-B14F-4D97-AF65-F5344CB8AC3E}">
        <p14:creationId xmlns:p14="http://schemas.microsoft.com/office/powerpoint/2010/main" val="8604356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CC616D-6250-4E58-AFF7-02E2726E7A0A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LAB COMPANION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D6F93E-9228-4C6A-AA60-3A4AE4227E0F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1000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Lab review: explain your result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2009F1-6BBE-4349-8DD7-2F5C14FF9EC5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SHOW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BF529A-EA85-4051-9088-4A0E8E58F2EF}"/>
              </a:ext>
            </a:extLst>
          </p:cNvPr>
          <p:cNvSpPr>
            <a:spLocks noGrp="1"/>
          </p:cNvSpPr>
          <p:nvPr/>
        </p:nvSpPr>
        <p:spPr>
          <a:xfrm>
            <a:off x="609600" y="25050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Your shader result + the graph that produces it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4705414-2DD5-44AC-B31B-18DD76655634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EXPLAIN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273693-EF33-4B9F-A086-DDA79C5EF1C9}"/>
              </a:ext>
            </a:extLst>
          </p:cNvPr>
          <p:cNvSpPr>
            <a:spLocks noGrp="1"/>
          </p:cNvSpPr>
          <p:nvPr/>
        </p:nvSpPr>
        <p:spPr>
          <a:xfrm>
            <a:off x="609600" y="374332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Prediction → observation → reason or limitation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9D8E23-0285-462F-A4F1-4E2EBDB35DB0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342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MAKE IT REPRODUCIBLE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3ADBFA-CA39-40B9-8918-391A5ECD9E63}"/>
              </a:ext>
            </a:extLst>
          </p:cNvPr>
          <p:cNvSpPr>
            <a:spLocks noGrp="1"/>
          </p:cNvSpPr>
          <p:nvPr/>
        </p:nvSpPr>
        <p:spPr>
          <a:xfrm>
            <a:off x="609600" y="4981575"/>
            <a:ext cx="10972800" cy="8001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175" b="0">
                <a:solidFill>
                  <a:srgbClr val="FFFFFF"/>
                </a:solidFill>
              </a:defRPr>
            </a:defPPr>
            <a:lvl1pPr>
              <a:defRPr sz="2175" b="0">
                <a:solidFill>
                  <a:srgbClr val="FFFFFF"/>
                </a:solidFill>
              </a:defRPr>
            </a:lvl1pPr>
            <a:lvl2pPr>
              <a:defRPr sz="2175" b="0">
                <a:solidFill>
                  <a:srgbClr val="FFFFFF"/>
                </a:solidFill>
              </a:defRPr>
            </a:lvl2pPr>
            <a:lvl3pPr>
              <a:defRPr sz="2175" b="0">
                <a:solidFill>
                  <a:srgbClr val="FFFFFF"/>
                </a:solidFill>
              </a:defRPr>
            </a:lvl3pPr>
            <a:lvl4pPr>
              <a:defRPr sz="2175" b="0">
                <a:solidFill>
                  <a:srgbClr val="FFFFFF"/>
                </a:solidFill>
              </a:defRPr>
            </a:lvl4pPr>
            <a:lvl5pPr>
              <a:defRPr sz="2175" b="0">
                <a:solidFill>
                  <a:srgbClr val="FFFFFF"/>
                </a:solidFill>
              </a:defRPr>
            </a:lvl5pPr>
            <a:lvl6pPr>
              <a:defRPr sz="2175" b="0">
                <a:solidFill>
                  <a:srgbClr val="FFFFFF"/>
                </a:solidFill>
              </a:defRPr>
            </a:lvl6pPr>
            <a:lvl7pPr>
              <a:defRPr sz="2175" b="0">
                <a:solidFill>
                  <a:srgbClr val="FFFFFF"/>
                </a:solidFill>
              </a:defRPr>
            </a:lvl7pPr>
            <a:lvl8pPr>
              <a:defRPr sz="2175" b="0">
                <a:solidFill>
                  <a:srgbClr val="FFFFFF"/>
                </a:solidFill>
              </a:defRPr>
            </a:lvl8pPr>
            <a:lvl9pPr>
              <a:defRPr sz="2175" b="0">
                <a:solidFill>
                  <a:srgbClr val="FFFFFF"/>
                </a:solidFill>
              </a:defRPr>
            </a:lvl9pPr>
          </a:lstStyle>
          <a:p>
            <a:pPr>
              <a:defRPr sz="2175" b="0">
                <a:solidFill>
                  <a:srgbClr val="FFFFFF"/>
                </a:solidFill>
              </a:defRPr>
            </a:pPr>
            <a:r>
              <a:rPr sz="2175" b="0">
                <a:solidFill>
                  <a:srgbClr val="FFFFFF"/>
                </a:solidFill>
                <a:latin typeface="Aptos" panose="020B0004020202020204" pitchFamily="34" charset="0"/>
              </a:rPr>
              <a:t>Readable graph, result capture and a brief explanation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DB59AA-C812-487B-AF44-BA5D2A311D72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Can a classmate explain how your shader achieves its effect?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A29E9F-A1CD-416E-823B-2A825FB0FBFD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LF</a:t>
            </a:r>
          </a:p>
        </p:txBody>
      </p:sp>
    </p:spTree>
    <p:extLst>
      <p:ext uri="{BB962C8B-B14F-4D97-AF65-F5344CB8AC3E}">
        <p14:creationId xmlns:p14="http://schemas.microsoft.com/office/powerpoint/2010/main" val="112079140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128E3A2-3C34-4EA4-85F2-52A261B9F1BC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· TEXTURE ORGANIZATION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9E36453-D0E5-4D2F-A9F1-1ABB6369F9FF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8572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Channel packing, atlases and arrays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5A039C-D4B3-465E-92F9-1E44B53104C9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17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7095C1-F980-4B39-A8B9-591008C6B807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572750" cy="619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E0F3F0"/>
                </a:solidFill>
              </a:defRPr>
            </a:defPPr>
            <a:lvl1pPr>
              <a:defRPr sz="1875">
                <a:solidFill>
                  <a:srgbClr val="E0F3F0"/>
                </a:solidFill>
              </a:defRPr>
            </a:lvl1pPr>
            <a:lvl2pPr>
              <a:defRPr sz="1875">
                <a:solidFill>
                  <a:srgbClr val="E0F3F0"/>
                </a:solidFill>
              </a:defRPr>
            </a:lvl2pPr>
            <a:lvl3pPr>
              <a:defRPr sz="1875">
                <a:solidFill>
                  <a:srgbClr val="E0F3F0"/>
                </a:solidFill>
              </a:defRPr>
            </a:lvl3pPr>
            <a:lvl4pPr>
              <a:defRPr sz="1875">
                <a:solidFill>
                  <a:srgbClr val="E0F3F0"/>
                </a:solidFill>
              </a:defRPr>
            </a:lvl4pPr>
            <a:lvl5pPr>
              <a:defRPr sz="1875">
                <a:solidFill>
                  <a:srgbClr val="E0F3F0"/>
                </a:solidFill>
              </a:defRPr>
            </a:lvl5pPr>
            <a:lvl6pPr>
              <a:defRPr sz="1875">
                <a:solidFill>
                  <a:srgbClr val="E0F3F0"/>
                </a:solidFill>
              </a:defRPr>
            </a:lvl6pPr>
            <a:lvl7pPr>
              <a:defRPr sz="1875">
                <a:solidFill>
                  <a:srgbClr val="E0F3F0"/>
                </a:solidFill>
              </a:defRPr>
            </a:lvl7pPr>
            <a:lvl8pPr>
              <a:defRPr sz="1875">
                <a:solidFill>
                  <a:srgbClr val="E0F3F0"/>
                </a:solidFill>
              </a:defRPr>
            </a:lvl8pPr>
            <a:lvl9pPr>
              <a:defRPr sz="1875">
                <a:solidFill>
                  <a:srgbClr val="E0F3F0"/>
                </a:solidFill>
              </a:defRPr>
            </a:lvl9pPr>
          </a:lstStyle>
          <a:p>
            <a:pPr>
              <a:defRPr sz="1875">
                <a:solidFill>
                  <a:srgbClr val="E0F3F0"/>
                </a:solidFill>
              </a:defRPr>
            </a:pPr>
            <a:r>
              <a:rPr sz="1875">
                <a:solidFill>
                  <a:srgbClr val="E0F3F0"/>
                </a:solidFill>
                <a:latin typeface="Aptos" panose="020B0004020202020204" pitchFamily="34" charset="0"/>
              </a:rPr>
              <a:t>Week 10: compare the same visible result, then measure memory and render cost.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99A68C5-A364-9C76-7F22-44B4805515A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857375"/>
            <a:ext cx="10972800" cy="394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54340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2D13B01-E35F-4A8E-9ADC-E15090C3211B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· WATER SHADER REFERENCE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9D66FE-F116-4CB9-90A3-F5FEA5356763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Flow mask and flow direction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DAFB29-7EED-4955-AD1F-EDD15EB8778C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18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5C3358-E525-43E3-9B09-2AA3ED6B17E3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572750" cy="619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>
                <a:solidFill>
                  <a:srgbClr val="E0F3F0"/>
                </a:solidFill>
              </a:defRPr>
            </a:defPPr>
            <a:lvl1pPr>
              <a:defRPr sz="1875">
                <a:solidFill>
                  <a:srgbClr val="E0F3F0"/>
                </a:solidFill>
              </a:defRPr>
            </a:lvl1pPr>
            <a:lvl2pPr>
              <a:defRPr sz="1875">
                <a:solidFill>
                  <a:srgbClr val="E0F3F0"/>
                </a:solidFill>
              </a:defRPr>
            </a:lvl2pPr>
            <a:lvl3pPr>
              <a:defRPr sz="1875">
                <a:solidFill>
                  <a:srgbClr val="E0F3F0"/>
                </a:solidFill>
              </a:defRPr>
            </a:lvl3pPr>
            <a:lvl4pPr>
              <a:defRPr sz="1875">
                <a:solidFill>
                  <a:srgbClr val="E0F3F0"/>
                </a:solidFill>
              </a:defRPr>
            </a:lvl4pPr>
            <a:lvl5pPr>
              <a:defRPr sz="1875">
                <a:solidFill>
                  <a:srgbClr val="E0F3F0"/>
                </a:solidFill>
              </a:defRPr>
            </a:lvl5pPr>
            <a:lvl6pPr>
              <a:defRPr sz="1875">
                <a:solidFill>
                  <a:srgbClr val="E0F3F0"/>
                </a:solidFill>
              </a:defRPr>
            </a:lvl6pPr>
            <a:lvl7pPr>
              <a:defRPr sz="1875">
                <a:solidFill>
                  <a:srgbClr val="E0F3F0"/>
                </a:solidFill>
              </a:defRPr>
            </a:lvl7pPr>
            <a:lvl8pPr>
              <a:defRPr sz="1875">
                <a:solidFill>
                  <a:srgbClr val="E0F3F0"/>
                </a:solidFill>
              </a:defRPr>
            </a:lvl8pPr>
            <a:lvl9pPr>
              <a:defRPr sz="1875">
                <a:solidFill>
                  <a:srgbClr val="E0F3F0"/>
                </a:solidFill>
              </a:defRPr>
            </a:lvl9pPr>
          </a:lstStyle>
          <a:p>
            <a:pPr>
              <a:defRPr sz="1875">
                <a:solidFill>
                  <a:srgbClr val="E0F3F0"/>
                </a:solidFill>
              </a:defRPr>
            </a:pPr>
            <a:r>
              <a:rPr sz="1875">
                <a:solidFill>
                  <a:srgbClr val="E0F3F0"/>
                </a:solidFill>
                <a:latin typeface="Aptos" panose="020B0004020202020204" pitchFamily="34" charset="0"/>
              </a:rPr>
              <a:t>Texture motion does not move the mesh. Optional water reference.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DEB8605-BBBC-D86F-14C9-F83069EDCDF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857375"/>
            <a:ext cx="10972800" cy="394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90916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4782008-5DC8-408F-B789-03267504F810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· DECAL RECEIVERS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64B11E-30E6-4D72-A2D1-351181F41F3D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Custom decal response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3331E3-0D4E-462B-93DB-49FB1BBDD4F3}"/>
              </a:ext>
            </a:extLst>
          </p:cNvPr>
          <p:cNvSpPr>
            <a:spLocks noGrp="1"/>
          </p:cNvSpPr>
          <p:nvPr/>
        </p:nvSpPr>
        <p:spPr>
          <a:xfrm>
            <a:off x="609600" y="2095500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PROJECTED INPUT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6249B7-11C2-477A-88AD-47D0B243C40F}"/>
              </a:ext>
            </a:extLst>
          </p:cNvPr>
          <p:cNvSpPr>
            <a:spLocks noGrp="1"/>
          </p:cNvSpPr>
          <p:nvPr/>
        </p:nvSpPr>
        <p:spPr>
          <a:xfrm>
            <a:off x="609600" y="2505075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  <a:latin typeface="Aptos" panose="020B0004020202020204" pitchFamily="34" charset="0"/>
              </a:rPr>
              <a:t>The decal supplies color, normal or roughness data.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3AC5D8D-3DAC-4235-B652-F198F0F41D39}"/>
              </a:ext>
            </a:extLst>
          </p:cNvPr>
          <p:cNvSpPr>
            <a:spLocks noGrp="1"/>
          </p:cNvSpPr>
          <p:nvPr/>
        </p:nvSpPr>
        <p:spPr>
          <a:xfrm>
            <a:off x="609600" y="3333750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RECEIVER LOGIC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058960-1A07-40B6-984E-02D8708E7AF5}"/>
              </a:ext>
            </a:extLst>
          </p:cNvPr>
          <p:cNvSpPr>
            <a:spLocks noGrp="1"/>
          </p:cNvSpPr>
          <p:nvPr/>
        </p:nvSpPr>
        <p:spPr>
          <a:xfrm>
            <a:off x="609600" y="3743325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  <a:latin typeface="Aptos" panose="020B0004020202020204" pitchFamily="34" charset="0"/>
              </a:rPr>
              <a:t>A surface mask can confine the response to crevices.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65C5C61-11BC-4728-BDB9-935379A6C36C}"/>
              </a:ext>
            </a:extLst>
          </p:cNvPr>
          <p:cNvSpPr>
            <a:spLocks noGrp="1"/>
          </p:cNvSpPr>
          <p:nvPr/>
        </p:nvSpPr>
        <p:spPr>
          <a:xfrm>
            <a:off x="609600" y="4572000"/>
            <a:ext cx="10972800" cy="33337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650" b="1">
                <a:solidFill>
                  <a:srgbClr val="72D4C1"/>
                </a:solidFill>
              </a:defRPr>
            </a:defPPr>
            <a:lvl1pPr>
              <a:defRPr sz="1650" b="1">
                <a:solidFill>
                  <a:srgbClr val="72D4C1"/>
                </a:solidFill>
              </a:defRPr>
            </a:lvl1pPr>
            <a:lvl2pPr>
              <a:defRPr sz="1650" b="1">
                <a:solidFill>
                  <a:srgbClr val="72D4C1"/>
                </a:solidFill>
              </a:defRPr>
            </a:lvl2pPr>
            <a:lvl3pPr>
              <a:defRPr sz="1650" b="1">
                <a:solidFill>
                  <a:srgbClr val="72D4C1"/>
                </a:solidFill>
              </a:defRPr>
            </a:lvl3pPr>
            <a:lvl4pPr>
              <a:defRPr sz="1650" b="1">
                <a:solidFill>
                  <a:srgbClr val="72D4C1"/>
                </a:solidFill>
              </a:defRPr>
            </a:lvl4pPr>
            <a:lvl5pPr>
              <a:defRPr sz="1650" b="1">
                <a:solidFill>
                  <a:srgbClr val="72D4C1"/>
                </a:solidFill>
              </a:defRPr>
            </a:lvl5pPr>
            <a:lvl6pPr>
              <a:defRPr sz="1650" b="1">
                <a:solidFill>
                  <a:srgbClr val="72D4C1"/>
                </a:solidFill>
              </a:defRPr>
            </a:lvl6pPr>
            <a:lvl7pPr>
              <a:defRPr sz="1650" b="1">
                <a:solidFill>
                  <a:srgbClr val="72D4C1"/>
                </a:solidFill>
              </a:defRPr>
            </a:lvl7pPr>
            <a:lvl8pPr>
              <a:defRPr sz="1650" b="1">
                <a:solidFill>
                  <a:srgbClr val="72D4C1"/>
                </a:solidFill>
              </a:defRPr>
            </a:lvl8pPr>
            <a:lvl9pPr>
              <a:defRPr sz="1650" b="1">
                <a:solidFill>
                  <a:srgbClr val="72D4C1"/>
                </a:solidFill>
              </a:defRPr>
            </a:lvl9pPr>
          </a:lstStyle>
          <a:p>
            <a:pPr>
              <a:defRPr sz="1650" b="1">
                <a:solidFill>
                  <a:srgbClr val="72D4C1"/>
                </a:solidFill>
              </a:defRPr>
            </a:pPr>
            <a:r>
              <a:rPr sz="1650" b="1">
                <a:solidFill>
                  <a:srgbClr val="72D4C1"/>
                </a:solidFill>
                <a:latin typeface="Aptos" panose="020B0004020202020204" pitchFamily="34" charset="0"/>
              </a:rPr>
              <a:t>APPLY ONCE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36272DE-60CB-44A4-AAEB-B1D270205574}"/>
              </a:ext>
            </a:extLst>
          </p:cNvPr>
          <p:cNvSpPr>
            <a:spLocks noGrp="1"/>
          </p:cNvSpPr>
          <p:nvPr/>
        </p:nvSpPr>
        <p:spPr>
          <a:xfrm>
            <a:off x="609600" y="4981575"/>
            <a:ext cx="10972800" cy="7239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250" b="0">
                <a:solidFill>
                  <a:srgbClr val="FFFFFF"/>
                </a:solidFill>
              </a:defRPr>
            </a:defPPr>
            <a:lvl1pPr>
              <a:defRPr sz="2250" b="0">
                <a:solidFill>
                  <a:srgbClr val="FFFFFF"/>
                </a:solidFill>
              </a:defRPr>
            </a:lvl1pPr>
            <a:lvl2pPr>
              <a:defRPr sz="2250" b="0">
                <a:solidFill>
                  <a:srgbClr val="FFFFFF"/>
                </a:solidFill>
              </a:defRPr>
            </a:lvl2pPr>
            <a:lvl3pPr>
              <a:defRPr sz="2250" b="0">
                <a:solidFill>
                  <a:srgbClr val="FFFFFF"/>
                </a:solidFill>
              </a:defRPr>
            </a:lvl3pPr>
            <a:lvl4pPr>
              <a:defRPr sz="2250" b="0">
                <a:solidFill>
                  <a:srgbClr val="FFFFFF"/>
                </a:solidFill>
              </a:defRPr>
            </a:lvl4pPr>
            <a:lvl5pPr>
              <a:defRPr sz="2250" b="0">
                <a:solidFill>
                  <a:srgbClr val="FFFFFF"/>
                </a:solidFill>
              </a:defRPr>
            </a:lvl5pPr>
            <a:lvl6pPr>
              <a:defRPr sz="2250" b="0">
                <a:solidFill>
                  <a:srgbClr val="FFFFFF"/>
                </a:solidFill>
              </a:defRPr>
            </a:lvl6pPr>
            <a:lvl7pPr>
              <a:defRPr sz="2250" b="0">
                <a:solidFill>
                  <a:srgbClr val="FFFFFF"/>
                </a:solidFill>
              </a:defRPr>
            </a:lvl7pPr>
            <a:lvl8pPr>
              <a:defRPr sz="2250" b="0">
                <a:solidFill>
                  <a:srgbClr val="FFFFFF"/>
                </a:solidFill>
              </a:defRPr>
            </a:lvl8pPr>
            <a:lvl9pPr>
              <a:defRPr sz="2250" b="0">
                <a:solidFill>
                  <a:srgbClr val="FFFFFF"/>
                </a:solidFill>
              </a:defRPr>
            </a:lvl9pPr>
          </a:lstStyle>
          <a:p>
            <a:pPr>
              <a:defRPr sz="2250" b="0">
                <a:solidFill>
                  <a:srgbClr val="FFFFFF"/>
                </a:solidFill>
              </a:defRPr>
            </a:pPr>
            <a:r>
              <a:rPr sz="2250" b="0">
                <a:solidFill>
                  <a:srgbClr val="FFFFFF"/>
                </a:solidFill>
                <a:latin typeface="Aptos" panose="020B0004020202020204" pitchFamily="34" charset="0"/>
              </a:rPr>
              <a:t>For manual DBuffer blending: receiver Decal Response = None.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FE7BCCA-D97A-44DA-8B22-3665FB213C16}"/>
              </a:ext>
            </a:extLst>
          </p:cNvPr>
          <p:cNvSpPr>
            <a:spLocks noGrp="1"/>
          </p:cNvSpPr>
          <p:nvPr/>
        </p:nvSpPr>
        <p:spPr>
          <a:xfrm>
            <a:off x="609600" y="6115050"/>
            <a:ext cx="10477500" cy="4572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1">
                <a:solidFill>
                  <a:srgbClr val="72D4C1"/>
                </a:solidFill>
              </a:defRPr>
            </a:defPPr>
            <a:lvl1pPr>
              <a:defRPr sz="1725" b="1">
                <a:solidFill>
                  <a:srgbClr val="72D4C1"/>
                </a:solidFill>
              </a:defRPr>
            </a:lvl1pPr>
            <a:lvl2pPr>
              <a:defRPr sz="1725" b="1">
                <a:solidFill>
                  <a:srgbClr val="72D4C1"/>
                </a:solidFill>
              </a:defRPr>
            </a:lvl2pPr>
            <a:lvl3pPr>
              <a:defRPr sz="1725" b="1">
                <a:solidFill>
                  <a:srgbClr val="72D4C1"/>
                </a:solidFill>
              </a:defRPr>
            </a:lvl3pPr>
            <a:lvl4pPr>
              <a:defRPr sz="1725" b="1">
                <a:solidFill>
                  <a:srgbClr val="72D4C1"/>
                </a:solidFill>
              </a:defRPr>
            </a:lvl4pPr>
            <a:lvl5pPr>
              <a:defRPr sz="1725" b="1">
                <a:solidFill>
                  <a:srgbClr val="72D4C1"/>
                </a:solidFill>
              </a:defRPr>
            </a:lvl5pPr>
            <a:lvl6pPr>
              <a:defRPr sz="1725" b="1">
                <a:solidFill>
                  <a:srgbClr val="72D4C1"/>
                </a:solidFill>
              </a:defRPr>
            </a:lvl6pPr>
            <a:lvl7pPr>
              <a:defRPr sz="1725" b="1">
                <a:solidFill>
                  <a:srgbClr val="72D4C1"/>
                </a:solidFill>
              </a:defRPr>
            </a:lvl7pPr>
            <a:lvl8pPr>
              <a:defRPr sz="1725" b="1">
                <a:solidFill>
                  <a:srgbClr val="72D4C1"/>
                </a:solidFill>
              </a:defRPr>
            </a:lvl8pPr>
            <a:lvl9pPr>
              <a:defRPr sz="1725" b="1">
                <a:solidFill>
                  <a:srgbClr val="72D4C1"/>
                </a:solidFill>
              </a:defRPr>
            </a:lvl9pPr>
          </a:lstStyle>
          <a:p>
            <a:pPr>
              <a:defRPr sz="1725" b="1">
                <a:solidFill>
                  <a:srgbClr val="72D4C1"/>
                </a:solidFill>
              </a:defRPr>
            </a:pPr>
            <a:r>
              <a:rPr sz="1725" b="1">
                <a:solidFill>
                  <a:srgbClr val="72D4C1"/>
                </a:solidFill>
                <a:latin typeface="Aptos" panose="020B0004020202020204" pitchFamily="34" charset="0"/>
              </a:rPr>
              <a:t>Actor Receives Decals and material Decal Response are different controls.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6C9324F-CDEB-408B-A667-38232350271B}"/>
              </a:ext>
            </a:extLst>
          </p:cNvPr>
          <p:cNvSpPr>
            <a:spLocks noGrp="1"/>
          </p:cNvSpPr>
          <p:nvPr/>
        </p:nvSpPr>
        <p:spPr>
          <a:xfrm>
            <a:off x="11144250" y="6457950"/>
            <a:ext cx="57150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9F</a:t>
            </a:r>
          </a:p>
        </p:txBody>
      </p:sp>
    </p:spTree>
    <p:extLst>
      <p:ext uri="{BB962C8B-B14F-4D97-AF65-F5344CB8AC3E}">
        <p14:creationId xmlns:p14="http://schemas.microsoft.com/office/powerpoint/2010/main" val="150701760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386D9C5-F353-4072-A767-DED6AB8362A3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· OUTSIDE EXAMPLE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BAE907-73E5-4F07-A7D3-384F9056E96A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Snow that remembers contact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BF6309-E6C5-4FAD-8A63-D9DA144491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30350" y="2000250"/>
            <a:ext cx="4445000" cy="333375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E6859FF-D47F-4C04-8258-F781FBCF0BFB}"/>
              </a:ext>
            </a:extLst>
          </p:cNvPr>
          <p:cNvSpPr>
            <a:spLocks noGrp="1"/>
          </p:cNvSpPr>
          <p:nvPr/>
        </p:nvSpPr>
        <p:spPr>
          <a:xfrm>
            <a:off x="7296150" y="2000250"/>
            <a:ext cx="4286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  <a:latin typeface="Aptos" panose="020B0004020202020204" pitchFamily="34" charset="0"/>
              </a:rPr>
              <a:t>MECHANISM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2F40F5F-EB84-4E33-BEE6-978B21771860}"/>
              </a:ext>
            </a:extLst>
          </p:cNvPr>
          <p:cNvSpPr>
            <a:spLocks noGrp="1"/>
          </p:cNvSpPr>
          <p:nvPr/>
        </p:nvSpPr>
        <p:spPr>
          <a:xfrm>
            <a:off x="7296150" y="235267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A render target stores an interaction mask.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EC85D9-DB0F-4D46-8DBA-2ED81BBBEF88}"/>
              </a:ext>
            </a:extLst>
          </p:cNvPr>
          <p:cNvSpPr>
            <a:spLocks noGrp="1"/>
          </p:cNvSpPr>
          <p:nvPr/>
        </p:nvSpPr>
        <p:spPr>
          <a:xfrm>
            <a:off x="7296150" y="3190875"/>
            <a:ext cx="4286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  <a:latin typeface="Aptos" panose="020B0004020202020204" pitchFamily="34" charset="0"/>
              </a:rPr>
              <a:t>START SMALL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B2C373-F40E-475F-97B9-48281CAE18CD}"/>
              </a:ext>
            </a:extLst>
          </p:cNvPr>
          <p:cNvSpPr>
            <a:spLocks noGrp="1"/>
          </p:cNvSpPr>
          <p:nvPr/>
        </p:nvSpPr>
        <p:spPr>
          <a:xfrm>
            <a:off x="7296150" y="3543300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One small patch; stamp a footprint mask.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EA232E-F070-4125-AFCC-CB431598E179}"/>
              </a:ext>
            </a:extLst>
          </p:cNvPr>
          <p:cNvSpPr>
            <a:spLocks noGrp="1"/>
          </p:cNvSpPr>
          <p:nvPr/>
        </p:nvSpPr>
        <p:spPr>
          <a:xfrm>
            <a:off x="7296150" y="4381500"/>
            <a:ext cx="4286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  <a:latin typeface="Aptos" panose="020B0004020202020204" pitchFamily="34" charset="0"/>
              </a:rPr>
              <a:t>FINAL-PROJECT STRETCH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FAC370-2492-4C8A-8C66-EDF7839904AF}"/>
              </a:ext>
            </a:extLst>
          </p:cNvPr>
          <p:cNvSpPr>
            <a:spLocks noGrp="1"/>
          </p:cNvSpPr>
          <p:nvPr/>
        </p:nvSpPr>
        <p:spPr>
          <a:xfrm>
            <a:off x="7296150" y="473392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Persistent trails with convincing depth.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9C01141-2C35-4B1E-A44D-0E2B4AD6AFC9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6286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72D4C1"/>
                </a:solidFill>
              </a:defRPr>
            </a:defPPr>
            <a:lvl1pPr>
              <a:defRPr sz="1875" b="1">
                <a:solidFill>
                  <a:srgbClr val="72D4C1"/>
                </a:solidFill>
              </a:defRPr>
            </a:lvl1pPr>
            <a:lvl2pPr>
              <a:defRPr sz="1875" b="1">
                <a:solidFill>
                  <a:srgbClr val="72D4C1"/>
                </a:solidFill>
              </a:defRPr>
            </a:lvl2pPr>
            <a:lvl3pPr>
              <a:defRPr sz="1875" b="1">
                <a:solidFill>
                  <a:srgbClr val="72D4C1"/>
                </a:solidFill>
              </a:defRPr>
            </a:lvl3pPr>
            <a:lvl4pPr>
              <a:defRPr sz="1875" b="1">
                <a:solidFill>
                  <a:srgbClr val="72D4C1"/>
                </a:solidFill>
              </a:defRPr>
            </a:lvl4pPr>
            <a:lvl5pPr>
              <a:defRPr sz="1875" b="1">
                <a:solidFill>
                  <a:srgbClr val="72D4C1"/>
                </a:solidFill>
              </a:defRPr>
            </a:lvl5pPr>
            <a:lvl6pPr>
              <a:defRPr sz="1875" b="1">
                <a:solidFill>
                  <a:srgbClr val="72D4C1"/>
                </a:solidFill>
              </a:defRPr>
            </a:lvl6pPr>
            <a:lvl7pPr>
              <a:defRPr sz="1875" b="1">
                <a:solidFill>
                  <a:srgbClr val="72D4C1"/>
                </a:solidFill>
              </a:defRPr>
            </a:lvl7pPr>
            <a:lvl8pPr>
              <a:defRPr sz="1875" b="1">
                <a:solidFill>
                  <a:srgbClr val="72D4C1"/>
                </a:solidFill>
              </a:defRPr>
            </a:lvl8pPr>
            <a:lvl9pPr>
              <a:defRPr sz="1875" b="1">
                <a:solidFill>
                  <a:srgbClr val="72D4C1"/>
                </a:solidFill>
              </a:defRPr>
            </a:lvl9pPr>
          </a:lstStyle>
          <a:p>
            <a:pPr>
              <a:defRPr sz="1875" b="1">
                <a:solidFill>
                  <a:srgbClr val="72D4C1"/>
                </a:solidFill>
              </a:defRPr>
            </a:pPr>
            <a:r>
              <a:rPr>
                <a:latin typeface="Aptos" panose="020B0004020202020204" pitchFamily="34" charset="0"/>
                <a:hlinkClick r:id="rId4"/>
              </a:rPr>
              <a:t>Open the online example ↗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7447A1-185A-4077-8AE7-3EFEB07B97CF}"/>
              </a:ext>
            </a:extLst>
          </p:cNvPr>
          <p:cNvSpPr>
            <a:spLocks noGrp="1"/>
          </p:cNvSpPr>
          <p:nvPr/>
        </p:nvSpPr>
        <p:spPr>
          <a:xfrm>
            <a:off x="609600" y="6181725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FFFFFF"/>
                </a:solidFill>
              </a:defRPr>
            </a:defPPr>
            <a:lvl1pPr>
              <a:defRPr sz="1725" b="0">
                <a:solidFill>
                  <a:srgbClr val="FFFFFF"/>
                </a:solidFill>
              </a:defRPr>
            </a:lvl1pPr>
            <a:lvl2pPr>
              <a:defRPr sz="1725" b="0">
                <a:solidFill>
                  <a:srgbClr val="FFFFFF"/>
                </a:solidFill>
              </a:defRPr>
            </a:lvl2pPr>
            <a:lvl3pPr>
              <a:defRPr sz="1725" b="0">
                <a:solidFill>
                  <a:srgbClr val="FFFFFF"/>
                </a:solidFill>
              </a:defRPr>
            </a:lvl3pPr>
            <a:lvl4pPr>
              <a:defRPr sz="1725" b="0">
                <a:solidFill>
                  <a:srgbClr val="FFFFFF"/>
                </a:solidFill>
              </a:defRPr>
            </a:lvl4pPr>
            <a:lvl5pPr>
              <a:defRPr sz="1725" b="0">
                <a:solidFill>
                  <a:srgbClr val="FFFFFF"/>
                </a:solidFill>
              </a:defRPr>
            </a:lvl5pPr>
            <a:lvl6pPr>
              <a:defRPr sz="1725" b="0">
                <a:solidFill>
                  <a:srgbClr val="FFFFFF"/>
                </a:solidFill>
              </a:defRPr>
            </a:lvl6pPr>
            <a:lvl7pPr>
              <a:defRPr sz="1725" b="0">
                <a:solidFill>
                  <a:srgbClr val="FFFFFF"/>
                </a:solidFill>
              </a:defRPr>
            </a:lvl7pPr>
            <a:lvl8pPr>
              <a:defRPr sz="1725" b="0">
                <a:solidFill>
                  <a:srgbClr val="FFFFFF"/>
                </a:solidFill>
              </a:defRPr>
            </a:lvl8pPr>
            <a:lvl9pPr>
              <a:defRPr sz="1725" b="0">
                <a:solidFill>
                  <a:srgbClr val="FFFFFF"/>
                </a:solidFill>
              </a:defRPr>
            </a:lvl9pPr>
          </a:lstStyle>
          <a:p>
            <a:pPr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  <a:latin typeface="Aptos" panose="020B0004020202020204" pitchFamily="34" charset="0"/>
              </a:rPr>
              <a:t>Borrow a focused idea for the shader you are already making.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E2F924E-5DBD-413E-9B17-F3487433D264}"/>
              </a:ext>
            </a:extLst>
          </p:cNvPr>
          <p:cNvSpPr>
            <a:spLocks noGrp="1"/>
          </p:cNvSpPr>
          <p:nvPr/>
        </p:nvSpPr>
        <p:spPr>
          <a:xfrm>
            <a:off x="11049000" y="6457950"/>
            <a:ext cx="6667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19A</a:t>
            </a:r>
          </a:p>
        </p:txBody>
      </p:sp>
    </p:spTree>
    <p:extLst>
      <p:ext uri="{BB962C8B-B14F-4D97-AF65-F5344CB8AC3E}">
        <p14:creationId xmlns:p14="http://schemas.microsoft.com/office/powerpoint/2010/main" val="14300860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70914D0-D4C4-4FC5-962B-4B68D3723511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· OUTSIDE EXAMPLE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50F2C7-78DE-4203-AC92-B39E431029C6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Grass that bends with the world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F289A8-33B5-48AC-83BC-4CE7491AF2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30350" y="2000250"/>
            <a:ext cx="4445000" cy="333375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FD7171D-F158-43BD-B862-79EE0513D893}"/>
              </a:ext>
            </a:extLst>
          </p:cNvPr>
          <p:cNvSpPr>
            <a:spLocks noGrp="1"/>
          </p:cNvSpPr>
          <p:nvPr/>
        </p:nvSpPr>
        <p:spPr>
          <a:xfrm>
            <a:off x="7296150" y="2000250"/>
            <a:ext cx="4286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  <a:latin typeface="Aptos" panose="020B0004020202020204" pitchFamily="34" charset="0"/>
              </a:rPr>
              <a:t>MECHANISM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5ECEB24-D1BB-4F77-B2E2-DB7C570D88DD}"/>
              </a:ext>
            </a:extLst>
          </p:cNvPr>
          <p:cNvSpPr>
            <a:spLocks noGrp="1"/>
          </p:cNvSpPr>
          <p:nvPr/>
        </p:nvSpPr>
        <p:spPr>
          <a:xfrm>
            <a:off x="7296150" y="235267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Pivot data guides material-driven bending.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461DB73-3F2C-4FA3-A4BA-A0F8806292CE}"/>
              </a:ext>
            </a:extLst>
          </p:cNvPr>
          <p:cNvSpPr>
            <a:spLocks noGrp="1"/>
          </p:cNvSpPr>
          <p:nvPr/>
        </p:nvSpPr>
        <p:spPr>
          <a:xfrm>
            <a:off x="7296150" y="3190875"/>
            <a:ext cx="4286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  <a:latin typeface="Aptos" panose="020B0004020202020204" pitchFamily="34" charset="0"/>
              </a:rPr>
              <a:t>START SMALL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4FC799-2528-42B8-AB7A-4FD67D5ABA1E}"/>
              </a:ext>
            </a:extLst>
          </p:cNvPr>
          <p:cNvSpPr>
            <a:spLocks noGrp="1"/>
          </p:cNvSpPr>
          <p:nvPr/>
        </p:nvSpPr>
        <p:spPr>
          <a:xfrm>
            <a:off x="7296150" y="3543300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Mask the roots; animate one grass clump.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FE93E1D-6EBE-46A1-811A-743580AB6028}"/>
              </a:ext>
            </a:extLst>
          </p:cNvPr>
          <p:cNvSpPr>
            <a:spLocks noGrp="1"/>
          </p:cNvSpPr>
          <p:nvPr/>
        </p:nvSpPr>
        <p:spPr>
          <a:xfrm>
            <a:off x="7296150" y="4381500"/>
            <a:ext cx="4286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  <a:latin typeface="Aptos" panose="020B0004020202020204" pitchFamily="34" charset="0"/>
              </a:rPr>
              <a:t>FINAL-PROJECT STRETCH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089B396-1BEB-4BED-8CA4-3042AAFD501E}"/>
              </a:ext>
            </a:extLst>
          </p:cNvPr>
          <p:cNvSpPr>
            <a:spLocks noGrp="1"/>
          </p:cNvSpPr>
          <p:nvPr/>
        </p:nvSpPr>
        <p:spPr>
          <a:xfrm>
            <a:off x="7296150" y="473392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Add player interaction and varied motion.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EB12F7-FF90-4E70-9415-5ACE7C6FA016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6286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72D4C1"/>
                </a:solidFill>
              </a:defRPr>
            </a:defPPr>
            <a:lvl1pPr>
              <a:defRPr sz="1875" b="1">
                <a:solidFill>
                  <a:srgbClr val="72D4C1"/>
                </a:solidFill>
              </a:defRPr>
            </a:lvl1pPr>
            <a:lvl2pPr>
              <a:defRPr sz="1875" b="1">
                <a:solidFill>
                  <a:srgbClr val="72D4C1"/>
                </a:solidFill>
              </a:defRPr>
            </a:lvl2pPr>
            <a:lvl3pPr>
              <a:defRPr sz="1875" b="1">
                <a:solidFill>
                  <a:srgbClr val="72D4C1"/>
                </a:solidFill>
              </a:defRPr>
            </a:lvl3pPr>
            <a:lvl4pPr>
              <a:defRPr sz="1875" b="1">
                <a:solidFill>
                  <a:srgbClr val="72D4C1"/>
                </a:solidFill>
              </a:defRPr>
            </a:lvl4pPr>
            <a:lvl5pPr>
              <a:defRPr sz="1875" b="1">
                <a:solidFill>
                  <a:srgbClr val="72D4C1"/>
                </a:solidFill>
              </a:defRPr>
            </a:lvl5pPr>
            <a:lvl6pPr>
              <a:defRPr sz="1875" b="1">
                <a:solidFill>
                  <a:srgbClr val="72D4C1"/>
                </a:solidFill>
              </a:defRPr>
            </a:lvl6pPr>
            <a:lvl7pPr>
              <a:defRPr sz="1875" b="1">
                <a:solidFill>
                  <a:srgbClr val="72D4C1"/>
                </a:solidFill>
              </a:defRPr>
            </a:lvl7pPr>
            <a:lvl8pPr>
              <a:defRPr sz="1875" b="1">
                <a:solidFill>
                  <a:srgbClr val="72D4C1"/>
                </a:solidFill>
              </a:defRPr>
            </a:lvl8pPr>
            <a:lvl9pPr>
              <a:defRPr sz="1875" b="1">
                <a:solidFill>
                  <a:srgbClr val="72D4C1"/>
                </a:solidFill>
              </a:defRPr>
            </a:lvl9pPr>
          </a:lstStyle>
          <a:p>
            <a:pPr>
              <a:defRPr sz="1875" b="1">
                <a:solidFill>
                  <a:srgbClr val="72D4C1"/>
                </a:solidFill>
              </a:defRPr>
            </a:pPr>
            <a:r>
              <a:rPr>
                <a:latin typeface="Aptos" panose="020B0004020202020204" pitchFamily="34" charset="0"/>
                <a:hlinkClick r:id="rId4"/>
              </a:rPr>
              <a:t>Open the online example ↗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204369-C697-45D6-B028-7DB55218D22A}"/>
              </a:ext>
            </a:extLst>
          </p:cNvPr>
          <p:cNvSpPr>
            <a:spLocks noGrp="1"/>
          </p:cNvSpPr>
          <p:nvPr/>
        </p:nvSpPr>
        <p:spPr>
          <a:xfrm>
            <a:off x="609600" y="6181725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FFFFFF"/>
                </a:solidFill>
              </a:defRPr>
            </a:defPPr>
            <a:lvl1pPr>
              <a:defRPr sz="1725" b="0">
                <a:solidFill>
                  <a:srgbClr val="FFFFFF"/>
                </a:solidFill>
              </a:defRPr>
            </a:lvl1pPr>
            <a:lvl2pPr>
              <a:defRPr sz="1725" b="0">
                <a:solidFill>
                  <a:srgbClr val="FFFFFF"/>
                </a:solidFill>
              </a:defRPr>
            </a:lvl2pPr>
            <a:lvl3pPr>
              <a:defRPr sz="1725" b="0">
                <a:solidFill>
                  <a:srgbClr val="FFFFFF"/>
                </a:solidFill>
              </a:defRPr>
            </a:lvl3pPr>
            <a:lvl4pPr>
              <a:defRPr sz="1725" b="0">
                <a:solidFill>
                  <a:srgbClr val="FFFFFF"/>
                </a:solidFill>
              </a:defRPr>
            </a:lvl4pPr>
            <a:lvl5pPr>
              <a:defRPr sz="1725" b="0">
                <a:solidFill>
                  <a:srgbClr val="FFFFFF"/>
                </a:solidFill>
              </a:defRPr>
            </a:lvl5pPr>
            <a:lvl6pPr>
              <a:defRPr sz="1725" b="0">
                <a:solidFill>
                  <a:srgbClr val="FFFFFF"/>
                </a:solidFill>
              </a:defRPr>
            </a:lvl6pPr>
            <a:lvl7pPr>
              <a:defRPr sz="1725" b="0">
                <a:solidFill>
                  <a:srgbClr val="FFFFFF"/>
                </a:solidFill>
              </a:defRPr>
            </a:lvl7pPr>
            <a:lvl8pPr>
              <a:defRPr sz="1725" b="0">
                <a:solidFill>
                  <a:srgbClr val="FFFFFF"/>
                </a:solidFill>
              </a:defRPr>
            </a:lvl8pPr>
            <a:lvl9pPr>
              <a:defRPr sz="1725" b="0">
                <a:solidFill>
                  <a:srgbClr val="FFFFFF"/>
                </a:solidFill>
              </a:defRPr>
            </a:lvl9pPr>
          </a:lstStyle>
          <a:p>
            <a:pPr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  <a:latin typeface="Aptos" panose="020B0004020202020204" pitchFamily="34" charset="0"/>
              </a:rPr>
              <a:t>Borrow a focused idea for the shader you are already making.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DCFA352-EE26-46E6-B24D-C90D77F17D2B}"/>
              </a:ext>
            </a:extLst>
          </p:cNvPr>
          <p:cNvSpPr>
            <a:spLocks noGrp="1"/>
          </p:cNvSpPr>
          <p:nvPr/>
        </p:nvSpPr>
        <p:spPr>
          <a:xfrm>
            <a:off x="11049000" y="6457950"/>
            <a:ext cx="6667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19B</a:t>
            </a:r>
          </a:p>
        </p:txBody>
      </p:sp>
    </p:spTree>
    <p:extLst>
      <p:ext uri="{BB962C8B-B14F-4D97-AF65-F5344CB8AC3E}">
        <p14:creationId xmlns:p14="http://schemas.microsoft.com/office/powerpoint/2010/main" val="62010877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0DEC102-D9EE-4BC3-940A-62E3A498C34F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10972800" cy="3048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350" b="1">
                <a:solidFill>
                  <a:srgbClr val="B6A0FF"/>
                </a:solidFill>
              </a:defRPr>
            </a:defPPr>
            <a:lvl1pPr>
              <a:defRPr sz="1350" b="1">
                <a:solidFill>
                  <a:srgbClr val="B6A0FF"/>
                </a:solidFill>
              </a:defRPr>
            </a:lvl1pPr>
            <a:lvl2pPr>
              <a:defRPr sz="1350" b="1">
                <a:solidFill>
                  <a:srgbClr val="B6A0FF"/>
                </a:solidFill>
              </a:defRPr>
            </a:lvl2pPr>
            <a:lvl3pPr>
              <a:defRPr sz="1350" b="1">
                <a:solidFill>
                  <a:srgbClr val="B6A0FF"/>
                </a:solidFill>
              </a:defRPr>
            </a:lvl3pPr>
            <a:lvl4pPr>
              <a:defRPr sz="1350" b="1">
                <a:solidFill>
                  <a:srgbClr val="B6A0FF"/>
                </a:solidFill>
              </a:defRPr>
            </a:lvl4pPr>
            <a:lvl5pPr>
              <a:defRPr sz="1350" b="1">
                <a:solidFill>
                  <a:srgbClr val="B6A0FF"/>
                </a:solidFill>
              </a:defRPr>
            </a:lvl5pPr>
            <a:lvl6pPr>
              <a:defRPr sz="1350" b="1">
                <a:solidFill>
                  <a:srgbClr val="B6A0FF"/>
                </a:solidFill>
              </a:defRPr>
            </a:lvl6pPr>
            <a:lvl7pPr>
              <a:defRPr sz="1350" b="1">
                <a:solidFill>
                  <a:srgbClr val="B6A0FF"/>
                </a:solidFill>
              </a:defRPr>
            </a:lvl7pPr>
            <a:lvl8pPr>
              <a:defRPr sz="1350" b="1">
                <a:solidFill>
                  <a:srgbClr val="B6A0FF"/>
                </a:solidFill>
              </a:defRPr>
            </a:lvl8pPr>
            <a:lvl9pPr>
              <a:defRPr sz="1350" b="1">
                <a:solidFill>
                  <a:srgbClr val="B6A0FF"/>
                </a:solidFill>
              </a:defRPr>
            </a:lvl9pPr>
          </a:lstStyle>
          <a:p>
            <a:pPr>
              <a:defRPr sz="1350" b="1">
                <a:solidFill>
                  <a:srgbClr val="B6A0FF"/>
                </a:solidFill>
              </a:defRPr>
            </a:pPr>
            <a:r>
              <a:rPr sz="1350" b="1">
                <a:solidFill>
                  <a:srgbClr val="B6A0FF"/>
                </a:solidFill>
                <a:latin typeface="Aptos" panose="020B0004020202020204" pitchFamily="34" charset="0"/>
              </a:rPr>
              <a:t>OPTIONAL · OUTSIDE EXAMPLE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3825835-0D1F-4FE0-9C08-E8981FDCD839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972800" cy="9525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3000" b="1">
                <a:solidFill>
                  <a:srgbClr val="FFFFFF"/>
                </a:solidFill>
              </a:defRPr>
            </a:defPPr>
            <a:lvl1pPr>
              <a:defRPr sz="3000" b="1">
                <a:solidFill>
                  <a:srgbClr val="FFFFFF"/>
                </a:solidFill>
              </a:defRPr>
            </a:lvl1pPr>
            <a:lvl2pPr>
              <a:defRPr sz="3000" b="1">
                <a:solidFill>
                  <a:srgbClr val="FFFFFF"/>
                </a:solidFill>
              </a:defRPr>
            </a:lvl2pPr>
            <a:lvl3pPr>
              <a:defRPr sz="3000" b="1">
                <a:solidFill>
                  <a:srgbClr val="FFFFFF"/>
                </a:solidFill>
              </a:defRPr>
            </a:lvl3pPr>
            <a:lvl4pPr>
              <a:defRPr sz="3000" b="1">
                <a:solidFill>
                  <a:srgbClr val="FFFFFF"/>
                </a:solidFill>
              </a:defRPr>
            </a:lvl4pPr>
            <a:lvl5pPr>
              <a:defRPr sz="3000" b="1">
                <a:solidFill>
                  <a:srgbClr val="FFFFFF"/>
                </a:solidFill>
              </a:defRPr>
            </a:lvl5pPr>
            <a:lvl6pPr>
              <a:defRPr sz="3000" b="1">
                <a:solidFill>
                  <a:srgbClr val="FFFFFF"/>
                </a:solidFill>
              </a:defRPr>
            </a:lvl6pPr>
            <a:lvl7pPr>
              <a:defRPr sz="3000" b="1">
                <a:solidFill>
                  <a:srgbClr val="FFFFFF"/>
                </a:solidFill>
              </a:defRPr>
            </a:lvl7pPr>
            <a:lvl8pPr>
              <a:defRPr sz="3000" b="1">
                <a:solidFill>
                  <a:srgbClr val="FFFFFF"/>
                </a:solidFill>
              </a:defRPr>
            </a:lvl8pPr>
            <a:lvl9pPr>
              <a:defRPr sz="3000" b="1">
                <a:solidFill>
                  <a:srgbClr val="FFFFFF"/>
                </a:solidFill>
              </a:defRPr>
            </a:lvl9pPr>
          </a:lstStyle>
          <a:p>
            <a:pPr>
              <a:defRPr sz="3000" b="1">
                <a:solidFill>
                  <a:srgbClr val="FFFFFF"/>
                </a:solidFill>
              </a:defRPr>
            </a:pPr>
            <a:r>
              <a:rPr sz="3000" b="1">
                <a:solidFill>
                  <a:srgbClr val="FFFFFF"/>
                </a:solidFill>
                <a:latin typeface="Aptos" panose="020B0004020202020204" pitchFamily="34" charset="0"/>
              </a:rPr>
              <a:t>One material family, useful variations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05E9747-1FD8-4039-8C2C-F45031FA88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9600" y="2643153"/>
            <a:ext cx="6286500" cy="204794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6105FDF5-7A5E-440A-80F9-064E70F62C18}"/>
              </a:ext>
            </a:extLst>
          </p:cNvPr>
          <p:cNvSpPr>
            <a:spLocks noGrp="1"/>
          </p:cNvSpPr>
          <p:nvPr/>
        </p:nvSpPr>
        <p:spPr>
          <a:xfrm>
            <a:off x="7296150" y="2000250"/>
            <a:ext cx="4286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  <a:latin typeface="Aptos" panose="020B0004020202020204" pitchFamily="34" charset="0"/>
              </a:rPr>
              <a:t>MECHANISM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5983D5A-5F0F-46BE-972D-9CB4F76887D7}"/>
              </a:ext>
            </a:extLst>
          </p:cNvPr>
          <p:cNvSpPr>
            <a:spLocks noGrp="1"/>
          </p:cNvSpPr>
          <p:nvPr/>
        </p:nvSpPr>
        <p:spPr>
          <a:xfrm>
            <a:off x="7296150" y="235267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A shared parent exposes purposeful controls.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C6AB7CE-5DB0-4A7B-AC5E-8FDA0791A386}"/>
              </a:ext>
            </a:extLst>
          </p:cNvPr>
          <p:cNvSpPr>
            <a:spLocks noGrp="1"/>
          </p:cNvSpPr>
          <p:nvPr/>
        </p:nvSpPr>
        <p:spPr>
          <a:xfrm>
            <a:off x="7296150" y="3190875"/>
            <a:ext cx="4286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  <a:latin typeface="Aptos" panose="020B0004020202020204" pitchFamily="34" charset="0"/>
              </a:rPr>
              <a:t>START SMALL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27668C5-BBC7-4A35-998C-DAD00C9FAF0C}"/>
              </a:ext>
            </a:extLst>
          </p:cNvPr>
          <p:cNvSpPr>
            <a:spLocks noGrp="1"/>
          </p:cNvSpPr>
          <p:nvPr/>
        </p:nvSpPr>
        <p:spPr>
          <a:xfrm>
            <a:off x="7296150" y="3543300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Make three readable instances of your shader.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01A02C6-BE10-4A26-B892-36595E115558}"/>
              </a:ext>
            </a:extLst>
          </p:cNvPr>
          <p:cNvSpPr>
            <a:spLocks noGrp="1"/>
          </p:cNvSpPr>
          <p:nvPr/>
        </p:nvSpPr>
        <p:spPr>
          <a:xfrm>
            <a:off x="7296150" y="4381500"/>
            <a:ext cx="4286250" cy="28575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500" b="1">
                <a:solidFill>
                  <a:srgbClr val="72D4C1"/>
                </a:solidFill>
              </a:defRPr>
            </a:defPPr>
            <a:lvl1pPr>
              <a:defRPr sz="1500" b="1">
                <a:solidFill>
                  <a:srgbClr val="72D4C1"/>
                </a:solidFill>
              </a:defRPr>
            </a:lvl1pPr>
            <a:lvl2pPr>
              <a:defRPr sz="1500" b="1">
                <a:solidFill>
                  <a:srgbClr val="72D4C1"/>
                </a:solidFill>
              </a:defRPr>
            </a:lvl2pPr>
            <a:lvl3pPr>
              <a:defRPr sz="1500" b="1">
                <a:solidFill>
                  <a:srgbClr val="72D4C1"/>
                </a:solidFill>
              </a:defRPr>
            </a:lvl3pPr>
            <a:lvl4pPr>
              <a:defRPr sz="1500" b="1">
                <a:solidFill>
                  <a:srgbClr val="72D4C1"/>
                </a:solidFill>
              </a:defRPr>
            </a:lvl4pPr>
            <a:lvl5pPr>
              <a:defRPr sz="1500" b="1">
                <a:solidFill>
                  <a:srgbClr val="72D4C1"/>
                </a:solidFill>
              </a:defRPr>
            </a:lvl5pPr>
            <a:lvl6pPr>
              <a:defRPr sz="1500" b="1">
                <a:solidFill>
                  <a:srgbClr val="72D4C1"/>
                </a:solidFill>
              </a:defRPr>
            </a:lvl6pPr>
            <a:lvl7pPr>
              <a:defRPr sz="1500" b="1">
                <a:solidFill>
                  <a:srgbClr val="72D4C1"/>
                </a:solidFill>
              </a:defRPr>
            </a:lvl7pPr>
            <a:lvl8pPr>
              <a:defRPr sz="1500" b="1">
                <a:solidFill>
                  <a:srgbClr val="72D4C1"/>
                </a:solidFill>
              </a:defRPr>
            </a:lvl8pPr>
            <a:lvl9pPr>
              <a:defRPr sz="1500" b="1">
                <a:solidFill>
                  <a:srgbClr val="72D4C1"/>
                </a:solidFill>
              </a:defRPr>
            </a:lvl9pPr>
          </a:lstStyle>
          <a:p>
            <a:pPr>
              <a:defRPr sz="1500" b="1">
                <a:solidFill>
                  <a:srgbClr val="72D4C1"/>
                </a:solidFill>
              </a:defRPr>
            </a:pPr>
            <a:r>
              <a:rPr sz="1500" b="1">
                <a:solidFill>
                  <a:srgbClr val="72D4C1"/>
                </a:solidFill>
                <a:latin typeface="Aptos" panose="020B0004020202020204" pitchFamily="34" charset="0"/>
              </a:rPr>
              <a:t>FINAL-PROJECT STRETCH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D519D2-8F98-4895-9746-AE0F146E229A}"/>
              </a:ext>
            </a:extLst>
          </p:cNvPr>
          <p:cNvSpPr>
            <a:spLocks noGrp="1"/>
          </p:cNvSpPr>
          <p:nvPr/>
        </p:nvSpPr>
        <p:spPr>
          <a:xfrm>
            <a:off x="7296150" y="4733925"/>
            <a:ext cx="4286250" cy="762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2025" b="0">
                <a:solidFill>
                  <a:srgbClr val="FFFFFF"/>
                </a:solidFill>
              </a:defRPr>
            </a:defPPr>
            <a:lvl1pPr>
              <a:defRPr sz="2025" b="0">
                <a:solidFill>
                  <a:srgbClr val="FFFFFF"/>
                </a:solidFill>
              </a:defRPr>
            </a:lvl1pPr>
            <a:lvl2pPr>
              <a:defRPr sz="2025" b="0">
                <a:solidFill>
                  <a:srgbClr val="FFFFFF"/>
                </a:solidFill>
              </a:defRPr>
            </a:lvl2pPr>
            <a:lvl3pPr>
              <a:defRPr sz="2025" b="0">
                <a:solidFill>
                  <a:srgbClr val="FFFFFF"/>
                </a:solidFill>
              </a:defRPr>
            </a:lvl3pPr>
            <a:lvl4pPr>
              <a:defRPr sz="2025" b="0">
                <a:solidFill>
                  <a:srgbClr val="FFFFFF"/>
                </a:solidFill>
              </a:defRPr>
            </a:lvl4pPr>
            <a:lvl5pPr>
              <a:defRPr sz="2025" b="0">
                <a:solidFill>
                  <a:srgbClr val="FFFFFF"/>
                </a:solidFill>
              </a:defRPr>
            </a:lvl5pPr>
            <a:lvl6pPr>
              <a:defRPr sz="2025" b="0">
                <a:solidFill>
                  <a:srgbClr val="FFFFFF"/>
                </a:solidFill>
              </a:defRPr>
            </a:lvl6pPr>
            <a:lvl7pPr>
              <a:defRPr sz="2025" b="0">
                <a:solidFill>
                  <a:srgbClr val="FFFFFF"/>
                </a:solidFill>
              </a:defRPr>
            </a:lvl7pPr>
            <a:lvl8pPr>
              <a:defRPr sz="2025" b="0">
                <a:solidFill>
                  <a:srgbClr val="FFFFFF"/>
                </a:solidFill>
              </a:defRPr>
            </a:lvl8pPr>
            <a:lvl9pPr>
              <a:defRPr sz="2025" b="0">
                <a:solidFill>
                  <a:srgbClr val="FFFFFF"/>
                </a:solidFill>
              </a:defRPr>
            </a:lvl9pPr>
          </a:lstStyle>
          <a:p>
            <a:pPr>
              <a:defRPr sz="2025" b="0">
                <a:solidFill>
                  <a:srgbClr val="FFFFFF"/>
                </a:solidFill>
              </a:defRPr>
            </a:pPr>
            <a:r>
              <a:rPr sz="2025" b="0">
                <a:solidFill>
                  <a:srgbClr val="FFFFFF"/>
                </a:solidFill>
                <a:latin typeface="Aptos" panose="020B0004020202020204" pitchFamily="34" charset="0"/>
              </a:rPr>
              <a:t>Build a focused, documented surface library.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614400-AD89-42C5-9FAD-A9B943FC8B35}"/>
              </a:ext>
            </a:extLst>
          </p:cNvPr>
          <p:cNvSpPr>
            <a:spLocks noGrp="1"/>
          </p:cNvSpPr>
          <p:nvPr/>
        </p:nvSpPr>
        <p:spPr>
          <a:xfrm>
            <a:off x="609600" y="5600700"/>
            <a:ext cx="6286500" cy="4286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875" b="1">
                <a:solidFill>
                  <a:srgbClr val="72D4C1"/>
                </a:solidFill>
              </a:defRPr>
            </a:defPPr>
            <a:lvl1pPr>
              <a:defRPr sz="1875" b="1">
                <a:solidFill>
                  <a:srgbClr val="72D4C1"/>
                </a:solidFill>
              </a:defRPr>
            </a:lvl1pPr>
            <a:lvl2pPr>
              <a:defRPr sz="1875" b="1">
                <a:solidFill>
                  <a:srgbClr val="72D4C1"/>
                </a:solidFill>
              </a:defRPr>
            </a:lvl2pPr>
            <a:lvl3pPr>
              <a:defRPr sz="1875" b="1">
                <a:solidFill>
                  <a:srgbClr val="72D4C1"/>
                </a:solidFill>
              </a:defRPr>
            </a:lvl3pPr>
            <a:lvl4pPr>
              <a:defRPr sz="1875" b="1">
                <a:solidFill>
                  <a:srgbClr val="72D4C1"/>
                </a:solidFill>
              </a:defRPr>
            </a:lvl4pPr>
            <a:lvl5pPr>
              <a:defRPr sz="1875" b="1">
                <a:solidFill>
                  <a:srgbClr val="72D4C1"/>
                </a:solidFill>
              </a:defRPr>
            </a:lvl5pPr>
            <a:lvl6pPr>
              <a:defRPr sz="1875" b="1">
                <a:solidFill>
                  <a:srgbClr val="72D4C1"/>
                </a:solidFill>
              </a:defRPr>
            </a:lvl6pPr>
            <a:lvl7pPr>
              <a:defRPr sz="1875" b="1">
                <a:solidFill>
                  <a:srgbClr val="72D4C1"/>
                </a:solidFill>
              </a:defRPr>
            </a:lvl7pPr>
            <a:lvl8pPr>
              <a:defRPr sz="1875" b="1">
                <a:solidFill>
                  <a:srgbClr val="72D4C1"/>
                </a:solidFill>
              </a:defRPr>
            </a:lvl8pPr>
            <a:lvl9pPr>
              <a:defRPr sz="1875" b="1">
                <a:solidFill>
                  <a:srgbClr val="72D4C1"/>
                </a:solidFill>
              </a:defRPr>
            </a:lvl9pPr>
          </a:lstStyle>
          <a:p>
            <a:pPr>
              <a:defRPr sz="1875" b="1">
                <a:solidFill>
                  <a:srgbClr val="72D4C1"/>
                </a:solidFill>
              </a:defRPr>
            </a:pPr>
            <a:r>
              <a:rPr>
                <a:latin typeface="Aptos" panose="020B0004020202020204" pitchFamily="34" charset="0"/>
                <a:hlinkClick r:id="rId4"/>
              </a:rPr>
              <a:t>Open the online example ↗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D7FFA4E-A2BD-4902-B898-8DAF5ABF5388}"/>
              </a:ext>
            </a:extLst>
          </p:cNvPr>
          <p:cNvSpPr>
            <a:spLocks noGrp="1"/>
          </p:cNvSpPr>
          <p:nvPr/>
        </p:nvSpPr>
        <p:spPr>
          <a:xfrm>
            <a:off x="609600" y="6181725"/>
            <a:ext cx="10477500" cy="38100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725" b="0">
                <a:solidFill>
                  <a:srgbClr val="FFFFFF"/>
                </a:solidFill>
              </a:defRPr>
            </a:defPPr>
            <a:lvl1pPr>
              <a:defRPr sz="1725" b="0">
                <a:solidFill>
                  <a:srgbClr val="FFFFFF"/>
                </a:solidFill>
              </a:defRPr>
            </a:lvl1pPr>
            <a:lvl2pPr>
              <a:defRPr sz="1725" b="0">
                <a:solidFill>
                  <a:srgbClr val="FFFFFF"/>
                </a:solidFill>
              </a:defRPr>
            </a:lvl2pPr>
            <a:lvl3pPr>
              <a:defRPr sz="1725" b="0">
                <a:solidFill>
                  <a:srgbClr val="FFFFFF"/>
                </a:solidFill>
              </a:defRPr>
            </a:lvl3pPr>
            <a:lvl4pPr>
              <a:defRPr sz="1725" b="0">
                <a:solidFill>
                  <a:srgbClr val="FFFFFF"/>
                </a:solidFill>
              </a:defRPr>
            </a:lvl4pPr>
            <a:lvl5pPr>
              <a:defRPr sz="1725" b="0">
                <a:solidFill>
                  <a:srgbClr val="FFFFFF"/>
                </a:solidFill>
              </a:defRPr>
            </a:lvl5pPr>
            <a:lvl6pPr>
              <a:defRPr sz="1725" b="0">
                <a:solidFill>
                  <a:srgbClr val="FFFFFF"/>
                </a:solidFill>
              </a:defRPr>
            </a:lvl6pPr>
            <a:lvl7pPr>
              <a:defRPr sz="1725" b="0">
                <a:solidFill>
                  <a:srgbClr val="FFFFFF"/>
                </a:solidFill>
              </a:defRPr>
            </a:lvl7pPr>
            <a:lvl8pPr>
              <a:defRPr sz="1725" b="0">
                <a:solidFill>
                  <a:srgbClr val="FFFFFF"/>
                </a:solidFill>
              </a:defRPr>
            </a:lvl8pPr>
            <a:lvl9pPr>
              <a:defRPr sz="1725" b="0">
                <a:solidFill>
                  <a:srgbClr val="FFFFFF"/>
                </a:solidFill>
              </a:defRPr>
            </a:lvl9pPr>
          </a:lstStyle>
          <a:p>
            <a:pPr>
              <a:defRPr sz="1725" b="0">
                <a:solidFill>
                  <a:srgbClr val="FFFFFF"/>
                </a:solidFill>
              </a:defRPr>
            </a:pPr>
            <a:r>
              <a:rPr sz="1725" b="0">
                <a:solidFill>
                  <a:srgbClr val="FFFFFF"/>
                </a:solidFill>
                <a:latin typeface="Aptos" panose="020B0004020202020204" pitchFamily="34" charset="0"/>
              </a:rPr>
              <a:t>Borrow a focused idea for the shader you are already making.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B0389F3-F7B7-4962-B71C-3AC6C6812E9D}"/>
              </a:ext>
            </a:extLst>
          </p:cNvPr>
          <p:cNvSpPr>
            <a:spLocks noGrp="1"/>
          </p:cNvSpPr>
          <p:nvPr/>
        </p:nvSpPr>
        <p:spPr>
          <a:xfrm>
            <a:off x="11049000" y="6457950"/>
            <a:ext cx="666750" cy="238125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>
              <a:defRPr sz="1200" b="0">
                <a:solidFill>
                  <a:srgbClr val="C4D3E3"/>
                </a:solidFill>
              </a:defRPr>
            </a:defPPr>
            <a:lvl1pPr>
              <a:defRPr sz="1200" b="0">
                <a:solidFill>
                  <a:srgbClr val="C4D3E3"/>
                </a:solidFill>
              </a:defRPr>
            </a:lvl1pPr>
            <a:lvl2pPr>
              <a:defRPr sz="1200" b="0">
                <a:solidFill>
                  <a:srgbClr val="C4D3E3"/>
                </a:solidFill>
              </a:defRPr>
            </a:lvl2pPr>
            <a:lvl3pPr>
              <a:defRPr sz="1200" b="0">
                <a:solidFill>
                  <a:srgbClr val="C4D3E3"/>
                </a:solidFill>
              </a:defRPr>
            </a:lvl3pPr>
            <a:lvl4pPr>
              <a:defRPr sz="1200" b="0">
                <a:solidFill>
                  <a:srgbClr val="C4D3E3"/>
                </a:solidFill>
              </a:defRPr>
            </a:lvl4pPr>
            <a:lvl5pPr>
              <a:defRPr sz="1200" b="0">
                <a:solidFill>
                  <a:srgbClr val="C4D3E3"/>
                </a:solidFill>
              </a:defRPr>
            </a:lvl5pPr>
            <a:lvl6pPr>
              <a:defRPr sz="1200" b="0">
                <a:solidFill>
                  <a:srgbClr val="C4D3E3"/>
                </a:solidFill>
              </a:defRPr>
            </a:lvl6pPr>
            <a:lvl7pPr>
              <a:defRPr sz="1200" b="0">
                <a:solidFill>
                  <a:srgbClr val="C4D3E3"/>
                </a:solidFill>
              </a:defRPr>
            </a:lvl7pPr>
            <a:lvl8pPr>
              <a:defRPr sz="1200" b="0">
                <a:solidFill>
                  <a:srgbClr val="C4D3E3"/>
                </a:solidFill>
              </a:defRPr>
            </a:lvl8pPr>
            <a:lvl9pPr>
              <a:defRPr sz="1200" b="0">
                <a:solidFill>
                  <a:srgbClr val="C4D3E3"/>
                </a:solidFill>
              </a:defRPr>
            </a:lvl9pPr>
          </a:lstStyle>
          <a:p>
            <a:pPr>
              <a:defRPr sz="1200" b="0">
                <a:solidFill>
                  <a:srgbClr val="C4D3E3"/>
                </a:solidFill>
              </a:defRPr>
            </a:pPr>
            <a:r>
              <a:rPr sz="1200" b="0">
                <a:solidFill>
                  <a:srgbClr val="C4D3E3"/>
                </a:solidFill>
                <a:latin typeface="Aptos" panose="020B0004020202020204" pitchFamily="34" charset="0"/>
              </a:rPr>
              <a:t>19C</a:t>
            </a:r>
          </a:p>
        </p:txBody>
      </p:sp>
    </p:spTree>
    <p:extLst>
      <p:ext uri="{BB962C8B-B14F-4D97-AF65-F5344CB8AC3E}">
        <p14:creationId xmlns:p14="http://schemas.microsoft.com/office/powerpoint/2010/main" val="128117830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0</TotalTime>
  <Words>2463</Words>
  <Application>Microsoft Office PowerPoint</Application>
  <DocSecurity>0</DocSecurity>
  <PresentationFormat>Widescreen</PresentationFormat>
  <Paragraphs>478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0" baseType="lpstr">
      <vt:lpstr>Aptos</vt:lpstr>
      <vt:lpstr>Century Gothic</vt:lpstr>
      <vt:lpstr>Wingdings 3</vt:lpstr>
      <vt:lpstr>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Anthony Monteagudo</cp:lastModifiedBy>
  <cp:revision>1</cp:revision>
  <dcterms:created xsi:type="dcterms:W3CDTF">2026-10-29T15:29:25Z</dcterms:created>
  <dcterms:modified xsi:type="dcterms:W3CDTF">2026-10-29T15:31:01Z</dcterms:modified>
</cp:coreProperties>
</file>